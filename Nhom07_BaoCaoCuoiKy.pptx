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x="18288000" cy="10287000"/>
  <p:notesSz cx="6858000" cy="9144000"/>
  <p:embeddedFontLst>
    <p:embeddedFont>
      <p:font typeface="Montserrat Bold" charset="1" panose="00000800000000000000"/>
      <p:regular r:id="rId36"/>
    </p:embeddedFont>
    <p:embeddedFont>
      <p:font typeface="Poppins" charset="1" panose="00000500000000000000"/>
      <p:regular r:id="rId37"/>
    </p:embeddedFont>
    <p:embeddedFont>
      <p:font typeface="Poppins Bold" charset="1" panose="00000800000000000000"/>
      <p:regular r:id="rId38"/>
    </p:embeddedFont>
    <p:embeddedFont>
      <p:font typeface="Montserrat" charset="1" panose="00000500000000000000"/>
      <p:regular r:id="rId39"/>
    </p:embeddedFont>
    <p:embeddedFont>
      <p:font typeface="Poppins Italics" charset="1" panose="0000050000000000000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embeddings/oleObject1.bin" Type="http://schemas.openxmlformats.org/officeDocument/2006/relationships/oleObjec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391331" y="7301327"/>
            <a:ext cx="15690832" cy="11698858"/>
            <a:chOff x="0" y="0"/>
            <a:chExt cx="939189" cy="700245"/>
          </a:xfrm>
        </p:grpSpPr>
        <p:sp>
          <p:nvSpPr>
            <p:cNvPr name="Freeform 3" id="3"/>
            <p:cNvSpPr/>
            <p:nvPr/>
          </p:nvSpPr>
          <p:spPr>
            <a:xfrm flipH="false" flipV="false" rot="0">
              <a:off x="0" y="0"/>
              <a:ext cx="939189" cy="700245"/>
            </a:xfrm>
            <a:custGeom>
              <a:avLst/>
              <a:gdLst/>
              <a:ahLst/>
              <a:cxnLst/>
              <a:rect r="r" b="b" t="t" l="l"/>
              <a:pathLst>
                <a:path h="700245" w="939189">
                  <a:moveTo>
                    <a:pt x="469594" y="0"/>
                  </a:moveTo>
                  <a:cubicBezTo>
                    <a:pt x="210245" y="0"/>
                    <a:pt x="0" y="156755"/>
                    <a:pt x="0" y="350123"/>
                  </a:cubicBezTo>
                  <a:cubicBezTo>
                    <a:pt x="0" y="543490"/>
                    <a:pt x="210245" y="700245"/>
                    <a:pt x="469594" y="700245"/>
                  </a:cubicBezTo>
                  <a:cubicBezTo>
                    <a:pt x="728944" y="700245"/>
                    <a:pt x="939189" y="543490"/>
                    <a:pt x="939189" y="350123"/>
                  </a:cubicBezTo>
                  <a:cubicBezTo>
                    <a:pt x="939189" y="156755"/>
                    <a:pt x="728944" y="0"/>
                    <a:pt x="469594" y="0"/>
                  </a:cubicBezTo>
                  <a:close/>
                </a:path>
              </a:pathLst>
            </a:custGeom>
            <a:solidFill>
              <a:srgbClr val="0C4393"/>
            </a:solidFill>
          </p:spPr>
        </p:sp>
        <p:sp>
          <p:nvSpPr>
            <p:cNvPr name="TextBox 4" id="4"/>
            <p:cNvSpPr txBox="true"/>
            <p:nvPr/>
          </p:nvSpPr>
          <p:spPr>
            <a:xfrm>
              <a:off x="88049" y="27548"/>
              <a:ext cx="763091" cy="60704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5400000">
            <a:off x="13570733" y="-2678229"/>
            <a:ext cx="4199553" cy="3741420"/>
          </a:xfrm>
          <a:custGeom>
            <a:avLst/>
            <a:gdLst/>
            <a:ahLst/>
            <a:cxnLst/>
            <a:rect r="r" b="b" t="t" l="l"/>
            <a:pathLst>
              <a:path h="3741420" w="4199553">
                <a:moveTo>
                  <a:pt x="0" y="0"/>
                </a:moveTo>
                <a:lnTo>
                  <a:pt x="4199553" y="0"/>
                </a:lnTo>
                <a:lnTo>
                  <a:pt x="4199553" y="3741420"/>
                </a:lnTo>
                <a:lnTo>
                  <a:pt x="0" y="374142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7259300" y="-2511241"/>
            <a:ext cx="3735531" cy="373553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952500" cap="sq">
              <a:solidFill>
                <a:srgbClr val="0C4393"/>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747857" y="-643475"/>
            <a:ext cx="1286950" cy="128695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5767461" y="9513160"/>
            <a:ext cx="3953873" cy="395387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952500" cap="sq">
              <a:solidFill>
                <a:srgbClr val="FFBD59"/>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2216717" y="3373981"/>
            <a:ext cx="13854566" cy="1276284"/>
          </a:xfrm>
          <a:prstGeom prst="rect">
            <a:avLst/>
          </a:prstGeom>
        </p:spPr>
        <p:txBody>
          <a:bodyPr anchor="t" rtlCol="false" tIns="0" lIns="0" bIns="0" rIns="0">
            <a:spAutoFit/>
          </a:bodyPr>
          <a:lstStyle/>
          <a:p>
            <a:pPr algn="l">
              <a:lnSpc>
                <a:spcPts val="10499"/>
              </a:lnSpc>
              <a:spcBef>
                <a:spcPct val="0"/>
              </a:spcBef>
            </a:pPr>
            <a:r>
              <a:rPr lang="en-US" b="true" sz="7499">
                <a:solidFill>
                  <a:srgbClr val="051D40"/>
                </a:solidFill>
                <a:latin typeface="Montserrat Bold"/>
                <a:ea typeface="Montserrat Bold"/>
                <a:cs typeface="Montserrat Bold"/>
                <a:sym typeface="Montserrat Bold"/>
              </a:rPr>
              <a:t>NHẬN DIỆN MEME ĐỘC HẠI </a:t>
            </a:r>
          </a:p>
        </p:txBody>
      </p:sp>
      <p:sp>
        <p:nvSpPr>
          <p:cNvPr name="TextBox 16" id="16"/>
          <p:cNvSpPr txBox="true"/>
          <p:nvPr/>
        </p:nvSpPr>
        <p:spPr>
          <a:xfrm rot="0">
            <a:off x="8390239" y="4774933"/>
            <a:ext cx="1507522" cy="501622"/>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Poppins"/>
                <a:ea typeface="Poppins"/>
                <a:cs typeface="Poppins"/>
                <a:sym typeface="Poppins"/>
              </a:rPr>
              <a:t>Nhóm 7</a:t>
            </a:r>
          </a:p>
        </p:txBody>
      </p:sp>
      <p:sp>
        <p:nvSpPr>
          <p:cNvPr name="TextBox 17" id="17"/>
          <p:cNvSpPr txBox="true"/>
          <p:nvPr/>
        </p:nvSpPr>
        <p:spPr>
          <a:xfrm rot="0">
            <a:off x="5922271" y="6021840"/>
            <a:ext cx="6443458" cy="501622"/>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Poppins"/>
                <a:ea typeface="Poppins"/>
                <a:cs typeface="Poppins"/>
                <a:sym typeface="Poppins"/>
              </a:rPr>
              <a:t>Giảng Viên Hướng Dẫn: Đặng Thị Phúc</a:t>
            </a:r>
          </a:p>
        </p:txBody>
      </p:sp>
      <p:sp>
        <p:nvSpPr>
          <p:cNvPr name="TextBox 18" id="18"/>
          <p:cNvSpPr txBox="true"/>
          <p:nvPr/>
        </p:nvSpPr>
        <p:spPr>
          <a:xfrm rot="0">
            <a:off x="7441658" y="5400380"/>
            <a:ext cx="3404685" cy="501622"/>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Poppins"/>
                <a:ea typeface="Poppins"/>
                <a:cs typeface="Poppins"/>
                <a:sym typeface="Poppins"/>
              </a:rPr>
              <a:t>Môn: Deep Learning</a:t>
            </a:r>
          </a:p>
        </p:txBody>
      </p:sp>
      <p:sp>
        <p:nvSpPr>
          <p:cNvPr name="Freeform 19" id="19"/>
          <p:cNvSpPr/>
          <p:nvPr/>
        </p:nvSpPr>
        <p:spPr>
          <a:xfrm flipH="false" flipV="false" rot="0">
            <a:off x="5211984" y="643475"/>
            <a:ext cx="7864031" cy="1297565"/>
          </a:xfrm>
          <a:custGeom>
            <a:avLst/>
            <a:gdLst/>
            <a:ahLst/>
            <a:cxnLst/>
            <a:rect r="r" b="b" t="t" l="l"/>
            <a:pathLst>
              <a:path h="1297565" w="7864031">
                <a:moveTo>
                  <a:pt x="0" y="0"/>
                </a:moveTo>
                <a:lnTo>
                  <a:pt x="7864032" y="0"/>
                </a:lnTo>
                <a:lnTo>
                  <a:pt x="7864032" y="1297565"/>
                </a:lnTo>
                <a:lnTo>
                  <a:pt x="0" y="1297565"/>
                </a:lnTo>
                <a:lnTo>
                  <a:pt x="0" y="0"/>
                </a:lnTo>
                <a:close/>
              </a:path>
            </a:pathLst>
          </a:custGeom>
          <a:blipFill>
            <a:blip r:embed="rId4"/>
            <a:stretch>
              <a:fillRect l="0" t="0" r="0" b="0"/>
            </a:stretch>
          </a:blipFill>
        </p:spPr>
      </p:sp>
      <p:sp>
        <p:nvSpPr>
          <p:cNvPr name="Freeform 20" id="20"/>
          <p:cNvSpPr/>
          <p:nvPr/>
        </p:nvSpPr>
        <p:spPr>
          <a:xfrm flipH="false" flipV="false" rot="0">
            <a:off x="2383417" y="9302602"/>
            <a:ext cx="2590521" cy="1968796"/>
          </a:xfrm>
          <a:custGeom>
            <a:avLst/>
            <a:gdLst/>
            <a:ahLst/>
            <a:cxnLst/>
            <a:rect r="r" b="b" t="t" l="l"/>
            <a:pathLst>
              <a:path h="1968796" w="2590521">
                <a:moveTo>
                  <a:pt x="0" y="0"/>
                </a:moveTo>
                <a:lnTo>
                  <a:pt x="2590521" y="0"/>
                </a:lnTo>
                <a:lnTo>
                  <a:pt x="2590521" y="1968796"/>
                </a:lnTo>
                <a:lnTo>
                  <a:pt x="0" y="1968796"/>
                </a:lnTo>
                <a:lnTo>
                  <a:pt x="0" y="0"/>
                </a:lnTo>
                <a:close/>
              </a:path>
            </a:pathLst>
          </a:custGeom>
          <a:blipFill>
            <a:blip r:embed="rId5">
              <a:alphaModFix amt="27000"/>
              <a:extLst>
                <a:ext uri="{96DAC541-7B7A-43D3-8B79-37D633B846F1}">
                  <asvg:svgBlip xmlns:asvg="http://schemas.microsoft.com/office/drawing/2016/SVG/main" r:embed="rId6"/>
                </a:ext>
              </a:extLst>
            </a:blip>
            <a:stretch>
              <a:fillRect l="0" t="0" r="0" b="0"/>
            </a:stretch>
          </a:blipFill>
        </p:spPr>
      </p:sp>
      <p:sp>
        <p:nvSpPr>
          <p:cNvPr name="TextBox 21" id="21"/>
          <p:cNvSpPr txBox="true"/>
          <p:nvPr/>
        </p:nvSpPr>
        <p:spPr>
          <a:xfrm rot="0">
            <a:off x="6031255" y="2577023"/>
            <a:ext cx="6225490" cy="854108"/>
          </a:xfrm>
          <a:prstGeom prst="rect">
            <a:avLst/>
          </a:prstGeom>
        </p:spPr>
        <p:txBody>
          <a:bodyPr anchor="t" rtlCol="false" tIns="0" lIns="0" bIns="0" rIns="0">
            <a:spAutoFit/>
          </a:bodyPr>
          <a:lstStyle/>
          <a:p>
            <a:pPr algn="l">
              <a:lnSpc>
                <a:spcPts val="7000"/>
              </a:lnSpc>
              <a:spcBef>
                <a:spcPct val="0"/>
              </a:spcBef>
            </a:pPr>
            <a:r>
              <a:rPr lang="en-US" b="true" sz="5000">
                <a:solidFill>
                  <a:srgbClr val="051D40"/>
                </a:solidFill>
                <a:latin typeface="Montserrat Bold"/>
                <a:ea typeface="Montserrat Bold"/>
                <a:cs typeface="Montserrat Bold"/>
                <a:sym typeface="Montserrat Bold"/>
              </a:rPr>
              <a:t>BÁO CÁO CUỐI KỲ</a:t>
            </a:r>
          </a:p>
        </p:txBody>
      </p:sp>
      <p:sp>
        <p:nvSpPr>
          <p:cNvPr name="Freeform 22" id="22"/>
          <p:cNvSpPr/>
          <p:nvPr/>
        </p:nvSpPr>
        <p:spPr>
          <a:xfrm flipH="false" flipV="false" rot="0">
            <a:off x="4851137" y="7952989"/>
            <a:ext cx="2590521" cy="1968796"/>
          </a:xfrm>
          <a:custGeom>
            <a:avLst/>
            <a:gdLst/>
            <a:ahLst/>
            <a:cxnLst/>
            <a:rect r="r" b="b" t="t" l="l"/>
            <a:pathLst>
              <a:path h="1968796" w="2590521">
                <a:moveTo>
                  <a:pt x="0" y="0"/>
                </a:moveTo>
                <a:lnTo>
                  <a:pt x="2590521" y="0"/>
                </a:lnTo>
                <a:lnTo>
                  <a:pt x="2590521" y="1968796"/>
                </a:lnTo>
                <a:lnTo>
                  <a:pt x="0" y="1968796"/>
                </a:lnTo>
                <a:lnTo>
                  <a:pt x="0" y="0"/>
                </a:lnTo>
                <a:close/>
              </a:path>
            </a:pathLst>
          </a:custGeom>
          <a:blipFill>
            <a:blip r:embed="rId5">
              <a:alphaModFix amt="27000"/>
              <a:extLst>
                <a:ext uri="{96DAC541-7B7A-43D3-8B79-37D633B846F1}">
                  <asvg:svgBlip xmlns:asvg="http://schemas.microsoft.com/office/drawing/2016/SVG/main" r:embed="rId6"/>
                </a:ext>
              </a:extLst>
            </a:blip>
            <a:stretch>
              <a:fillRect l="0" t="0" r="0" b="0"/>
            </a:stretch>
          </a:blipFill>
        </p:spPr>
      </p:sp>
      <p:sp>
        <p:nvSpPr>
          <p:cNvPr name="Freeform 23" id="23"/>
          <p:cNvSpPr/>
          <p:nvPr/>
        </p:nvSpPr>
        <p:spPr>
          <a:xfrm flipH="false" flipV="false" rot="0">
            <a:off x="10728614" y="8686927"/>
            <a:ext cx="2590521" cy="1968796"/>
          </a:xfrm>
          <a:custGeom>
            <a:avLst/>
            <a:gdLst/>
            <a:ahLst/>
            <a:cxnLst/>
            <a:rect r="r" b="b" t="t" l="l"/>
            <a:pathLst>
              <a:path h="1968796" w="2590521">
                <a:moveTo>
                  <a:pt x="0" y="0"/>
                </a:moveTo>
                <a:lnTo>
                  <a:pt x="2590520" y="0"/>
                </a:lnTo>
                <a:lnTo>
                  <a:pt x="2590520" y="1968796"/>
                </a:lnTo>
                <a:lnTo>
                  <a:pt x="0" y="1968796"/>
                </a:lnTo>
                <a:lnTo>
                  <a:pt x="0" y="0"/>
                </a:lnTo>
                <a:close/>
              </a:path>
            </a:pathLst>
          </a:custGeom>
          <a:blipFill>
            <a:blip r:embed="rId5">
              <a:alphaModFix amt="27000"/>
              <a:extLst>
                <a:ext uri="{96DAC541-7B7A-43D3-8B79-37D633B846F1}">
                  <asvg:svgBlip xmlns:asvg="http://schemas.microsoft.com/office/drawing/2016/SVG/main" r:embed="rId6"/>
                </a:ext>
              </a:extLst>
            </a:blip>
            <a:stretch>
              <a:fillRect l="0" t="0" r="0" b="0"/>
            </a:stretch>
          </a:blipFill>
        </p:spPr>
      </p:sp>
      <p:sp>
        <p:nvSpPr>
          <p:cNvPr name="Freeform 24" id="24"/>
          <p:cNvSpPr/>
          <p:nvPr/>
        </p:nvSpPr>
        <p:spPr>
          <a:xfrm flipH="false" flipV="false" rot="0">
            <a:off x="-894916" y="7544364"/>
            <a:ext cx="2590521" cy="1968796"/>
          </a:xfrm>
          <a:custGeom>
            <a:avLst/>
            <a:gdLst/>
            <a:ahLst/>
            <a:cxnLst/>
            <a:rect r="r" b="b" t="t" l="l"/>
            <a:pathLst>
              <a:path h="1968796" w="2590521">
                <a:moveTo>
                  <a:pt x="0" y="0"/>
                </a:moveTo>
                <a:lnTo>
                  <a:pt x="2590521" y="0"/>
                </a:lnTo>
                <a:lnTo>
                  <a:pt x="2590521" y="1968796"/>
                </a:lnTo>
                <a:lnTo>
                  <a:pt x="0" y="1968796"/>
                </a:lnTo>
                <a:lnTo>
                  <a:pt x="0" y="0"/>
                </a:lnTo>
                <a:close/>
              </a:path>
            </a:pathLst>
          </a:custGeom>
          <a:blipFill>
            <a:blip r:embed="rId5">
              <a:alphaModFix amt="27000"/>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0C4393"/>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5400000">
            <a:off x="2171095" y="4291458"/>
            <a:ext cx="510937" cy="453341"/>
          </a:xfrm>
          <a:custGeom>
            <a:avLst/>
            <a:gdLst/>
            <a:ahLst/>
            <a:cxnLst/>
            <a:rect r="r" b="b" t="t" l="l"/>
            <a:pathLst>
              <a:path h="453341" w="510937">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5400000">
            <a:off x="2171095" y="4916965"/>
            <a:ext cx="510937" cy="453341"/>
          </a:xfrm>
          <a:custGeom>
            <a:avLst/>
            <a:gdLst/>
            <a:ahLst/>
            <a:cxnLst/>
            <a:rect r="r" b="b" t="t" l="l"/>
            <a:pathLst>
              <a:path h="453341" w="510937">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5400000">
            <a:off x="2171095" y="5542202"/>
            <a:ext cx="510937" cy="453341"/>
          </a:xfrm>
          <a:custGeom>
            <a:avLst/>
            <a:gdLst/>
            <a:ahLst/>
            <a:cxnLst/>
            <a:rect r="r" b="b" t="t" l="l"/>
            <a:pathLst>
              <a:path h="453341" w="510937">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5141003" y="8579100"/>
            <a:ext cx="3741036" cy="374103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051D40">
                  <a:alpha val="15686"/>
                </a:srgbClr>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7724006" y="-880136"/>
            <a:ext cx="1286950" cy="128695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4393"/>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11339335" y="-315404"/>
            <a:ext cx="7142760" cy="10917809"/>
            <a:chOff x="0" y="0"/>
            <a:chExt cx="9523680" cy="14557079"/>
          </a:xfrm>
        </p:grpSpPr>
        <p:grpSp>
          <p:nvGrpSpPr>
            <p:cNvPr name="Group 15" id="15"/>
            <p:cNvGrpSpPr/>
            <p:nvPr/>
          </p:nvGrpSpPr>
          <p:grpSpPr>
            <a:xfrm rot="0">
              <a:off x="4237972" y="0"/>
              <a:ext cx="5285707" cy="14557079"/>
              <a:chOff x="0" y="0"/>
              <a:chExt cx="1044090" cy="2875472"/>
            </a:xfrm>
          </p:grpSpPr>
          <p:sp>
            <p:nvSpPr>
              <p:cNvPr name="Freeform 16" id="16"/>
              <p:cNvSpPr/>
              <p:nvPr/>
            </p:nvSpPr>
            <p:spPr>
              <a:xfrm flipH="false" flipV="false" rot="0">
                <a:off x="0" y="0"/>
                <a:ext cx="1044090" cy="2875472"/>
              </a:xfrm>
              <a:custGeom>
                <a:avLst/>
                <a:gdLst/>
                <a:ahLst/>
                <a:cxnLst/>
                <a:rect r="r" b="b" t="t" l="l"/>
                <a:pathLst>
                  <a:path h="2875472" w="1044090">
                    <a:moveTo>
                      <a:pt x="0" y="0"/>
                    </a:moveTo>
                    <a:lnTo>
                      <a:pt x="1044090" y="0"/>
                    </a:lnTo>
                    <a:lnTo>
                      <a:pt x="1044090" y="2875472"/>
                    </a:lnTo>
                    <a:lnTo>
                      <a:pt x="0" y="2875472"/>
                    </a:lnTo>
                    <a:close/>
                  </a:path>
                </a:pathLst>
              </a:custGeom>
              <a:solidFill>
                <a:srgbClr val="0C4393"/>
              </a:solidFill>
              <a:ln cap="sq">
                <a:noFill/>
                <a:prstDash val="solid"/>
                <a:miter/>
              </a:ln>
            </p:spPr>
          </p:sp>
          <p:sp>
            <p:nvSpPr>
              <p:cNvPr name="TextBox 17" id="17"/>
              <p:cNvSpPr txBox="true"/>
              <p:nvPr/>
            </p:nvSpPr>
            <p:spPr>
              <a:xfrm>
                <a:off x="0" y="-38100"/>
                <a:ext cx="1044090" cy="291357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8" id="18"/>
            <p:cNvSpPr/>
            <p:nvPr/>
          </p:nvSpPr>
          <p:spPr>
            <a:xfrm flipH="false" flipV="false" rot="0">
              <a:off x="0" y="3040567"/>
              <a:ext cx="8475944" cy="8475944"/>
            </a:xfrm>
            <a:custGeom>
              <a:avLst/>
              <a:gdLst/>
              <a:ahLst/>
              <a:cxnLst/>
              <a:rect r="r" b="b" t="t" l="l"/>
              <a:pathLst>
                <a:path h="8475944" w="8475944">
                  <a:moveTo>
                    <a:pt x="0" y="0"/>
                  </a:moveTo>
                  <a:lnTo>
                    <a:pt x="8475944" y="0"/>
                  </a:lnTo>
                  <a:lnTo>
                    <a:pt x="8475944" y="8475944"/>
                  </a:lnTo>
                  <a:lnTo>
                    <a:pt x="0" y="8475944"/>
                  </a:lnTo>
                  <a:lnTo>
                    <a:pt x="0" y="0"/>
                  </a:lnTo>
                  <a:close/>
                </a:path>
              </a:pathLst>
            </a:custGeom>
            <a:blipFill>
              <a:blip r:embed="rId4"/>
              <a:stretch>
                <a:fillRect l="0" t="0" r="0" b="0"/>
              </a:stretch>
            </a:blipFill>
          </p:spPr>
        </p:sp>
      </p:grpSp>
      <p:sp>
        <p:nvSpPr>
          <p:cNvPr name="TextBox 19" id="19"/>
          <p:cNvSpPr txBox="true"/>
          <p:nvPr/>
        </p:nvSpPr>
        <p:spPr>
          <a:xfrm rot="0">
            <a:off x="1591961" y="2996047"/>
            <a:ext cx="9144987" cy="912612"/>
          </a:xfrm>
          <a:prstGeom prst="rect">
            <a:avLst/>
          </a:prstGeom>
        </p:spPr>
        <p:txBody>
          <a:bodyPr anchor="t" rtlCol="false" tIns="0" lIns="0" bIns="0" rIns="0">
            <a:spAutoFit/>
          </a:bodyPr>
          <a:lstStyle/>
          <a:p>
            <a:pPr algn="l">
              <a:lnSpc>
                <a:spcPts val="7448"/>
              </a:lnSpc>
              <a:spcBef>
                <a:spcPct val="0"/>
              </a:spcBef>
            </a:pPr>
            <a:r>
              <a:rPr lang="en-US" b="true" sz="5320">
                <a:solidFill>
                  <a:srgbClr val="051D40"/>
                </a:solidFill>
                <a:latin typeface="Montserrat Bold"/>
                <a:ea typeface="Montserrat Bold"/>
                <a:cs typeface="Montserrat Bold"/>
                <a:sym typeface="Montserrat Bold"/>
              </a:rPr>
              <a:t>DANH SÁCH THÀNH VIÊN</a:t>
            </a:r>
          </a:p>
        </p:txBody>
      </p:sp>
      <p:sp>
        <p:nvSpPr>
          <p:cNvPr name="TextBox 20" id="20"/>
          <p:cNvSpPr txBox="true"/>
          <p:nvPr/>
        </p:nvSpPr>
        <p:spPr>
          <a:xfrm rot="0">
            <a:off x="2921820" y="4216232"/>
            <a:ext cx="3773019" cy="518099"/>
          </a:xfrm>
          <a:prstGeom prst="rect">
            <a:avLst/>
          </a:prstGeom>
        </p:spPr>
        <p:txBody>
          <a:bodyPr anchor="t" rtlCol="false" tIns="0" lIns="0" bIns="0" rIns="0">
            <a:spAutoFit/>
          </a:bodyPr>
          <a:lstStyle/>
          <a:p>
            <a:pPr algn="l">
              <a:lnSpc>
                <a:spcPts val="3995"/>
              </a:lnSpc>
              <a:spcBef>
                <a:spcPct val="0"/>
              </a:spcBef>
            </a:pPr>
            <a:r>
              <a:rPr lang="en-US" sz="2853" spc="-57">
                <a:solidFill>
                  <a:srgbClr val="051D40"/>
                </a:solidFill>
                <a:latin typeface="Poppins"/>
                <a:ea typeface="Poppins"/>
                <a:cs typeface="Poppins"/>
                <a:sym typeface="Poppins"/>
              </a:rPr>
              <a:t>Trần Đăng Khoa</a:t>
            </a:r>
          </a:p>
        </p:txBody>
      </p:sp>
      <p:sp>
        <p:nvSpPr>
          <p:cNvPr name="TextBox 21" id="21"/>
          <p:cNvSpPr txBox="true"/>
          <p:nvPr/>
        </p:nvSpPr>
        <p:spPr>
          <a:xfrm rot="0">
            <a:off x="7741808" y="4216232"/>
            <a:ext cx="1734319"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23697591</a:t>
            </a:r>
          </a:p>
        </p:txBody>
      </p:sp>
      <p:sp>
        <p:nvSpPr>
          <p:cNvPr name="TextBox 22" id="22"/>
          <p:cNvSpPr txBox="true"/>
          <p:nvPr/>
        </p:nvSpPr>
        <p:spPr>
          <a:xfrm rot="0">
            <a:off x="2921820" y="5469642"/>
            <a:ext cx="4143021" cy="518066"/>
          </a:xfrm>
          <a:prstGeom prst="rect">
            <a:avLst/>
          </a:prstGeom>
        </p:spPr>
        <p:txBody>
          <a:bodyPr anchor="t" rtlCol="false" tIns="0" lIns="0" bIns="0" rIns="0">
            <a:spAutoFit/>
          </a:bodyPr>
          <a:lstStyle/>
          <a:p>
            <a:pPr algn="l">
              <a:lnSpc>
                <a:spcPts val="3995"/>
              </a:lnSpc>
              <a:spcBef>
                <a:spcPct val="0"/>
              </a:spcBef>
            </a:pPr>
            <a:r>
              <a:rPr lang="en-US" sz="2853" spc="-57">
                <a:solidFill>
                  <a:srgbClr val="051D40"/>
                </a:solidFill>
                <a:latin typeface="Poppins"/>
                <a:ea typeface="Poppins"/>
                <a:cs typeface="Poppins"/>
                <a:sym typeface="Poppins"/>
              </a:rPr>
              <a:t>Nguyễn Thành Đạt</a:t>
            </a:r>
          </a:p>
        </p:txBody>
      </p:sp>
      <p:sp>
        <p:nvSpPr>
          <p:cNvPr name="TextBox 23" id="23"/>
          <p:cNvSpPr txBox="true"/>
          <p:nvPr/>
        </p:nvSpPr>
        <p:spPr>
          <a:xfrm rot="0">
            <a:off x="7926329" y="5466976"/>
            <a:ext cx="1549798"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23687711</a:t>
            </a:r>
          </a:p>
        </p:txBody>
      </p:sp>
      <p:sp>
        <p:nvSpPr>
          <p:cNvPr name="TextBox 24" id="24"/>
          <p:cNvSpPr txBox="true"/>
          <p:nvPr/>
        </p:nvSpPr>
        <p:spPr>
          <a:xfrm rot="0">
            <a:off x="2921820" y="4841739"/>
            <a:ext cx="4652520" cy="518066"/>
          </a:xfrm>
          <a:prstGeom prst="rect">
            <a:avLst/>
          </a:prstGeom>
        </p:spPr>
        <p:txBody>
          <a:bodyPr anchor="t" rtlCol="false" tIns="0" lIns="0" bIns="0" rIns="0">
            <a:spAutoFit/>
          </a:bodyPr>
          <a:lstStyle/>
          <a:p>
            <a:pPr algn="l">
              <a:lnSpc>
                <a:spcPts val="3995"/>
              </a:lnSpc>
              <a:spcBef>
                <a:spcPct val="0"/>
              </a:spcBef>
            </a:pPr>
            <a:r>
              <a:rPr lang="en-US" sz="2853" spc="-57">
                <a:solidFill>
                  <a:srgbClr val="051D40"/>
                </a:solidFill>
                <a:latin typeface="Poppins"/>
                <a:ea typeface="Poppins"/>
                <a:cs typeface="Poppins"/>
                <a:sym typeface="Poppins"/>
              </a:rPr>
              <a:t>Nguyễn Cao Việt An</a:t>
            </a:r>
          </a:p>
        </p:txBody>
      </p:sp>
      <p:sp>
        <p:nvSpPr>
          <p:cNvPr name="TextBox 25" id="25"/>
          <p:cNvSpPr txBox="true"/>
          <p:nvPr/>
        </p:nvSpPr>
        <p:spPr>
          <a:xfrm rot="0">
            <a:off x="7841040" y="4881037"/>
            <a:ext cx="1635087"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23695521</a:t>
            </a:r>
          </a:p>
        </p:txBody>
      </p:sp>
      <p:sp>
        <p:nvSpPr>
          <p:cNvPr name="TextBox 26" id="26"/>
          <p:cNvSpPr txBox="true"/>
          <p:nvPr/>
        </p:nvSpPr>
        <p:spPr>
          <a:xfrm rot="0">
            <a:off x="274939" y="9546113"/>
            <a:ext cx="1507522" cy="987464"/>
          </a:xfrm>
          <a:prstGeom prst="rect">
            <a:avLst/>
          </a:prstGeom>
        </p:spPr>
        <p:txBody>
          <a:bodyPr anchor="t" rtlCol="false" tIns="0" lIns="0" bIns="0" rIns="0">
            <a:spAutoFit/>
          </a:bodyPr>
          <a:lstStyle/>
          <a:p>
            <a:pPr algn="l">
              <a:lnSpc>
                <a:spcPts val="3855"/>
              </a:lnSpc>
            </a:pPr>
            <a:r>
              <a:rPr lang="en-US" sz="2753" spc="-55">
                <a:solidFill>
                  <a:srgbClr val="051D40"/>
                </a:solidFill>
                <a:latin typeface="Poppins"/>
                <a:ea typeface="Poppins"/>
                <a:cs typeface="Poppins"/>
                <a:sym typeface="Poppins"/>
              </a:rPr>
              <a:t>Nhóm 7</a:t>
            </a:r>
          </a:p>
          <a:p>
            <a:pPr algn="l">
              <a:lnSpc>
                <a:spcPts val="3855"/>
              </a:lnSpc>
              <a:spcBef>
                <a:spcPct val="0"/>
              </a:spcBef>
            </a:pPr>
          </a:p>
        </p:txBody>
      </p:sp>
      <p:sp>
        <p:nvSpPr>
          <p:cNvPr name="Freeform 27" id="27"/>
          <p:cNvSpPr/>
          <p:nvPr/>
        </p:nvSpPr>
        <p:spPr>
          <a:xfrm flipH="false" flipV="false" rot="5400000">
            <a:off x="3041034" y="-2941787"/>
            <a:ext cx="4199553" cy="3741420"/>
          </a:xfrm>
          <a:custGeom>
            <a:avLst/>
            <a:gdLst/>
            <a:ahLst/>
            <a:cxnLst/>
            <a:rect r="r" b="b" t="t" l="l"/>
            <a:pathLst>
              <a:path h="3741420" w="4199553">
                <a:moveTo>
                  <a:pt x="0" y="0"/>
                </a:moveTo>
                <a:lnTo>
                  <a:pt x="4199553" y="0"/>
                </a:lnTo>
                <a:lnTo>
                  <a:pt x="4199553" y="3741420"/>
                </a:lnTo>
                <a:lnTo>
                  <a:pt x="0" y="3741420"/>
                </a:lnTo>
                <a:lnTo>
                  <a:pt x="0" y="0"/>
                </a:lnTo>
                <a:close/>
              </a:path>
            </a:pathLst>
          </a:custGeom>
          <a:blipFill>
            <a:blip r:embed="rId5">
              <a:alphaModFix amt="15000"/>
              <a:extLst>
                <a:ext uri="{96DAC541-7B7A-43D3-8B79-37D633B846F1}">
                  <asvg:svgBlip xmlns:asvg="http://schemas.microsoft.com/office/drawing/2016/SVG/main" r:embed="rId6"/>
                </a:ext>
              </a:extLst>
            </a:blip>
            <a:stretch>
              <a:fillRect l="0" t="0" r="0" b="0"/>
            </a:stretch>
          </a:blipFill>
        </p:spPr>
      </p:sp>
      <p:sp>
        <p:nvSpPr>
          <p:cNvPr name="Freeform 28" id="28"/>
          <p:cNvSpPr/>
          <p:nvPr/>
        </p:nvSpPr>
        <p:spPr>
          <a:xfrm flipH="false" flipV="false" rot="0">
            <a:off x="11339335" y="9302602"/>
            <a:ext cx="2590521" cy="1968796"/>
          </a:xfrm>
          <a:custGeom>
            <a:avLst/>
            <a:gdLst/>
            <a:ahLst/>
            <a:cxnLst/>
            <a:rect r="r" b="b" t="t" l="l"/>
            <a:pathLst>
              <a:path h="1968796" w="2590521">
                <a:moveTo>
                  <a:pt x="0" y="0"/>
                </a:moveTo>
                <a:lnTo>
                  <a:pt x="2590521" y="0"/>
                </a:lnTo>
                <a:lnTo>
                  <a:pt x="2590521" y="1968796"/>
                </a:lnTo>
                <a:lnTo>
                  <a:pt x="0" y="1968796"/>
                </a:lnTo>
                <a:lnTo>
                  <a:pt x="0" y="0"/>
                </a:lnTo>
                <a:close/>
              </a:path>
            </a:pathLst>
          </a:custGeom>
          <a:blipFill>
            <a:blip r:embed="rId7">
              <a:alphaModFix amt="27000"/>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2063148" y="10047669"/>
            <a:ext cx="18476217" cy="1028700"/>
            <a:chOff x="0" y="0"/>
            <a:chExt cx="4866164" cy="270933"/>
          </a:xfrm>
        </p:grpSpPr>
        <p:sp>
          <p:nvSpPr>
            <p:cNvPr name="Freeform 3" id="3"/>
            <p:cNvSpPr/>
            <p:nvPr/>
          </p:nvSpPr>
          <p:spPr>
            <a:xfrm flipH="false" flipV="false" rot="0">
              <a:off x="0" y="0"/>
              <a:ext cx="4866164" cy="270933"/>
            </a:xfrm>
            <a:custGeom>
              <a:avLst/>
              <a:gdLst/>
              <a:ahLst/>
              <a:cxnLst/>
              <a:rect r="r" b="b" t="t" l="l"/>
              <a:pathLst>
                <a:path h="270933" w="4866164">
                  <a:moveTo>
                    <a:pt x="0" y="0"/>
                  </a:moveTo>
                  <a:lnTo>
                    <a:pt x="4866164" y="0"/>
                  </a:lnTo>
                  <a:lnTo>
                    <a:pt x="4866164" y="270933"/>
                  </a:lnTo>
                  <a:lnTo>
                    <a:pt x="0" y="270933"/>
                  </a:lnTo>
                  <a:close/>
                </a:path>
              </a:pathLst>
            </a:custGeom>
            <a:solidFill>
              <a:srgbClr val="0C4393"/>
            </a:solidFill>
            <a:ln cap="sq">
              <a:noFill/>
              <a:prstDash val="solid"/>
              <a:miter/>
            </a:ln>
          </p:spPr>
        </p:sp>
        <p:sp>
          <p:nvSpPr>
            <p:cNvPr name="TextBox 4" id="4"/>
            <p:cNvSpPr txBox="true"/>
            <p:nvPr/>
          </p:nvSpPr>
          <p:spPr>
            <a:xfrm>
              <a:off x="0" y="-38100"/>
              <a:ext cx="4866164" cy="30903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2396778" y="5181600"/>
            <a:ext cx="3564204" cy="3564204"/>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051D40">
                  <a:alpha val="15686"/>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0" y="0"/>
            <a:ext cx="18288000" cy="5246370"/>
            <a:chOff x="0" y="0"/>
            <a:chExt cx="2833290" cy="812800"/>
          </a:xfrm>
        </p:grpSpPr>
        <p:sp>
          <p:nvSpPr>
            <p:cNvPr name="Freeform 9" id="9"/>
            <p:cNvSpPr/>
            <p:nvPr/>
          </p:nvSpPr>
          <p:spPr>
            <a:xfrm flipH="false" flipV="false" rot="0">
              <a:off x="0" y="0"/>
              <a:ext cx="2833290" cy="812800"/>
            </a:xfrm>
            <a:custGeom>
              <a:avLst/>
              <a:gdLst/>
              <a:ahLst/>
              <a:cxnLst/>
              <a:rect r="r" b="b" t="t" l="l"/>
              <a:pathLst>
                <a:path h="812800" w="2833290">
                  <a:moveTo>
                    <a:pt x="0" y="0"/>
                  </a:moveTo>
                  <a:lnTo>
                    <a:pt x="2833290" y="0"/>
                  </a:lnTo>
                  <a:lnTo>
                    <a:pt x="2833290" y="812800"/>
                  </a:lnTo>
                  <a:lnTo>
                    <a:pt x="0" y="812800"/>
                  </a:lnTo>
                  <a:close/>
                </a:path>
              </a:pathLst>
            </a:custGeom>
            <a:blipFill>
              <a:blip r:embed="rId2"/>
              <a:stretch>
                <a:fillRect l="0" t="-16230" r="0" b="-16230"/>
              </a:stretch>
            </a:blipFill>
          </p:spPr>
        </p:sp>
      </p:grpSp>
      <p:grpSp>
        <p:nvGrpSpPr>
          <p:cNvPr name="Group 10" id="10"/>
          <p:cNvGrpSpPr/>
          <p:nvPr/>
        </p:nvGrpSpPr>
        <p:grpSpPr>
          <a:xfrm rot="0">
            <a:off x="2327018" y="1282862"/>
            <a:ext cx="13633964" cy="7797476"/>
            <a:chOff x="0" y="0"/>
            <a:chExt cx="3590792" cy="2053671"/>
          </a:xfrm>
        </p:grpSpPr>
        <p:sp>
          <p:nvSpPr>
            <p:cNvPr name="Freeform 11" id="11"/>
            <p:cNvSpPr/>
            <p:nvPr/>
          </p:nvSpPr>
          <p:spPr>
            <a:xfrm flipH="false" flipV="false" rot="0">
              <a:off x="0" y="0"/>
              <a:ext cx="3590792" cy="2053672"/>
            </a:xfrm>
            <a:custGeom>
              <a:avLst/>
              <a:gdLst/>
              <a:ahLst/>
              <a:cxnLst/>
              <a:rect r="r" b="b" t="t" l="l"/>
              <a:pathLst>
                <a:path h="2053672" w="3590792">
                  <a:moveTo>
                    <a:pt x="3590792" y="28392"/>
                  </a:moveTo>
                  <a:lnTo>
                    <a:pt x="3590792" y="2025279"/>
                  </a:lnTo>
                  <a:cubicBezTo>
                    <a:pt x="3590792" y="2040960"/>
                    <a:pt x="3578080" y="2053672"/>
                    <a:pt x="3562400" y="2053672"/>
                  </a:cubicBezTo>
                  <a:lnTo>
                    <a:pt x="28392" y="2053672"/>
                  </a:lnTo>
                  <a:cubicBezTo>
                    <a:pt x="12712" y="2053672"/>
                    <a:pt x="0" y="2040960"/>
                    <a:pt x="0" y="2025279"/>
                  </a:cubicBezTo>
                  <a:lnTo>
                    <a:pt x="0" y="28392"/>
                  </a:lnTo>
                  <a:cubicBezTo>
                    <a:pt x="0" y="12712"/>
                    <a:pt x="12712" y="0"/>
                    <a:pt x="28392" y="0"/>
                  </a:cubicBezTo>
                  <a:lnTo>
                    <a:pt x="3562400" y="0"/>
                  </a:lnTo>
                  <a:cubicBezTo>
                    <a:pt x="3578080" y="0"/>
                    <a:pt x="3590792" y="12712"/>
                    <a:pt x="3590792" y="28392"/>
                  </a:cubicBezTo>
                  <a:close/>
                </a:path>
              </a:pathLst>
            </a:custGeom>
            <a:solidFill>
              <a:srgbClr val="0C4393"/>
            </a:solidFill>
            <a:ln cap="rnd">
              <a:noFill/>
              <a:prstDash val="solid"/>
              <a:round/>
            </a:ln>
          </p:spPr>
        </p:sp>
        <p:sp>
          <p:nvSpPr>
            <p:cNvPr name="TextBox 12" id="12"/>
            <p:cNvSpPr txBox="true"/>
            <p:nvPr/>
          </p:nvSpPr>
          <p:spPr>
            <a:xfrm>
              <a:off x="0" y="-38100"/>
              <a:ext cx="3590792" cy="209177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3" id="13"/>
          <p:cNvGrpSpPr/>
          <p:nvPr/>
        </p:nvGrpSpPr>
        <p:grpSpPr>
          <a:xfrm rot="0">
            <a:off x="-1280694" y="8243813"/>
            <a:ext cx="3607712" cy="3607712"/>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0C4393"/>
              </a:solidFill>
              <a:prstDash val="solid"/>
              <a:miter/>
            </a:ln>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5324168" y="1470880"/>
            <a:ext cx="7639663" cy="911685"/>
          </a:xfrm>
          <a:prstGeom prst="rect">
            <a:avLst/>
          </a:prstGeom>
        </p:spPr>
        <p:txBody>
          <a:bodyPr anchor="t" rtlCol="false" tIns="0" lIns="0" bIns="0" rIns="0">
            <a:spAutoFit/>
          </a:bodyPr>
          <a:lstStyle/>
          <a:p>
            <a:pPr algn="ctr" marL="0" indent="0" lvl="0">
              <a:lnSpc>
                <a:spcPts val="7495"/>
              </a:lnSpc>
              <a:spcBef>
                <a:spcPct val="0"/>
              </a:spcBef>
            </a:pPr>
            <a:r>
              <a:rPr lang="en-US" b="true" sz="5354">
                <a:solidFill>
                  <a:srgbClr val="FFBD59"/>
                </a:solidFill>
                <a:latin typeface="Montserrat Bold"/>
                <a:ea typeface="Montserrat Bold"/>
                <a:cs typeface="Montserrat Bold"/>
                <a:sym typeface="Montserrat Bold"/>
              </a:rPr>
              <a:t>LÝ DO CHỌN ĐỀ TÀI</a:t>
            </a:r>
          </a:p>
        </p:txBody>
      </p:sp>
      <p:sp>
        <p:nvSpPr>
          <p:cNvPr name="TextBox 17" id="17"/>
          <p:cNvSpPr txBox="true"/>
          <p:nvPr/>
        </p:nvSpPr>
        <p:spPr>
          <a:xfrm rot="0">
            <a:off x="3047585" y="2592115"/>
            <a:ext cx="12192829" cy="6006538"/>
          </a:xfrm>
          <a:prstGeom prst="rect">
            <a:avLst/>
          </a:prstGeom>
        </p:spPr>
        <p:txBody>
          <a:bodyPr anchor="t" rtlCol="false" tIns="0" lIns="0" bIns="0" rIns="0">
            <a:spAutoFit/>
          </a:bodyPr>
          <a:lstStyle/>
          <a:p>
            <a:pPr algn="just" marL="431801" indent="-215900" lvl="1">
              <a:lnSpc>
                <a:spcPts val="2800"/>
              </a:lnSpc>
              <a:buFont typeface="Arial"/>
              <a:buChar char="•"/>
            </a:pPr>
            <a:r>
              <a:rPr lang="en-US" sz="2000" spc="-40">
                <a:solidFill>
                  <a:srgbClr val="FDFDFD"/>
                </a:solidFill>
                <a:latin typeface="Poppins"/>
                <a:ea typeface="Poppins"/>
                <a:cs typeface="Poppins"/>
                <a:sym typeface="Poppins"/>
              </a:rPr>
              <a:t>Meme là định dạng nội dung lan truyền nhanh nhất trên mạng xã hội — và cũng dễ bị lợi dụng để truyền bá thông điệp thù ghét, kỳ thị</a:t>
            </a:r>
          </a:p>
          <a:p>
            <a:pPr algn="just">
              <a:lnSpc>
                <a:spcPts val="2800"/>
              </a:lnSpc>
            </a:pPr>
          </a:p>
          <a:p>
            <a:pPr algn="just" marL="431801" indent="-215900" lvl="1">
              <a:lnSpc>
                <a:spcPts val="2800"/>
              </a:lnSpc>
              <a:buFont typeface="Arial"/>
              <a:buChar char="•"/>
            </a:pPr>
            <a:r>
              <a:rPr lang="en-US" sz="2000" spc="-40">
                <a:solidFill>
                  <a:srgbClr val="FDFDFD"/>
                </a:solidFill>
                <a:latin typeface="Poppins"/>
                <a:ea typeface="Poppins"/>
                <a:cs typeface="Poppins"/>
                <a:sym typeface="Poppins"/>
              </a:rPr>
              <a:t>Meme độc hại thường ngụy trang dưới hình thức hài hước, châm biếm → khó phát hiện bằng mắt thường và càng khó hơn với hệ thống kiểm duyệt tự động</a:t>
            </a:r>
          </a:p>
          <a:p>
            <a:pPr algn="just">
              <a:lnSpc>
                <a:spcPts val="2800"/>
              </a:lnSpc>
            </a:pPr>
          </a:p>
          <a:p>
            <a:pPr algn="just" marL="431801" indent="-215900" lvl="1">
              <a:lnSpc>
                <a:spcPts val="2800"/>
              </a:lnSpc>
              <a:buFont typeface="Arial"/>
              <a:buChar char="•"/>
            </a:pPr>
            <a:r>
              <a:rPr lang="en-US" sz="2000" spc="-40">
                <a:solidFill>
                  <a:srgbClr val="FDFDFD"/>
                </a:solidFill>
                <a:latin typeface="Poppins"/>
                <a:ea typeface="Poppins"/>
                <a:cs typeface="Poppins"/>
                <a:sym typeface="Poppins"/>
              </a:rPr>
              <a:t>Bài toán đa phương thức (multimodal): tính độc hại nằm ở sự kết hợp giữa ảnh và văn bản, không phải ở từng phần riêng lẻ nên phương pháp xử lý chỉ ảnh hoặc chỉ text đều không hiệu quả</a:t>
            </a:r>
          </a:p>
          <a:p>
            <a:pPr algn="just">
              <a:lnSpc>
                <a:spcPts val="2800"/>
              </a:lnSpc>
            </a:pPr>
          </a:p>
          <a:p>
            <a:pPr algn="just" marL="431801" indent="-215900" lvl="1">
              <a:lnSpc>
                <a:spcPts val="2800"/>
              </a:lnSpc>
              <a:buFont typeface="Arial"/>
              <a:buChar char="•"/>
            </a:pPr>
            <a:r>
              <a:rPr lang="en-US" sz="2000" spc="-40">
                <a:solidFill>
                  <a:srgbClr val="FDFDFD"/>
                </a:solidFill>
                <a:latin typeface="Poppins"/>
                <a:ea typeface="Poppins"/>
                <a:cs typeface="Poppins"/>
                <a:sym typeface="Poppins"/>
              </a:rPr>
              <a:t>Cơ hội ứng dụng các Mô hình Ngôn ngữ-Thị giác (Vision-Language Model) hiện đại như CLIP, SigLIP,... kết hợp với các kỹ thuật fine-tune.</a:t>
            </a:r>
          </a:p>
          <a:p>
            <a:pPr algn="just">
              <a:lnSpc>
                <a:spcPts val="2800"/>
              </a:lnSpc>
            </a:pPr>
          </a:p>
          <a:p>
            <a:pPr algn="just" marL="431801" indent="-215900" lvl="1">
              <a:lnSpc>
                <a:spcPts val="2800"/>
              </a:lnSpc>
              <a:buFont typeface="Arial"/>
              <a:buChar char="•"/>
            </a:pPr>
            <a:r>
              <a:rPr lang="en-US" sz="2000" spc="-40">
                <a:solidFill>
                  <a:srgbClr val="FDFDFD"/>
                </a:solidFill>
                <a:latin typeface="Poppins"/>
                <a:ea typeface="Poppins"/>
                <a:cs typeface="Poppins"/>
                <a:sym typeface="Poppins"/>
              </a:rPr>
              <a:t>Có nguồn dữ liệu uy tín: Hateful Memes Challenge (Facebook AI Research, 2020) và Memotion (SemEval 2020), kèm human baseline AUROC ~0.82 làm tham chiếu cho kết quả thực nghiệm.</a:t>
            </a:r>
          </a:p>
          <a:p>
            <a:pPr algn="just">
              <a:lnSpc>
                <a:spcPts val="2800"/>
              </a:lnSpc>
            </a:pPr>
          </a:p>
          <a:p>
            <a:pPr algn="just" marL="431801" indent="-215900" lvl="1">
              <a:lnSpc>
                <a:spcPts val="2800"/>
              </a:lnSpc>
              <a:buFont typeface="Arial"/>
              <a:buChar char="•"/>
            </a:pPr>
            <a:r>
              <a:rPr lang="en-US" sz="2000" spc="-40">
                <a:solidFill>
                  <a:srgbClr val="FDFDFD"/>
                </a:solidFill>
                <a:latin typeface="Poppins"/>
                <a:ea typeface="Poppins"/>
                <a:cs typeface="Poppins"/>
                <a:sym typeface="Poppins"/>
              </a:rPr>
              <a:t>Nhu cầu thực tế cao: các nền tảng mạng xã hội cần hệ thống tự động kiểm duyệt nội dung độc hại quy mô lớn — đây là bài toán có giá trị nghiên cứu lẫn ứng dụng thực tiễn</a:t>
            </a:r>
          </a:p>
        </p:txBody>
      </p:sp>
      <p:sp>
        <p:nvSpPr>
          <p:cNvPr name="TextBox 18" id="18"/>
          <p:cNvSpPr txBox="true"/>
          <p:nvPr/>
        </p:nvSpPr>
        <p:spPr>
          <a:xfrm rot="0">
            <a:off x="8390239" y="9270363"/>
            <a:ext cx="1507522" cy="501622"/>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Poppins"/>
                <a:ea typeface="Poppins"/>
                <a:cs typeface="Poppins"/>
                <a:sym typeface="Poppins"/>
              </a:rPr>
              <a:t>Nhóm 7</a:t>
            </a:r>
          </a:p>
        </p:txBody>
      </p:sp>
      <p:sp>
        <p:nvSpPr>
          <p:cNvPr name="Freeform 19" id="19"/>
          <p:cNvSpPr/>
          <p:nvPr/>
        </p:nvSpPr>
        <p:spPr>
          <a:xfrm flipH="false" flipV="false" rot="0">
            <a:off x="16146719" y="6275018"/>
            <a:ext cx="2590521" cy="1968796"/>
          </a:xfrm>
          <a:custGeom>
            <a:avLst/>
            <a:gdLst/>
            <a:ahLst/>
            <a:cxnLst/>
            <a:rect r="r" b="b" t="t" l="l"/>
            <a:pathLst>
              <a:path h="1968796" w="2590521">
                <a:moveTo>
                  <a:pt x="0" y="0"/>
                </a:moveTo>
                <a:lnTo>
                  <a:pt x="2590521" y="0"/>
                </a:lnTo>
                <a:lnTo>
                  <a:pt x="2590521" y="1968795"/>
                </a:lnTo>
                <a:lnTo>
                  <a:pt x="0" y="1968795"/>
                </a:lnTo>
                <a:lnTo>
                  <a:pt x="0" y="0"/>
                </a:lnTo>
                <a:close/>
              </a:path>
            </a:pathLst>
          </a:custGeom>
          <a:blipFill>
            <a:blip r:embed="rId3">
              <a:alphaModFix amt="27000"/>
              <a:extLst>
                <a:ext uri="{96DAC541-7B7A-43D3-8B79-37D633B846F1}">
                  <asvg:svgBlip xmlns:asvg="http://schemas.microsoft.com/office/drawing/2016/SVG/main" r:embed="rId4"/>
                </a:ext>
              </a:extLst>
            </a:blip>
            <a:stretch>
              <a:fillRect l="0" t="0" r="0" b="0"/>
            </a:stretch>
          </a:blipFill>
        </p:spPr>
      </p:sp>
      <p:sp>
        <p:nvSpPr>
          <p:cNvPr name="Freeform 20" id="20"/>
          <p:cNvSpPr/>
          <p:nvPr/>
        </p:nvSpPr>
        <p:spPr>
          <a:xfrm flipH="false" flipV="false" rot="0">
            <a:off x="-1561821" y="5628722"/>
            <a:ext cx="2590521" cy="1968796"/>
          </a:xfrm>
          <a:custGeom>
            <a:avLst/>
            <a:gdLst/>
            <a:ahLst/>
            <a:cxnLst/>
            <a:rect r="r" b="b" t="t" l="l"/>
            <a:pathLst>
              <a:path h="1968796" w="2590521">
                <a:moveTo>
                  <a:pt x="0" y="0"/>
                </a:moveTo>
                <a:lnTo>
                  <a:pt x="2590521" y="0"/>
                </a:lnTo>
                <a:lnTo>
                  <a:pt x="2590521" y="1968796"/>
                </a:lnTo>
                <a:lnTo>
                  <a:pt x="0" y="1968796"/>
                </a:lnTo>
                <a:lnTo>
                  <a:pt x="0" y="0"/>
                </a:lnTo>
                <a:close/>
              </a:path>
            </a:pathLst>
          </a:custGeom>
          <a:blipFill>
            <a:blip r:embed="rId3">
              <a:alphaModFix amt="27000"/>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551467" y="-2731872"/>
            <a:ext cx="4378721" cy="437872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0C4393"/>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950045" y="754936"/>
            <a:ext cx="6195742" cy="9647341"/>
            <a:chOff x="0" y="0"/>
            <a:chExt cx="8260990" cy="12863121"/>
          </a:xfrm>
        </p:grpSpPr>
        <p:grpSp>
          <p:nvGrpSpPr>
            <p:cNvPr name="Group 6" id="6"/>
            <p:cNvGrpSpPr/>
            <p:nvPr/>
          </p:nvGrpSpPr>
          <p:grpSpPr>
            <a:xfrm rot="0">
              <a:off x="0" y="0"/>
              <a:ext cx="8260990" cy="12863121"/>
              <a:chOff x="0" y="0"/>
              <a:chExt cx="660400" cy="1028304"/>
            </a:xfrm>
          </p:grpSpPr>
          <p:sp>
            <p:nvSpPr>
              <p:cNvPr name="Freeform 7" id="7"/>
              <p:cNvSpPr/>
              <p:nvPr/>
            </p:nvSpPr>
            <p:spPr>
              <a:xfrm flipH="false" flipV="false" rot="0">
                <a:off x="0" y="0"/>
                <a:ext cx="660400" cy="1028304"/>
              </a:xfrm>
              <a:custGeom>
                <a:avLst/>
                <a:gdLst/>
                <a:ahLst/>
                <a:cxnLst/>
                <a:rect r="r" b="b" t="t" l="l"/>
                <a:pathLst>
                  <a:path h="1028304"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3289"/>
                    </a:cubicBezTo>
                    <a:lnTo>
                      <a:pt x="660400" y="1028304"/>
                    </a:lnTo>
                    <a:lnTo>
                      <a:pt x="0" y="1028304"/>
                    </a:lnTo>
                    <a:lnTo>
                      <a:pt x="0" y="333805"/>
                    </a:lnTo>
                    <a:cubicBezTo>
                      <a:pt x="1782" y="185660"/>
                      <a:pt x="93019" y="64045"/>
                      <a:pt x="220252" y="19070"/>
                    </a:cubicBezTo>
                    <a:close/>
                  </a:path>
                </a:pathLst>
              </a:custGeom>
              <a:solidFill>
                <a:srgbClr val="0C4393"/>
              </a:solidFill>
            </p:spPr>
          </p:sp>
          <p:sp>
            <p:nvSpPr>
              <p:cNvPr name="TextBox 8" id="8"/>
              <p:cNvSpPr txBox="true"/>
              <p:nvPr/>
            </p:nvSpPr>
            <p:spPr>
              <a:xfrm>
                <a:off x="0" y="88900"/>
                <a:ext cx="660400" cy="939404"/>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a:grpSpLocks noChangeAspect="true"/>
            </p:cNvGrpSpPr>
            <p:nvPr/>
          </p:nvGrpSpPr>
          <p:grpSpPr>
            <a:xfrm rot="0">
              <a:off x="440970" y="396634"/>
              <a:ext cx="7379049" cy="7379049"/>
              <a:chOff x="0" y="0"/>
              <a:chExt cx="8916670" cy="8916670"/>
            </a:xfrm>
          </p:grpSpPr>
          <p:sp>
            <p:nvSpPr>
              <p:cNvPr name="Freeform 10" id="10"/>
              <p:cNvSpPr/>
              <p:nvPr/>
            </p:nvSpPr>
            <p:spPr>
              <a:xfrm flipH="false" flipV="false" rot="0">
                <a:off x="6350" y="6350"/>
                <a:ext cx="8903970" cy="8903970"/>
              </a:xfrm>
              <a:custGeom>
                <a:avLst/>
                <a:gdLst/>
                <a:ahLst/>
                <a:cxnLst/>
                <a:rect r="r" b="b" t="t" l="l"/>
                <a:pathLst>
                  <a:path h="8903970" w="890397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path>
                </a:pathLst>
              </a:custGeom>
              <a:solidFill>
                <a:srgbClr val="FFFFFF"/>
              </a:solidFill>
            </p:spPr>
          </p:sp>
          <p:sp>
            <p:nvSpPr>
              <p:cNvPr name="Freeform 11" id="11"/>
              <p:cNvSpPr/>
              <p:nvPr/>
            </p:nvSpPr>
            <p:spPr>
              <a:xfrm flipH="false" flipV="false" rot="0">
                <a:off x="154940" y="154940"/>
                <a:ext cx="8605520" cy="8605520"/>
              </a:xfrm>
              <a:custGeom>
                <a:avLst/>
                <a:gdLst/>
                <a:ahLst/>
                <a:cxnLst/>
                <a:rect r="r" b="b" t="t" l="l"/>
                <a:pathLst>
                  <a:path h="8605520" w="8605520">
                    <a:moveTo>
                      <a:pt x="8605520" y="4302760"/>
                    </a:moveTo>
                    <a:cubicBezTo>
                      <a:pt x="8605520" y="6678930"/>
                      <a:pt x="6678930" y="8605520"/>
                      <a:pt x="4302760" y="8605520"/>
                    </a:cubicBezTo>
                    <a:cubicBezTo>
                      <a:pt x="1926590" y="8605520"/>
                      <a:pt x="0" y="6680200"/>
                      <a:pt x="0" y="4302760"/>
                    </a:cubicBezTo>
                    <a:cubicBezTo>
                      <a:pt x="0" y="1925320"/>
                      <a:pt x="1926590" y="0"/>
                      <a:pt x="4302760" y="0"/>
                    </a:cubicBezTo>
                    <a:cubicBezTo>
                      <a:pt x="6678930" y="0"/>
                      <a:pt x="8605520" y="1926590"/>
                      <a:pt x="8605520" y="4302760"/>
                    </a:cubicBezTo>
                    <a:close/>
                  </a:path>
                </a:pathLst>
              </a:custGeom>
              <a:blipFill>
                <a:blip r:embed="rId2"/>
                <a:stretch>
                  <a:fillRect l="-41040" t="-5320" r="-41767" b="-16476"/>
                </a:stretch>
              </a:blipFill>
            </p:spPr>
          </p:sp>
        </p:grpSp>
      </p:grpSp>
      <p:grpSp>
        <p:nvGrpSpPr>
          <p:cNvPr name="Group 12" id="12"/>
          <p:cNvGrpSpPr/>
          <p:nvPr/>
        </p:nvGrpSpPr>
        <p:grpSpPr>
          <a:xfrm rot="0">
            <a:off x="9971160" y="9412835"/>
            <a:ext cx="1978885" cy="1978885"/>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4393"/>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8684210" y="9863339"/>
            <a:ext cx="1286950" cy="128695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2636135" y="-2964588"/>
            <a:ext cx="3564204" cy="3564204"/>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051D40">
                  <a:alpha val="15686"/>
                </a:srgbClr>
              </a:solidFill>
              <a:prstDash val="solid"/>
              <a:miter/>
            </a:ln>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5400000">
            <a:off x="-1334352" y="7992629"/>
            <a:ext cx="4199553" cy="3741420"/>
          </a:xfrm>
          <a:custGeom>
            <a:avLst/>
            <a:gdLst/>
            <a:ahLst/>
            <a:cxnLst/>
            <a:rect r="r" b="b" t="t" l="l"/>
            <a:pathLst>
              <a:path h="3741420" w="4199553">
                <a:moveTo>
                  <a:pt x="0" y="0"/>
                </a:moveTo>
                <a:lnTo>
                  <a:pt x="4199553" y="0"/>
                </a:lnTo>
                <a:lnTo>
                  <a:pt x="4199553" y="3741420"/>
                </a:lnTo>
                <a:lnTo>
                  <a:pt x="0" y="3741420"/>
                </a:lnTo>
                <a:lnTo>
                  <a:pt x="0" y="0"/>
                </a:lnTo>
                <a:close/>
              </a:path>
            </a:pathLst>
          </a:custGeom>
          <a:blipFill>
            <a:blip r:embed="rId3">
              <a:alphaModFix amt="15000"/>
              <a:extLst>
                <a:ext uri="{96DAC541-7B7A-43D3-8B79-37D633B846F1}">
                  <asvg:svgBlip xmlns:asvg="http://schemas.microsoft.com/office/drawing/2016/SVG/main" r:embed="rId4"/>
                </a:ext>
              </a:extLst>
            </a:blip>
            <a:stretch>
              <a:fillRect l="0" t="0" r="0" b="0"/>
            </a:stretch>
          </a:blipFill>
        </p:spPr>
      </p:sp>
      <p:sp>
        <p:nvSpPr>
          <p:cNvPr name="Freeform 22" id="22"/>
          <p:cNvSpPr/>
          <p:nvPr/>
        </p:nvSpPr>
        <p:spPr>
          <a:xfrm flipH="false" flipV="false" rot="0">
            <a:off x="12280773" y="6779165"/>
            <a:ext cx="2590521" cy="1968796"/>
          </a:xfrm>
          <a:custGeom>
            <a:avLst/>
            <a:gdLst/>
            <a:ahLst/>
            <a:cxnLst/>
            <a:rect r="r" b="b" t="t" l="l"/>
            <a:pathLst>
              <a:path h="1968796" w="2590521">
                <a:moveTo>
                  <a:pt x="0" y="0"/>
                </a:moveTo>
                <a:lnTo>
                  <a:pt x="2590520" y="0"/>
                </a:lnTo>
                <a:lnTo>
                  <a:pt x="2590520" y="1968795"/>
                </a:lnTo>
                <a:lnTo>
                  <a:pt x="0" y="1968795"/>
                </a:lnTo>
                <a:lnTo>
                  <a:pt x="0" y="0"/>
                </a:lnTo>
                <a:close/>
              </a:path>
            </a:pathLst>
          </a:custGeom>
          <a:blipFill>
            <a:blip r:embed="rId5">
              <a:alphaModFix amt="27000"/>
              <a:extLst>
                <a:ext uri="{96DAC541-7B7A-43D3-8B79-37D633B846F1}">
                  <asvg:svgBlip xmlns:asvg="http://schemas.microsoft.com/office/drawing/2016/SVG/main" r:embed="rId6"/>
                </a:ext>
              </a:extLst>
            </a:blip>
            <a:stretch>
              <a:fillRect l="0" t="0" r="0" b="0"/>
            </a:stretch>
          </a:blipFill>
        </p:spPr>
      </p:sp>
      <p:sp>
        <p:nvSpPr>
          <p:cNvPr name="Freeform 23" id="23"/>
          <p:cNvSpPr/>
          <p:nvPr/>
        </p:nvSpPr>
        <p:spPr>
          <a:xfrm flipH="false" flipV="false" rot="0">
            <a:off x="10389517" y="9632405"/>
            <a:ext cx="1150538" cy="874409"/>
          </a:xfrm>
          <a:custGeom>
            <a:avLst/>
            <a:gdLst/>
            <a:ahLst/>
            <a:cxnLst/>
            <a:rect r="r" b="b" t="t" l="l"/>
            <a:pathLst>
              <a:path h="874409" w="1150538">
                <a:moveTo>
                  <a:pt x="0" y="0"/>
                </a:moveTo>
                <a:lnTo>
                  <a:pt x="1150538" y="0"/>
                </a:lnTo>
                <a:lnTo>
                  <a:pt x="1150538" y="874409"/>
                </a:lnTo>
                <a:lnTo>
                  <a:pt x="0" y="874409"/>
                </a:lnTo>
                <a:lnTo>
                  <a:pt x="0" y="0"/>
                </a:lnTo>
                <a:close/>
              </a:path>
            </a:pathLst>
          </a:custGeom>
          <a:blipFill>
            <a:blip r:embed="rId5">
              <a:alphaModFix amt="27000"/>
              <a:extLst>
                <a:ext uri="{96DAC541-7B7A-43D3-8B79-37D633B846F1}">
                  <asvg:svgBlip xmlns:asvg="http://schemas.microsoft.com/office/drawing/2016/SVG/main" r:embed="rId6"/>
                </a:ext>
              </a:extLst>
            </a:blip>
            <a:stretch>
              <a:fillRect l="0" t="0" r="0" b="0"/>
            </a:stretch>
          </a:blipFill>
        </p:spPr>
      </p:sp>
      <p:sp>
        <p:nvSpPr>
          <p:cNvPr name="TextBox 24" id="24"/>
          <p:cNvSpPr txBox="true"/>
          <p:nvPr/>
        </p:nvSpPr>
        <p:spPr>
          <a:xfrm rot="0">
            <a:off x="408467" y="2071856"/>
            <a:ext cx="11131588" cy="7416106"/>
          </a:xfrm>
          <a:prstGeom prst="rect">
            <a:avLst/>
          </a:prstGeom>
        </p:spPr>
        <p:txBody>
          <a:bodyPr anchor="t" rtlCol="false" tIns="0" lIns="0" bIns="0" rIns="0">
            <a:spAutoFit/>
          </a:bodyPr>
          <a:lstStyle/>
          <a:p>
            <a:pPr algn="just" marL="431801" indent="-215900" lvl="1">
              <a:lnSpc>
                <a:spcPts val="2800"/>
              </a:lnSpc>
              <a:buFont typeface="Arial"/>
              <a:buChar char="•"/>
            </a:pPr>
            <a:r>
              <a:rPr lang="en-US" sz="2000" spc="-40">
                <a:solidFill>
                  <a:srgbClr val="051D40"/>
                </a:solidFill>
                <a:latin typeface="Poppins"/>
                <a:ea typeface="Poppins"/>
                <a:cs typeface="Poppins"/>
                <a:sym typeface="Poppins"/>
              </a:rPr>
              <a:t>Đánh giá và so sánh khả năng phát hiện meme độc hại của các mô hình Vision-Language Model phổ biến ở trạng thái frozen, từ đó chọn ra backbone phù hợp nhất cho giai đoạn fine-tune</a:t>
            </a:r>
          </a:p>
          <a:p>
            <a:pPr algn="just">
              <a:lnSpc>
                <a:spcPts val="2800"/>
              </a:lnSpc>
            </a:pPr>
          </a:p>
          <a:p>
            <a:pPr algn="just" marL="431801" indent="-215900" lvl="1">
              <a:lnSpc>
                <a:spcPts val="2800"/>
              </a:lnSpc>
              <a:buFont typeface="Arial"/>
              <a:buChar char="•"/>
            </a:pPr>
            <a:r>
              <a:rPr lang="en-US" sz="2000" spc="-40">
                <a:solidFill>
                  <a:srgbClr val="051D40"/>
                </a:solidFill>
                <a:latin typeface="Poppins"/>
                <a:ea typeface="Poppins"/>
                <a:cs typeface="Poppins"/>
                <a:sym typeface="Poppins"/>
              </a:rPr>
              <a:t>Xây dựng pipeline fine-tune Vision-Language Model hiệu quả cho bài toán phân loại meme đa phương thức, thông qua các kỹ thuật parameter-efficient (LoRA), kết hợp với các cải tiến về kiến trúc head, hàm mất mát, và các phương pháp huấn luyện hiện đại (Asymmetric Loss, SWA, TTA)</a:t>
            </a:r>
          </a:p>
          <a:p>
            <a:pPr algn="just">
              <a:lnSpc>
                <a:spcPts val="2800"/>
              </a:lnSpc>
            </a:pPr>
          </a:p>
          <a:p>
            <a:pPr algn="just" marL="431801" indent="-215900" lvl="1">
              <a:lnSpc>
                <a:spcPts val="2800"/>
              </a:lnSpc>
              <a:buFont typeface="Arial"/>
              <a:buChar char="•"/>
            </a:pPr>
            <a:r>
              <a:rPr lang="en-US" sz="2000" spc="-40">
                <a:solidFill>
                  <a:srgbClr val="051D40"/>
                </a:solidFill>
                <a:latin typeface="Poppins"/>
                <a:ea typeface="Poppins"/>
                <a:cs typeface="Poppins"/>
                <a:sym typeface="Poppins"/>
              </a:rPr>
              <a:t>Đánh giá tính tổng quát hoá của kiến trúc trên hai dataset độc lập — Hateful Memes Challenge và Merged Dataset (kết hợp thêm Memotion) — để kiểm tra khả năng hoạt động trên dữ liệu có phong cách đa dạng hơn</a:t>
            </a:r>
          </a:p>
          <a:p>
            <a:pPr algn="just">
              <a:lnSpc>
                <a:spcPts val="2800"/>
              </a:lnSpc>
            </a:pPr>
          </a:p>
          <a:p>
            <a:pPr algn="just" marL="431801" indent="-215900" lvl="1">
              <a:lnSpc>
                <a:spcPts val="2800"/>
              </a:lnSpc>
              <a:buFont typeface="Arial"/>
              <a:buChar char="•"/>
            </a:pPr>
            <a:r>
              <a:rPr lang="en-US" sz="2000" spc="-40">
                <a:solidFill>
                  <a:srgbClr val="051D40"/>
                </a:solidFill>
                <a:latin typeface="Poppins"/>
                <a:ea typeface="Poppins"/>
                <a:cs typeface="Poppins"/>
                <a:sym typeface="Poppins"/>
              </a:rPr>
              <a:t>Đề xuất và triển khai các hướng cải tiến paradigm-shift ở giai đoạn inference — Counterfactual Scoring, Retrieval-Augmented In-Context Learning (RAG-ICL), và Ensemble Fusion — nhằm khai thác thêm các góc nhìn khác bên cạnh classification truyền thống</a:t>
            </a:r>
          </a:p>
          <a:p>
            <a:pPr algn="just">
              <a:lnSpc>
                <a:spcPts val="2800"/>
              </a:lnSpc>
            </a:pPr>
          </a:p>
          <a:p>
            <a:pPr algn="just" marL="431801" indent="-215900" lvl="1">
              <a:lnSpc>
                <a:spcPts val="2800"/>
              </a:lnSpc>
              <a:spcBef>
                <a:spcPct val="0"/>
              </a:spcBef>
              <a:buFont typeface="Arial"/>
              <a:buChar char="•"/>
            </a:pPr>
            <a:r>
              <a:rPr lang="en-US" sz="2000" spc="-40">
                <a:solidFill>
                  <a:srgbClr val="051D40"/>
                </a:solidFill>
                <a:latin typeface="Poppins"/>
                <a:ea typeface="Poppins"/>
                <a:cs typeface="Poppins"/>
                <a:sym typeface="Poppins"/>
              </a:rPr>
              <a:t>Phân tích toàn diện kết quả qua các độ đo chuẩn (AUROC, F1, ROC curves), so sánh giữa các phương pháp và giữa hai dataset, từ đó rút ra insight và đề xuất hướng phát triển tiếp theo</a:t>
            </a:r>
          </a:p>
        </p:txBody>
      </p:sp>
      <p:sp>
        <p:nvSpPr>
          <p:cNvPr name="TextBox 25" id="25"/>
          <p:cNvSpPr txBox="true"/>
          <p:nvPr/>
        </p:nvSpPr>
        <p:spPr>
          <a:xfrm rot="0">
            <a:off x="2847584" y="923925"/>
            <a:ext cx="6253354" cy="920114"/>
          </a:xfrm>
          <a:prstGeom prst="rect">
            <a:avLst/>
          </a:prstGeom>
        </p:spPr>
        <p:txBody>
          <a:bodyPr anchor="t" rtlCol="false" tIns="0" lIns="0" bIns="0" rIns="0">
            <a:spAutoFit/>
          </a:bodyPr>
          <a:lstStyle/>
          <a:p>
            <a:pPr algn="l">
              <a:lnSpc>
                <a:spcPts val="7560"/>
              </a:lnSpc>
              <a:spcBef>
                <a:spcPct val="0"/>
              </a:spcBef>
            </a:pPr>
            <a:r>
              <a:rPr lang="en-US" b="true" sz="5400">
                <a:solidFill>
                  <a:srgbClr val="051D40"/>
                </a:solidFill>
                <a:latin typeface="Montserrat Bold"/>
                <a:ea typeface="Montserrat Bold"/>
                <a:cs typeface="Montserrat Bold"/>
                <a:sym typeface="Montserrat Bold"/>
              </a:rPr>
              <a:t>MỤC TIÊU ĐỀ TÀI</a:t>
            </a:r>
          </a:p>
        </p:txBody>
      </p:sp>
      <p:sp>
        <p:nvSpPr>
          <p:cNvPr name="TextBox 26" id="26"/>
          <p:cNvSpPr txBox="true"/>
          <p:nvPr/>
        </p:nvSpPr>
        <p:spPr>
          <a:xfrm rot="0">
            <a:off x="5200170" y="9546680"/>
            <a:ext cx="1507522" cy="501622"/>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Poppins"/>
                <a:ea typeface="Poppins"/>
                <a:cs typeface="Poppins"/>
                <a:sym typeface="Poppins"/>
              </a:rPr>
              <a:t>Nhóm 7</a:t>
            </a:r>
          </a:p>
        </p:txBody>
      </p:sp>
      <p:sp>
        <p:nvSpPr>
          <p:cNvPr name="Freeform 27" id="27"/>
          <p:cNvSpPr/>
          <p:nvPr/>
        </p:nvSpPr>
        <p:spPr>
          <a:xfrm flipH="false" flipV="false" rot="5400000">
            <a:off x="16903282" y="-1679049"/>
            <a:ext cx="4199553" cy="3741420"/>
          </a:xfrm>
          <a:custGeom>
            <a:avLst/>
            <a:gdLst/>
            <a:ahLst/>
            <a:cxnLst/>
            <a:rect r="r" b="b" t="t" l="l"/>
            <a:pathLst>
              <a:path h="3741420" w="4199553">
                <a:moveTo>
                  <a:pt x="0" y="0"/>
                </a:moveTo>
                <a:lnTo>
                  <a:pt x="4199553" y="0"/>
                </a:lnTo>
                <a:lnTo>
                  <a:pt x="4199553" y="3741420"/>
                </a:lnTo>
                <a:lnTo>
                  <a:pt x="0" y="3741420"/>
                </a:lnTo>
                <a:lnTo>
                  <a:pt x="0" y="0"/>
                </a:lnTo>
                <a:close/>
              </a:path>
            </a:pathLst>
          </a:custGeom>
          <a:blipFill>
            <a:blip r:embed="rId3">
              <a:alphaModFix amt="15000"/>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3266830" y="0"/>
            <a:ext cx="5021170" cy="10287000"/>
            <a:chOff x="0" y="0"/>
            <a:chExt cx="1322448" cy="2709333"/>
          </a:xfrm>
        </p:grpSpPr>
        <p:sp>
          <p:nvSpPr>
            <p:cNvPr name="Freeform 3" id="3"/>
            <p:cNvSpPr/>
            <p:nvPr/>
          </p:nvSpPr>
          <p:spPr>
            <a:xfrm flipH="false" flipV="false" rot="0">
              <a:off x="0" y="0"/>
              <a:ext cx="1322448" cy="2709333"/>
            </a:xfrm>
            <a:custGeom>
              <a:avLst/>
              <a:gdLst/>
              <a:ahLst/>
              <a:cxnLst/>
              <a:rect r="r" b="b" t="t" l="l"/>
              <a:pathLst>
                <a:path h="2709333" w="1322448">
                  <a:moveTo>
                    <a:pt x="0" y="0"/>
                  </a:moveTo>
                  <a:lnTo>
                    <a:pt x="1322448" y="0"/>
                  </a:lnTo>
                  <a:lnTo>
                    <a:pt x="1322448" y="2709333"/>
                  </a:lnTo>
                  <a:lnTo>
                    <a:pt x="0" y="2709333"/>
                  </a:lnTo>
                  <a:close/>
                </a:path>
              </a:pathLst>
            </a:custGeom>
            <a:solidFill>
              <a:srgbClr val="0C4393"/>
            </a:solidFill>
          </p:spPr>
        </p:sp>
        <p:sp>
          <p:nvSpPr>
            <p:cNvPr name="TextBox 4" id="4"/>
            <p:cNvSpPr txBox="true"/>
            <p:nvPr/>
          </p:nvSpPr>
          <p:spPr>
            <a:xfrm>
              <a:off x="0" y="-38100"/>
              <a:ext cx="1322448" cy="274743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7605611" y="9099384"/>
            <a:ext cx="3564204" cy="3564204"/>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051D40">
                  <a:alpha val="15686"/>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4700679" y="7074186"/>
            <a:ext cx="5946973" cy="594697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FFFFFF">
                  <a:alpha val="15686"/>
                </a:srgbClr>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073803" y="1835729"/>
            <a:ext cx="4194156" cy="1314860"/>
            <a:chOff x="0" y="0"/>
            <a:chExt cx="5592208" cy="1753147"/>
          </a:xfrm>
        </p:grpSpPr>
        <p:grpSp>
          <p:nvGrpSpPr>
            <p:cNvPr name="Group 12" id="12"/>
            <p:cNvGrpSpPr/>
            <p:nvPr/>
          </p:nvGrpSpPr>
          <p:grpSpPr>
            <a:xfrm rot="0">
              <a:off x="199715" y="457036"/>
              <a:ext cx="5392493" cy="1296112"/>
              <a:chOff x="0" y="0"/>
              <a:chExt cx="2494910" cy="599664"/>
            </a:xfrm>
          </p:grpSpPr>
          <p:sp>
            <p:nvSpPr>
              <p:cNvPr name="Freeform 13" id="13"/>
              <p:cNvSpPr/>
              <p:nvPr/>
            </p:nvSpPr>
            <p:spPr>
              <a:xfrm flipH="false" flipV="false" rot="0">
                <a:off x="0" y="0"/>
                <a:ext cx="2494910" cy="599664"/>
              </a:xfrm>
              <a:custGeom>
                <a:avLst/>
                <a:gdLst/>
                <a:ahLst/>
                <a:cxnLst/>
                <a:rect r="r" b="b" t="t" l="l"/>
                <a:pathLst>
                  <a:path h="599664" w="2494910">
                    <a:moveTo>
                      <a:pt x="47856" y="0"/>
                    </a:moveTo>
                    <a:lnTo>
                      <a:pt x="2447054" y="0"/>
                    </a:lnTo>
                    <a:cubicBezTo>
                      <a:pt x="2459746" y="0"/>
                      <a:pt x="2471919" y="5042"/>
                      <a:pt x="2480893" y="14017"/>
                    </a:cubicBezTo>
                    <a:cubicBezTo>
                      <a:pt x="2489868" y="22992"/>
                      <a:pt x="2494910" y="35164"/>
                      <a:pt x="2494910" y="47856"/>
                    </a:cubicBezTo>
                    <a:lnTo>
                      <a:pt x="2494910" y="551808"/>
                    </a:lnTo>
                    <a:cubicBezTo>
                      <a:pt x="2494910" y="578238"/>
                      <a:pt x="2473484" y="599664"/>
                      <a:pt x="2447054" y="599664"/>
                    </a:cubicBezTo>
                    <a:lnTo>
                      <a:pt x="47856" y="599664"/>
                    </a:lnTo>
                    <a:cubicBezTo>
                      <a:pt x="21426" y="599664"/>
                      <a:pt x="0" y="578238"/>
                      <a:pt x="0" y="551808"/>
                    </a:cubicBezTo>
                    <a:lnTo>
                      <a:pt x="0" y="47856"/>
                    </a:lnTo>
                    <a:cubicBezTo>
                      <a:pt x="0" y="21426"/>
                      <a:pt x="21426" y="0"/>
                      <a:pt x="47856" y="0"/>
                    </a:cubicBezTo>
                    <a:close/>
                  </a:path>
                </a:pathLst>
              </a:custGeom>
              <a:solidFill>
                <a:srgbClr val="0C4393"/>
              </a:solidFill>
            </p:spPr>
          </p:sp>
          <p:sp>
            <p:nvSpPr>
              <p:cNvPr name="TextBox 14" id="14"/>
              <p:cNvSpPr txBox="true"/>
              <p:nvPr/>
            </p:nvSpPr>
            <p:spPr>
              <a:xfrm>
                <a:off x="0" y="-38100"/>
                <a:ext cx="2494910" cy="637764"/>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0" y="0"/>
              <a:ext cx="946150" cy="914071"/>
              <a:chOff x="0" y="0"/>
              <a:chExt cx="259379" cy="250585"/>
            </a:xfrm>
          </p:grpSpPr>
          <p:sp>
            <p:nvSpPr>
              <p:cNvPr name="Freeform 16" id="16"/>
              <p:cNvSpPr/>
              <p:nvPr/>
            </p:nvSpPr>
            <p:spPr>
              <a:xfrm flipH="false" flipV="false" rot="0">
                <a:off x="0" y="0"/>
                <a:ext cx="259379" cy="250585"/>
              </a:xfrm>
              <a:custGeom>
                <a:avLst/>
                <a:gdLst/>
                <a:ahLst/>
                <a:cxnLst/>
                <a:rect r="r" b="b" t="t" l="l"/>
                <a:pathLst>
                  <a:path h="250585" w="259379">
                    <a:moveTo>
                      <a:pt x="125293" y="0"/>
                    </a:moveTo>
                    <a:lnTo>
                      <a:pt x="134087" y="0"/>
                    </a:lnTo>
                    <a:cubicBezTo>
                      <a:pt x="167316" y="0"/>
                      <a:pt x="199185" y="13200"/>
                      <a:pt x="222682" y="36697"/>
                    </a:cubicBezTo>
                    <a:cubicBezTo>
                      <a:pt x="246179" y="60194"/>
                      <a:pt x="259379" y="92063"/>
                      <a:pt x="259379" y="125293"/>
                    </a:cubicBezTo>
                    <a:lnTo>
                      <a:pt x="259379" y="125293"/>
                    </a:lnTo>
                    <a:cubicBezTo>
                      <a:pt x="259379" y="158522"/>
                      <a:pt x="246179" y="190391"/>
                      <a:pt x="222682" y="213888"/>
                    </a:cubicBezTo>
                    <a:cubicBezTo>
                      <a:pt x="199185" y="237385"/>
                      <a:pt x="167316" y="250585"/>
                      <a:pt x="134087"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rotWithShape="true">
                <a:gsLst>
                  <a:gs pos="0">
                    <a:srgbClr val="00569E">
                      <a:alpha val="100000"/>
                    </a:srgbClr>
                  </a:gs>
                  <a:gs pos="50000">
                    <a:srgbClr val="014074">
                      <a:alpha val="100000"/>
                    </a:srgbClr>
                  </a:gs>
                  <a:gs pos="100000">
                    <a:srgbClr val="002A4D">
                      <a:alpha val="100000"/>
                    </a:srgbClr>
                  </a:gs>
                </a:gsLst>
                <a:path path="circle">
                  <a:fillToRect l="0" r="100000" t="0" b="100000"/>
                </a:path>
                <a:tileRect r="0" l="-100000" b="0" t="-100000"/>
              </a:gradFill>
              <a:ln cap="rnd">
                <a:noFill/>
                <a:prstDash val="solid"/>
                <a:round/>
              </a:ln>
            </p:spPr>
          </p:sp>
          <p:sp>
            <p:nvSpPr>
              <p:cNvPr name="TextBox 17" id="17"/>
              <p:cNvSpPr txBox="true"/>
              <p:nvPr/>
            </p:nvSpPr>
            <p:spPr>
              <a:xfrm>
                <a:off x="0" y="-66675"/>
                <a:ext cx="259379" cy="317260"/>
              </a:xfrm>
              <a:prstGeom prst="rect">
                <a:avLst/>
              </a:prstGeom>
            </p:spPr>
            <p:txBody>
              <a:bodyPr anchor="ctr" rtlCol="false" tIns="0" lIns="0" bIns="0" rIns="0"/>
              <a:lstStyle/>
              <a:p>
                <a:pPr algn="ctr" marL="0" indent="0" lvl="0">
                  <a:lnSpc>
                    <a:spcPts val="3480"/>
                  </a:lnSpc>
                  <a:spcBef>
                    <a:spcPct val="0"/>
                  </a:spcBef>
                </a:pPr>
                <a:r>
                  <a:rPr lang="en-US" b="true" sz="2486">
                    <a:solidFill>
                      <a:srgbClr val="FFFFFF"/>
                    </a:solidFill>
                    <a:latin typeface="Poppins Bold"/>
                    <a:ea typeface="Poppins Bold"/>
                    <a:cs typeface="Poppins Bold"/>
                    <a:sym typeface="Poppins Bold"/>
                  </a:rPr>
                  <a:t>1</a:t>
                </a:r>
              </a:p>
            </p:txBody>
          </p:sp>
        </p:grpSp>
      </p:grpSp>
      <p:grpSp>
        <p:nvGrpSpPr>
          <p:cNvPr name="Group 18" id="18"/>
          <p:cNvGrpSpPr/>
          <p:nvPr/>
        </p:nvGrpSpPr>
        <p:grpSpPr>
          <a:xfrm rot="0">
            <a:off x="-518221" y="-502836"/>
            <a:ext cx="1286950" cy="128695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4393"/>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0">
            <a:off x="6021720" y="1835729"/>
            <a:ext cx="4194156" cy="1314860"/>
            <a:chOff x="0" y="0"/>
            <a:chExt cx="5592208" cy="1753147"/>
          </a:xfrm>
        </p:grpSpPr>
        <p:grpSp>
          <p:nvGrpSpPr>
            <p:cNvPr name="Group 22" id="22"/>
            <p:cNvGrpSpPr/>
            <p:nvPr/>
          </p:nvGrpSpPr>
          <p:grpSpPr>
            <a:xfrm rot="0">
              <a:off x="199715" y="457036"/>
              <a:ext cx="5392493" cy="1296112"/>
              <a:chOff x="0" y="0"/>
              <a:chExt cx="2494910" cy="599664"/>
            </a:xfrm>
          </p:grpSpPr>
          <p:sp>
            <p:nvSpPr>
              <p:cNvPr name="Freeform 23" id="23"/>
              <p:cNvSpPr/>
              <p:nvPr/>
            </p:nvSpPr>
            <p:spPr>
              <a:xfrm flipH="false" flipV="false" rot="0">
                <a:off x="0" y="0"/>
                <a:ext cx="2494910" cy="599664"/>
              </a:xfrm>
              <a:custGeom>
                <a:avLst/>
                <a:gdLst/>
                <a:ahLst/>
                <a:cxnLst/>
                <a:rect r="r" b="b" t="t" l="l"/>
                <a:pathLst>
                  <a:path h="599664" w="2494910">
                    <a:moveTo>
                      <a:pt x="47856" y="0"/>
                    </a:moveTo>
                    <a:lnTo>
                      <a:pt x="2447054" y="0"/>
                    </a:lnTo>
                    <a:cubicBezTo>
                      <a:pt x="2459746" y="0"/>
                      <a:pt x="2471919" y="5042"/>
                      <a:pt x="2480893" y="14017"/>
                    </a:cubicBezTo>
                    <a:cubicBezTo>
                      <a:pt x="2489868" y="22992"/>
                      <a:pt x="2494910" y="35164"/>
                      <a:pt x="2494910" y="47856"/>
                    </a:cubicBezTo>
                    <a:lnTo>
                      <a:pt x="2494910" y="551808"/>
                    </a:lnTo>
                    <a:cubicBezTo>
                      <a:pt x="2494910" y="578238"/>
                      <a:pt x="2473484" y="599664"/>
                      <a:pt x="2447054" y="599664"/>
                    </a:cubicBezTo>
                    <a:lnTo>
                      <a:pt x="47856" y="599664"/>
                    </a:lnTo>
                    <a:cubicBezTo>
                      <a:pt x="21426" y="599664"/>
                      <a:pt x="0" y="578238"/>
                      <a:pt x="0" y="551808"/>
                    </a:cubicBezTo>
                    <a:lnTo>
                      <a:pt x="0" y="47856"/>
                    </a:lnTo>
                    <a:cubicBezTo>
                      <a:pt x="0" y="21426"/>
                      <a:pt x="21426" y="0"/>
                      <a:pt x="47856" y="0"/>
                    </a:cubicBezTo>
                    <a:close/>
                  </a:path>
                </a:pathLst>
              </a:custGeom>
              <a:solidFill>
                <a:srgbClr val="FFBD59"/>
              </a:solidFill>
            </p:spPr>
          </p:sp>
          <p:sp>
            <p:nvSpPr>
              <p:cNvPr name="TextBox 24" id="24"/>
              <p:cNvSpPr txBox="true"/>
              <p:nvPr/>
            </p:nvSpPr>
            <p:spPr>
              <a:xfrm>
                <a:off x="0" y="-38100"/>
                <a:ext cx="2494910" cy="637764"/>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0" y="0"/>
              <a:ext cx="946150" cy="914071"/>
              <a:chOff x="0" y="0"/>
              <a:chExt cx="259379" cy="250585"/>
            </a:xfrm>
          </p:grpSpPr>
          <p:sp>
            <p:nvSpPr>
              <p:cNvPr name="Freeform 26" id="26"/>
              <p:cNvSpPr/>
              <p:nvPr/>
            </p:nvSpPr>
            <p:spPr>
              <a:xfrm flipH="false" flipV="false" rot="0">
                <a:off x="0" y="0"/>
                <a:ext cx="259379" cy="250585"/>
              </a:xfrm>
              <a:custGeom>
                <a:avLst/>
                <a:gdLst/>
                <a:ahLst/>
                <a:cxnLst/>
                <a:rect r="r" b="b" t="t" l="l"/>
                <a:pathLst>
                  <a:path h="250585" w="259379">
                    <a:moveTo>
                      <a:pt x="125293" y="0"/>
                    </a:moveTo>
                    <a:lnTo>
                      <a:pt x="134087" y="0"/>
                    </a:lnTo>
                    <a:cubicBezTo>
                      <a:pt x="167316" y="0"/>
                      <a:pt x="199185" y="13200"/>
                      <a:pt x="222682" y="36697"/>
                    </a:cubicBezTo>
                    <a:cubicBezTo>
                      <a:pt x="246179" y="60194"/>
                      <a:pt x="259379" y="92063"/>
                      <a:pt x="259379" y="125293"/>
                    </a:cubicBezTo>
                    <a:lnTo>
                      <a:pt x="259379" y="125293"/>
                    </a:lnTo>
                    <a:cubicBezTo>
                      <a:pt x="259379" y="158522"/>
                      <a:pt x="246179" y="190391"/>
                      <a:pt x="222682" y="213888"/>
                    </a:cubicBezTo>
                    <a:cubicBezTo>
                      <a:pt x="199185" y="237385"/>
                      <a:pt x="167316" y="250585"/>
                      <a:pt x="134087"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solidFill>
                <a:srgbClr val="FFBD59"/>
              </a:solidFill>
              <a:ln cap="rnd">
                <a:noFill/>
                <a:prstDash val="solid"/>
                <a:round/>
              </a:ln>
            </p:spPr>
          </p:sp>
          <p:sp>
            <p:nvSpPr>
              <p:cNvPr name="TextBox 27" id="27"/>
              <p:cNvSpPr txBox="true"/>
              <p:nvPr/>
            </p:nvSpPr>
            <p:spPr>
              <a:xfrm>
                <a:off x="0" y="-66675"/>
                <a:ext cx="259379" cy="317260"/>
              </a:xfrm>
              <a:prstGeom prst="rect">
                <a:avLst/>
              </a:prstGeom>
            </p:spPr>
            <p:txBody>
              <a:bodyPr anchor="ctr" rtlCol="false" tIns="0" lIns="0" bIns="0" rIns="0"/>
              <a:lstStyle/>
              <a:p>
                <a:pPr algn="ctr" marL="0" indent="0" lvl="0">
                  <a:lnSpc>
                    <a:spcPts val="3480"/>
                  </a:lnSpc>
                  <a:spcBef>
                    <a:spcPct val="0"/>
                  </a:spcBef>
                </a:pPr>
                <a:r>
                  <a:rPr lang="en-US" b="true" sz="2486">
                    <a:solidFill>
                      <a:srgbClr val="FFFFFF"/>
                    </a:solidFill>
                    <a:latin typeface="Poppins Bold"/>
                    <a:ea typeface="Poppins Bold"/>
                    <a:cs typeface="Poppins Bold"/>
                    <a:sym typeface="Poppins Bold"/>
                  </a:rPr>
                  <a:t>2</a:t>
                </a:r>
              </a:p>
            </p:txBody>
          </p:sp>
        </p:grpSp>
      </p:grpSp>
      <p:grpSp>
        <p:nvGrpSpPr>
          <p:cNvPr name="Group 28" id="28"/>
          <p:cNvGrpSpPr/>
          <p:nvPr/>
        </p:nvGrpSpPr>
        <p:grpSpPr>
          <a:xfrm rot="0">
            <a:off x="10485577" y="1835729"/>
            <a:ext cx="6860036" cy="6860036"/>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80127" y="0"/>
                  </a:moveTo>
                  <a:lnTo>
                    <a:pt x="732673" y="0"/>
                  </a:lnTo>
                  <a:cubicBezTo>
                    <a:pt x="776926" y="0"/>
                    <a:pt x="812800" y="35874"/>
                    <a:pt x="812800" y="80127"/>
                  </a:cubicBezTo>
                  <a:lnTo>
                    <a:pt x="812800" y="732673"/>
                  </a:lnTo>
                  <a:cubicBezTo>
                    <a:pt x="812800" y="776926"/>
                    <a:pt x="776926" y="812800"/>
                    <a:pt x="732673" y="812800"/>
                  </a:cubicBezTo>
                  <a:lnTo>
                    <a:pt x="80127" y="812800"/>
                  </a:lnTo>
                  <a:cubicBezTo>
                    <a:pt x="35874" y="812800"/>
                    <a:pt x="0" y="776926"/>
                    <a:pt x="0" y="732673"/>
                  </a:cubicBezTo>
                  <a:lnTo>
                    <a:pt x="0" y="80127"/>
                  </a:lnTo>
                  <a:cubicBezTo>
                    <a:pt x="0" y="35874"/>
                    <a:pt x="35874" y="0"/>
                    <a:pt x="80127" y="0"/>
                  </a:cubicBezTo>
                  <a:close/>
                </a:path>
              </a:pathLst>
            </a:custGeom>
            <a:blipFill>
              <a:blip r:embed="rId2"/>
              <a:stretch>
                <a:fillRect l="0" t="0" r="0" b="0"/>
              </a:stretch>
            </a:blipFill>
          </p:spPr>
        </p:sp>
      </p:grpSp>
      <p:sp>
        <p:nvSpPr>
          <p:cNvPr name="TextBox 30" id="30"/>
          <p:cNvSpPr txBox="true"/>
          <p:nvPr/>
        </p:nvSpPr>
        <p:spPr>
          <a:xfrm rot="0">
            <a:off x="1028700" y="711366"/>
            <a:ext cx="8359013" cy="903637"/>
          </a:xfrm>
          <a:prstGeom prst="rect">
            <a:avLst/>
          </a:prstGeom>
        </p:spPr>
        <p:txBody>
          <a:bodyPr anchor="t" rtlCol="false" tIns="0" lIns="0" bIns="0" rIns="0">
            <a:spAutoFit/>
          </a:bodyPr>
          <a:lstStyle/>
          <a:p>
            <a:pPr algn="l" marL="0" indent="0" lvl="0">
              <a:lnSpc>
                <a:spcPts val="7420"/>
              </a:lnSpc>
              <a:spcBef>
                <a:spcPct val="0"/>
              </a:spcBef>
            </a:pPr>
            <a:r>
              <a:rPr lang="en-US" b="true" sz="5300">
                <a:solidFill>
                  <a:srgbClr val="051D40"/>
                </a:solidFill>
                <a:latin typeface="Montserrat Bold"/>
                <a:ea typeface="Montserrat Bold"/>
                <a:cs typeface="Montserrat Bold"/>
                <a:sym typeface="Montserrat Bold"/>
              </a:rPr>
              <a:t>MÔ HÌNH HUẤN LUYỆN</a:t>
            </a:r>
          </a:p>
        </p:txBody>
      </p:sp>
      <p:sp>
        <p:nvSpPr>
          <p:cNvPr name="TextBox 31" id="31"/>
          <p:cNvSpPr txBox="true"/>
          <p:nvPr/>
        </p:nvSpPr>
        <p:spPr>
          <a:xfrm rot="0">
            <a:off x="2131033" y="2426484"/>
            <a:ext cx="2065679" cy="441391"/>
          </a:xfrm>
          <a:prstGeom prst="rect">
            <a:avLst/>
          </a:prstGeom>
        </p:spPr>
        <p:txBody>
          <a:bodyPr anchor="t" rtlCol="false" tIns="0" lIns="0" bIns="0" rIns="0">
            <a:spAutoFit/>
          </a:bodyPr>
          <a:lstStyle/>
          <a:p>
            <a:pPr algn="l" marL="0" indent="0" lvl="0">
              <a:lnSpc>
                <a:spcPts val="3499"/>
              </a:lnSpc>
              <a:spcBef>
                <a:spcPct val="0"/>
              </a:spcBef>
            </a:pPr>
            <a:r>
              <a:rPr lang="en-US" b="true" sz="2499" spc="-49">
                <a:solidFill>
                  <a:srgbClr val="FDFDFD"/>
                </a:solidFill>
                <a:latin typeface="Poppins Bold"/>
                <a:ea typeface="Poppins Bold"/>
                <a:cs typeface="Poppins Bold"/>
                <a:sym typeface="Poppins Bold"/>
              </a:rPr>
              <a:t>CLIP ViT-L/14</a:t>
            </a:r>
          </a:p>
        </p:txBody>
      </p:sp>
      <p:sp>
        <p:nvSpPr>
          <p:cNvPr name="TextBox 32" id="32"/>
          <p:cNvSpPr txBox="true"/>
          <p:nvPr/>
        </p:nvSpPr>
        <p:spPr>
          <a:xfrm rot="0">
            <a:off x="4798549" y="9546116"/>
            <a:ext cx="1507522" cy="501622"/>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Poppins"/>
                <a:ea typeface="Poppins"/>
                <a:cs typeface="Poppins"/>
                <a:sym typeface="Poppins"/>
              </a:rPr>
              <a:t>Nhóm 7</a:t>
            </a:r>
          </a:p>
        </p:txBody>
      </p:sp>
      <p:grpSp>
        <p:nvGrpSpPr>
          <p:cNvPr name="Group 33" id="33"/>
          <p:cNvGrpSpPr/>
          <p:nvPr/>
        </p:nvGrpSpPr>
        <p:grpSpPr>
          <a:xfrm rot="0">
            <a:off x="1073803" y="3458815"/>
            <a:ext cx="4194156" cy="1314860"/>
            <a:chOff x="0" y="0"/>
            <a:chExt cx="5592208" cy="1753147"/>
          </a:xfrm>
        </p:grpSpPr>
        <p:grpSp>
          <p:nvGrpSpPr>
            <p:cNvPr name="Group 34" id="34"/>
            <p:cNvGrpSpPr/>
            <p:nvPr/>
          </p:nvGrpSpPr>
          <p:grpSpPr>
            <a:xfrm rot="0">
              <a:off x="199715" y="457036"/>
              <a:ext cx="5392493" cy="1296112"/>
              <a:chOff x="0" y="0"/>
              <a:chExt cx="2494910" cy="599664"/>
            </a:xfrm>
          </p:grpSpPr>
          <p:sp>
            <p:nvSpPr>
              <p:cNvPr name="Freeform 35" id="35"/>
              <p:cNvSpPr/>
              <p:nvPr/>
            </p:nvSpPr>
            <p:spPr>
              <a:xfrm flipH="false" flipV="false" rot="0">
                <a:off x="0" y="0"/>
                <a:ext cx="2494910" cy="599664"/>
              </a:xfrm>
              <a:custGeom>
                <a:avLst/>
                <a:gdLst/>
                <a:ahLst/>
                <a:cxnLst/>
                <a:rect r="r" b="b" t="t" l="l"/>
                <a:pathLst>
                  <a:path h="599664" w="2494910">
                    <a:moveTo>
                      <a:pt x="47856" y="0"/>
                    </a:moveTo>
                    <a:lnTo>
                      <a:pt x="2447054" y="0"/>
                    </a:lnTo>
                    <a:cubicBezTo>
                      <a:pt x="2459746" y="0"/>
                      <a:pt x="2471919" y="5042"/>
                      <a:pt x="2480893" y="14017"/>
                    </a:cubicBezTo>
                    <a:cubicBezTo>
                      <a:pt x="2489868" y="22992"/>
                      <a:pt x="2494910" y="35164"/>
                      <a:pt x="2494910" y="47856"/>
                    </a:cubicBezTo>
                    <a:lnTo>
                      <a:pt x="2494910" y="551808"/>
                    </a:lnTo>
                    <a:cubicBezTo>
                      <a:pt x="2494910" y="578238"/>
                      <a:pt x="2473484" y="599664"/>
                      <a:pt x="2447054" y="599664"/>
                    </a:cubicBezTo>
                    <a:lnTo>
                      <a:pt x="47856" y="599664"/>
                    </a:lnTo>
                    <a:cubicBezTo>
                      <a:pt x="21426" y="599664"/>
                      <a:pt x="0" y="578238"/>
                      <a:pt x="0" y="551808"/>
                    </a:cubicBezTo>
                    <a:lnTo>
                      <a:pt x="0" y="47856"/>
                    </a:lnTo>
                    <a:cubicBezTo>
                      <a:pt x="0" y="21426"/>
                      <a:pt x="21426" y="0"/>
                      <a:pt x="47856" y="0"/>
                    </a:cubicBezTo>
                    <a:close/>
                  </a:path>
                </a:pathLst>
              </a:custGeom>
              <a:solidFill>
                <a:srgbClr val="FFBD59"/>
              </a:solidFill>
            </p:spPr>
          </p:sp>
          <p:sp>
            <p:nvSpPr>
              <p:cNvPr name="TextBox 36" id="36"/>
              <p:cNvSpPr txBox="true"/>
              <p:nvPr/>
            </p:nvSpPr>
            <p:spPr>
              <a:xfrm>
                <a:off x="0" y="-38100"/>
                <a:ext cx="2494910" cy="637764"/>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0">
              <a:off x="0" y="0"/>
              <a:ext cx="946150" cy="914071"/>
              <a:chOff x="0" y="0"/>
              <a:chExt cx="259379" cy="250585"/>
            </a:xfrm>
          </p:grpSpPr>
          <p:sp>
            <p:nvSpPr>
              <p:cNvPr name="Freeform 38" id="38"/>
              <p:cNvSpPr/>
              <p:nvPr/>
            </p:nvSpPr>
            <p:spPr>
              <a:xfrm flipH="false" flipV="false" rot="0">
                <a:off x="0" y="0"/>
                <a:ext cx="259379" cy="250585"/>
              </a:xfrm>
              <a:custGeom>
                <a:avLst/>
                <a:gdLst/>
                <a:ahLst/>
                <a:cxnLst/>
                <a:rect r="r" b="b" t="t" l="l"/>
                <a:pathLst>
                  <a:path h="250585" w="259379">
                    <a:moveTo>
                      <a:pt x="125293" y="0"/>
                    </a:moveTo>
                    <a:lnTo>
                      <a:pt x="134087" y="0"/>
                    </a:lnTo>
                    <a:cubicBezTo>
                      <a:pt x="167316" y="0"/>
                      <a:pt x="199185" y="13200"/>
                      <a:pt x="222682" y="36697"/>
                    </a:cubicBezTo>
                    <a:cubicBezTo>
                      <a:pt x="246179" y="60194"/>
                      <a:pt x="259379" y="92063"/>
                      <a:pt x="259379" y="125293"/>
                    </a:cubicBezTo>
                    <a:lnTo>
                      <a:pt x="259379" y="125293"/>
                    </a:lnTo>
                    <a:cubicBezTo>
                      <a:pt x="259379" y="158522"/>
                      <a:pt x="246179" y="190391"/>
                      <a:pt x="222682" y="213888"/>
                    </a:cubicBezTo>
                    <a:cubicBezTo>
                      <a:pt x="199185" y="237385"/>
                      <a:pt x="167316" y="250585"/>
                      <a:pt x="134087"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solidFill>
                <a:srgbClr val="FFBD59"/>
              </a:solidFill>
              <a:ln cap="rnd">
                <a:noFill/>
                <a:prstDash val="solid"/>
                <a:round/>
              </a:ln>
            </p:spPr>
          </p:sp>
          <p:sp>
            <p:nvSpPr>
              <p:cNvPr name="TextBox 39" id="39"/>
              <p:cNvSpPr txBox="true"/>
              <p:nvPr/>
            </p:nvSpPr>
            <p:spPr>
              <a:xfrm>
                <a:off x="0" y="-66675"/>
                <a:ext cx="259379" cy="317260"/>
              </a:xfrm>
              <a:prstGeom prst="rect">
                <a:avLst/>
              </a:prstGeom>
            </p:spPr>
            <p:txBody>
              <a:bodyPr anchor="ctr" rtlCol="false" tIns="0" lIns="0" bIns="0" rIns="0"/>
              <a:lstStyle/>
              <a:p>
                <a:pPr algn="ctr" marL="0" indent="0" lvl="0">
                  <a:lnSpc>
                    <a:spcPts val="3480"/>
                  </a:lnSpc>
                  <a:spcBef>
                    <a:spcPct val="0"/>
                  </a:spcBef>
                </a:pPr>
                <a:r>
                  <a:rPr lang="en-US" b="true" sz="2486">
                    <a:solidFill>
                      <a:srgbClr val="FFFFFF"/>
                    </a:solidFill>
                    <a:latin typeface="Poppins Bold"/>
                    <a:ea typeface="Poppins Bold"/>
                    <a:cs typeface="Poppins Bold"/>
                    <a:sym typeface="Poppins Bold"/>
                  </a:rPr>
                  <a:t>3</a:t>
                </a:r>
              </a:p>
            </p:txBody>
          </p:sp>
        </p:grpSp>
      </p:grpSp>
      <p:grpSp>
        <p:nvGrpSpPr>
          <p:cNvPr name="Group 40" id="40"/>
          <p:cNvGrpSpPr/>
          <p:nvPr/>
        </p:nvGrpSpPr>
        <p:grpSpPr>
          <a:xfrm rot="0">
            <a:off x="6028729" y="3458815"/>
            <a:ext cx="4194156" cy="1314860"/>
            <a:chOff x="0" y="0"/>
            <a:chExt cx="5592208" cy="1753147"/>
          </a:xfrm>
        </p:grpSpPr>
        <p:grpSp>
          <p:nvGrpSpPr>
            <p:cNvPr name="Group 41" id="41"/>
            <p:cNvGrpSpPr/>
            <p:nvPr/>
          </p:nvGrpSpPr>
          <p:grpSpPr>
            <a:xfrm rot="0">
              <a:off x="199715" y="457036"/>
              <a:ext cx="5392493" cy="1296112"/>
              <a:chOff x="0" y="0"/>
              <a:chExt cx="2494910" cy="599664"/>
            </a:xfrm>
          </p:grpSpPr>
          <p:sp>
            <p:nvSpPr>
              <p:cNvPr name="Freeform 42" id="42"/>
              <p:cNvSpPr/>
              <p:nvPr/>
            </p:nvSpPr>
            <p:spPr>
              <a:xfrm flipH="false" flipV="false" rot="0">
                <a:off x="0" y="0"/>
                <a:ext cx="2494910" cy="599664"/>
              </a:xfrm>
              <a:custGeom>
                <a:avLst/>
                <a:gdLst/>
                <a:ahLst/>
                <a:cxnLst/>
                <a:rect r="r" b="b" t="t" l="l"/>
                <a:pathLst>
                  <a:path h="599664" w="2494910">
                    <a:moveTo>
                      <a:pt x="47856" y="0"/>
                    </a:moveTo>
                    <a:lnTo>
                      <a:pt x="2447054" y="0"/>
                    </a:lnTo>
                    <a:cubicBezTo>
                      <a:pt x="2459746" y="0"/>
                      <a:pt x="2471919" y="5042"/>
                      <a:pt x="2480893" y="14017"/>
                    </a:cubicBezTo>
                    <a:cubicBezTo>
                      <a:pt x="2489868" y="22992"/>
                      <a:pt x="2494910" y="35164"/>
                      <a:pt x="2494910" y="47856"/>
                    </a:cubicBezTo>
                    <a:lnTo>
                      <a:pt x="2494910" y="551808"/>
                    </a:lnTo>
                    <a:cubicBezTo>
                      <a:pt x="2494910" y="578238"/>
                      <a:pt x="2473484" y="599664"/>
                      <a:pt x="2447054" y="599664"/>
                    </a:cubicBezTo>
                    <a:lnTo>
                      <a:pt x="47856" y="599664"/>
                    </a:lnTo>
                    <a:cubicBezTo>
                      <a:pt x="21426" y="599664"/>
                      <a:pt x="0" y="578238"/>
                      <a:pt x="0" y="551808"/>
                    </a:cubicBezTo>
                    <a:lnTo>
                      <a:pt x="0" y="47856"/>
                    </a:lnTo>
                    <a:cubicBezTo>
                      <a:pt x="0" y="21426"/>
                      <a:pt x="21426" y="0"/>
                      <a:pt x="47856" y="0"/>
                    </a:cubicBezTo>
                    <a:close/>
                  </a:path>
                </a:pathLst>
              </a:custGeom>
              <a:solidFill>
                <a:srgbClr val="0C4393"/>
              </a:solidFill>
            </p:spPr>
          </p:sp>
          <p:sp>
            <p:nvSpPr>
              <p:cNvPr name="TextBox 43" id="43"/>
              <p:cNvSpPr txBox="true"/>
              <p:nvPr/>
            </p:nvSpPr>
            <p:spPr>
              <a:xfrm>
                <a:off x="0" y="-38100"/>
                <a:ext cx="2494910" cy="637764"/>
              </a:xfrm>
              <a:prstGeom prst="rect">
                <a:avLst/>
              </a:prstGeom>
            </p:spPr>
            <p:txBody>
              <a:bodyPr anchor="ctr" rtlCol="false" tIns="50800" lIns="50800" bIns="50800" rIns="50800"/>
              <a:lstStyle/>
              <a:p>
                <a:pPr algn="ctr">
                  <a:lnSpc>
                    <a:spcPts val="2659"/>
                  </a:lnSpc>
                </a:pPr>
              </a:p>
            </p:txBody>
          </p:sp>
        </p:grpSp>
        <p:grpSp>
          <p:nvGrpSpPr>
            <p:cNvPr name="Group 44" id="44"/>
            <p:cNvGrpSpPr/>
            <p:nvPr/>
          </p:nvGrpSpPr>
          <p:grpSpPr>
            <a:xfrm rot="0">
              <a:off x="0" y="0"/>
              <a:ext cx="946150" cy="914071"/>
              <a:chOff x="0" y="0"/>
              <a:chExt cx="259379" cy="250585"/>
            </a:xfrm>
          </p:grpSpPr>
          <p:sp>
            <p:nvSpPr>
              <p:cNvPr name="Freeform 45" id="45"/>
              <p:cNvSpPr/>
              <p:nvPr/>
            </p:nvSpPr>
            <p:spPr>
              <a:xfrm flipH="false" flipV="false" rot="0">
                <a:off x="0" y="0"/>
                <a:ext cx="259379" cy="250585"/>
              </a:xfrm>
              <a:custGeom>
                <a:avLst/>
                <a:gdLst/>
                <a:ahLst/>
                <a:cxnLst/>
                <a:rect r="r" b="b" t="t" l="l"/>
                <a:pathLst>
                  <a:path h="250585" w="259379">
                    <a:moveTo>
                      <a:pt x="125293" y="0"/>
                    </a:moveTo>
                    <a:lnTo>
                      <a:pt x="134087" y="0"/>
                    </a:lnTo>
                    <a:cubicBezTo>
                      <a:pt x="167316" y="0"/>
                      <a:pt x="199185" y="13200"/>
                      <a:pt x="222682" y="36697"/>
                    </a:cubicBezTo>
                    <a:cubicBezTo>
                      <a:pt x="246179" y="60194"/>
                      <a:pt x="259379" y="92063"/>
                      <a:pt x="259379" y="125293"/>
                    </a:cubicBezTo>
                    <a:lnTo>
                      <a:pt x="259379" y="125293"/>
                    </a:lnTo>
                    <a:cubicBezTo>
                      <a:pt x="259379" y="158522"/>
                      <a:pt x="246179" y="190391"/>
                      <a:pt x="222682" y="213888"/>
                    </a:cubicBezTo>
                    <a:cubicBezTo>
                      <a:pt x="199185" y="237385"/>
                      <a:pt x="167316" y="250585"/>
                      <a:pt x="134087"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rotWithShape="true">
                <a:gsLst>
                  <a:gs pos="0">
                    <a:srgbClr val="00569E">
                      <a:alpha val="100000"/>
                    </a:srgbClr>
                  </a:gs>
                  <a:gs pos="50000">
                    <a:srgbClr val="014074">
                      <a:alpha val="100000"/>
                    </a:srgbClr>
                  </a:gs>
                  <a:gs pos="100000">
                    <a:srgbClr val="002A4D">
                      <a:alpha val="100000"/>
                    </a:srgbClr>
                  </a:gs>
                </a:gsLst>
                <a:path path="circle">
                  <a:fillToRect l="0" r="100000" t="0" b="100000"/>
                </a:path>
                <a:tileRect r="0" l="-100000" b="0" t="-100000"/>
              </a:gradFill>
              <a:ln cap="rnd">
                <a:noFill/>
                <a:prstDash val="solid"/>
                <a:round/>
              </a:ln>
            </p:spPr>
          </p:sp>
          <p:sp>
            <p:nvSpPr>
              <p:cNvPr name="TextBox 46" id="46"/>
              <p:cNvSpPr txBox="true"/>
              <p:nvPr/>
            </p:nvSpPr>
            <p:spPr>
              <a:xfrm>
                <a:off x="0" y="-66675"/>
                <a:ext cx="259379" cy="317260"/>
              </a:xfrm>
              <a:prstGeom prst="rect">
                <a:avLst/>
              </a:prstGeom>
            </p:spPr>
            <p:txBody>
              <a:bodyPr anchor="ctr" rtlCol="false" tIns="0" lIns="0" bIns="0" rIns="0"/>
              <a:lstStyle/>
              <a:p>
                <a:pPr algn="ctr" marL="0" indent="0" lvl="0">
                  <a:lnSpc>
                    <a:spcPts val="3480"/>
                  </a:lnSpc>
                  <a:spcBef>
                    <a:spcPct val="0"/>
                  </a:spcBef>
                </a:pPr>
                <a:r>
                  <a:rPr lang="en-US" b="true" sz="2486">
                    <a:solidFill>
                      <a:srgbClr val="FFFFFF"/>
                    </a:solidFill>
                    <a:latin typeface="Poppins Bold"/>
                    <a:ea typeface="Poppins Bold"/>
                    <a:cs typeface="Poppins Bold"/>
                    <a:sym typeface="Poppins Bold"/>
                  </a:rPr>
                  <a:t>4</a:t>
                </a:r>
              </a:p>
            </p:txBody>
          </p:sp>
        </p:grpSp>
      </p:grpSp>
      <p:sp>
        <p:nvSpPr>
          <p:cNvPr name="TextBox 47" id="47"/>
          <p:cNvSpPr txBox="true"/>
          <p:nvPr/>
        </p:nvSpPr>
        <p:spPr>
          <a:xfrm rot="0">
            <a:off x="7085958" y="2426484"/>
            <a:ext cx="2271308" cy="441391"/>
          </a:xfrm>
          <a:prstGeom prst="rect">
            <a:avLst/>
          </a:prstGeom>
        </p:spPr>
        <p:txBody>
          <a:bodyPr anchor="t" rtlCol="false" tIns="0" lIns="0" bIns="0" rIns="0">
            <a:spAutoFit/>
          </a:bodyPr>
          <a:lstStyle/>
          <a:p>
            <a:pPr algn="l" marL="0" indent="0" lvl="0">
              <a:lnSpc>
                <a:spcPts val="3499"/>
              </a:lnSpc>
              <a:spcBef>
                <a:spcPct val="0"/>
              </a:spcBef>
            </a:pPr>
            <a:r>
              <a:rPr lang="en-US" b="true" sz="2499" spc="-49">
                <a:solidFill>
                  <a:srgbClr val="FDFDFD"/>
                </a:solidFill>
                <a:latin typeface="Poppins Bold"/>
                <a:ea typeface="Poppins Bold"/>
                <a:cs typeface="Poppins Bold"/>
                <a:sym typeface="Poppins Bold"/>
              </a:rPr>
              <a:t>BLIP-base ITM</a:t>
            </a:r>
          </a:p>
        </p:txBody>
      </p:sp>
      <p:sp>
        <p:nvSpPr>
          <p:cNvPr name="TextBox 48" id="48"/>
          <p:cNvSpPr txBox="true"/>
          <p:nvPr/>
        </p:nvSpPr>
        <p:spPr>
          <a:xfrm rot="0">
            <a:off x="1981246" y="4049571"/>
            <a:ext cx="2307595" cy="441391"/>
          </a:xfrm>
          <a:prstGeom prst="rect">
            <a:avLst/>
          </a:prstGeom>
        </p:spPr>
        <p:txBody>
          <a:bodyPr anchor="t" rtlCol="false" tIns="0" lIns="0" bIns="0" rIns="0">
            <a:spAutoFit/>
          </a:bodyPr>
          <a:lstStyle/>
          <a:p>
            <a:pPr algn="l" marL="0" indent="0" lvl="0">
              <a:lnSpc>
                <a:spcPts val="3499"/>
              </a:lnSpc>
              <a:spcBef>
                <a:spcPct val="0"/>
              </a:spcBef>
            </a:pPr>
            <a:r>
              <a:rPr lang="en-US" b="true" sz="2499" spc="-49">
                <a:solidFill>
                  <a:srgbClr val="FDFDFD"/>
                </a:solidFill>
                <a:latin typeface="Poppins Bold"/>
                <a:ea typeface="Poppins Bold"/>
                <a:cs typeface="Poppins Bold"/>
                <a:sym typeface="Poppins Bold"/>
              </a:rPr>
              <a:t>SigLIP So400M</a:t>
            </a:r>
          </a:p>
        </p:txBody>
      </p:sp>
      <p:sp>
        <p:nvSpPr>
          <p:cNvPr name="TextBox 49" id="49"/>
          <p:cNvSpPr txBox="true"/>
          <p:nvPr/>
        </p:nvSpPr>
        <p:spPr>
          <a:xfrm rot="0">
            <a:off x="6990153" y="4049571"/>
            <a:ext cx="2271308" cy="441391"/>
          </a:xfrm>
          <a:prstGeom prst="rect">
            <a:avLst/>
          </a:prstGeom>
        </p:spPr>
        <p:txBody>
          <a:bodyPr anchor="t" rtlCol="false" tIns="0" lIns="0" bIns="0" rIns="0">
            <a:spAutoFit/>
          </a:bodyPr>
          <a:lstStyle/>
          <a:p>
            <a:pPr algn="l" marL="0" indent="0" lvl="0">
              <a:lnSpc>
                <a:spcPts val="3499"/>
              </a:lnSpc>
              <a:spcBef>
                <a:spcPct val="0"/>
              </a:spcBef>
            </a:pPr>
            <a:r>
              <a:rPr lang="en-US" b="true" sz="2499" spc="-49">
                <a:solidFill>
                  <a:srgbClr val="FDFDFD"/>
                </a:solidFill>
                <a:latin typeface="Poppins Bold"/>
                <a:ea typeface="Poppins Bold"/>
                <a:cs typeface="Poppins Bold"/>
                <a:sym typeface="Poppins Bold"/>
              </a:rPr>
              <a:t>Qwen2-VL-2B</a:t>
            </a:r>
          </a:p>
        </p:txBody>
      </p:sp>
      <p:sp>
        <p:nvSpPr>
          <p:cNvPr name="TextBox 50" id="50"/>
          <p:cNvSpPr txBox="true"/>
          <p:nvPr/>
        </p:nvSpPr>
        <p:spPr>
          <a:xfrm rot="0">
            <a:off x="1028700" y="5038725"/>
            <a:ext cx="3472245" cy="903637"/>
          </a:xfrm>
          <a:prstGeom prst="rect">
            <a:avLst/>
          </a:prstGeom>
        </p:spPr>
        <p:txBody>
          <a:bodyPr anchor="t" rtlCol="false" tIns="0" lIns="0" bIns="0" rIns="0">
            <a:spAutoFit/>
          </a:bodyPr>
          <a:lstStyle/>
          <a:p>
            <a:pPr algn="l" marL="0" indent="0" lvl="0">
              <a:lnSpc>
                <a:spcPts val="7420"/>
              </a:lnSpc>
              <a:spcBef>
                <a:spcPct val="0"/>
              </a:spcBef>
            </a:pPr>
            <a:r>
              <a:rPr lang="en-US" b="true" sz="5300">
                <a:solidFill>
                  <a:srgbClr val="051D40"/>
                </a:solidFill>
                <a:latin typeface="Montserrat Bold"/>
                <a:ea typeface="Montserrat Bold"/>
                <a:cs typeface="Montserrat Bold"/>
                <a:sym typeface="Montserrat Bold"/>
              </a:rPr>
              <a:t>DATASET</a:t>
            </a:r>
          </a:p>
        </p:txBody>
      </p:sp>
      <p:grpSp>
        <p:nvGrpSpPr>
          <p:cNvPr name="Group 51" id="51"/>
          <p:cNvGrpSpPr/>
          <p:nvPr/>
        </p:nvGrpSpPr>
        <p:grpSpPr>
          <a:xfrm rot="0">
            <a:off x="1066794" y="6161437"/>
            <a:ext cx="5379560" cy="1314860"/>
            <a:chOff x="0" y="0"/>
            <a:chExt cx="7172747" cy="1753147"/>
          </a:xfrm>
        </p:grpSpPr>
        <p:grpSp>
          <p:nvGrpSpPr>
            <p:cNvPr name="Group 52" id="52"/>
            <p:cNvGrpSpPr/>
            <p:nvPr/>
          </p:nvGrpSpPr>
          <p:grpSpPr>
            <a:xfrm rot="0">
              <a:off x="199715" y="457036"/>
              <a:ext cx="6973031" cy="1296112"/>
              <a:chOff x="0" y="0"/>
              <a:chExt cx="3226168" cy="599664"/>
            </a:xfrm>
          </p:grpSpPr>
          <p:sp>
            <p:nvSpPr>
              <p:cNvPr name="Freeform 53" id="53"/>
              <p:cNvSpPr/>
              <p:nvPr/>
            </p:nvSpPr>
            <p:spPr>
              <a:xfrm flipH="false" flipV="false" rot="0">
                <a:off x="0" y="0"/>
                <a:ext cx="3226168" cy="599664"/>
              </a:xfrm>
              <a:custGeom>
                <a:avLst/>
                <a:gdLst/>
                <a:ahLst/>
                <a:cxnLst/>
                <a:rect r="r" b="b" t="t" l="l"/>
                <a:pathLst>
                  <a:path h="599664" w="3226168">
                    <a:moveTo>
                      <a:pt x="37009" y="0"/>
                    </a:moveTo>
                    <a:lnTo>
                      <a:pt x="3189159" y="0"/>
                    </a:lnTo>
                    <a:cubicBezTo>
                      <a:pt x="3198974" y="0"/>
                      <a:pt x="3208388" y="3899"/>
                      <a:pt x="3215328" y="10840"/>
                    </a:cubicBezTo>
                    <a:cubicBezTo>
                      <a:pt x="3222269" y="17780"/>
                      <a:pt x="3226168" y="27194"/>
                      <a:pt x="3226168" y="37009"/>
                    </a:cubicBezTo>
                    <a:lnTo>
                      <a:pt x="3226168" y="562655"/>
                    </a:lnTo>
                    <a:cubicBezTo>
                      <a:pt x="3226168" y="583094"/>
                      <a:pt x="3209598" y="599664"/>
                      <a:pt x="3189159" y="599664"/>
                    </a:cubicBezTo>
                    <a:lnTo>
                      <a:pt x="37009" y="599664"/>
                    </a:lnTo>
                    <a:cubicBezTo>
                      <a:pt x="27194" y="599664"/>
                      <a:pt x="17780" y="595765"/>
                      <a:pt x="10840" y="588824"/>
                    </a:cubicBezTo>
                    <a:cubicBezTo>
                      <a:pt x="3899" y="581884"/>
                      <a:pt x="0" y="572470"/>
                      <a:pt x="0" y="562655"/>
                    </a:cubicBezTo>
                    <a:lnTo>
                      <a:pt x="0" y="37009"/>
                    </a:lnTo>
                    <a:cubicBezTo>
                      <a:pt x="0" y="27194"/>
                      <a:pt x="3899" y="17780"/>
                      <a:pt x="10840" y="10840"/>
                    </a:cubicBezTo>
                    <a:cubicBezTo>
                      <a:pt x="17780" y="3899"/>
                      <a:pt x="27194" y="0"/>
                      <a:pt x="37009" y="0"/>
                    </a:cubicBezTo>
                    <a:close/>
                  </a:path>
                </a:pathLst>
              </a:custGeom>
              <a:solidFill>
                <a:srgbClr val="FFBD59"/>
              </a:solidFill>
            </p:spPr>
          </p:sp>
          <p:sp>
            <p:nvSpPr>
              <p:cNvPr name="TextBox 54" id="54"/>
              <p:cNvSpPr txBox="true"/>
              <p:nvPr/>
            </p:nvSpPr>
            <p:spPr>
              <a:xfrm>
                <a:off x="0" y="-38100"/>
                <a:ext cx="3226168" cy="637764"/>
              </a:xfrm>
              <a:prstGeom prst="rect">
                <a:avLst/>
              </a:prstGeom>
            </p:spPr>
            <p:txBody>
              <a:bodyPr anchor="ctr" rtlCol="false" tIns="50800" lIns="50800" bIns="50800" rIns="50800"/>
              <a:lstStyle/>
              <a:p>
                <a:pPr algn="ctr">
                  <a:lnSpc>
                    <a:spcPts val="2659"/>
                  </a:lnSpc>
                </a:pPr>
              </a:p>
            </p:txBody>
          </p:sp>
        </p:grpSp>
        <p:grpSp>
          <p:nvGrpSpPr>
            <p:cNvPr name="Group 55" id="55"/>
            <p:cNvGrpSpPr/>
            <p:nvPr/>
          </p:nvGrpSpPr>
          <p:grpSpPr>
            <a:xfrm rot="0">
              <a:off x="0" y="0"/>
              <a:ext cx="946150" cy="914071"/>
              <a:chOff x="0" y="0"/>
              <a:chExt cx="259379" cy="250585"/>
            </a:xfrm>
          </p:grpSpPr>
          <p:sp>
            <p:nvSpPr>
              <p:cNvPr name="Freeform 56" id="56"/>
              <p:cNvSpPr/>
              <p:nvPr/>
            </p:nvSpPr>
            <p:spPr>
              <a:xfrm flipH="false" flipV="false" rot="0">
                <a:off x="0" y="0"/>
                <a:ext cx="259379" cy="250585"/>
              </a:xfrm>
              <a:custGeom>
                <a:avLst/>
                <a:gdLst/>
                <a:ahLst/>
                <a:cxnLst/>
                <a:rect r="r" b="b" t="t" l="l"/>
                <a:pathLst>
                  <a:path h="250585" w="259379">
                    <a:moveTo>
                      <a:pt x="125293" y="0"/>
                    </a:moveTo>
                    <a:lnTo>
                      <a:pt x="134087" y="0"/>
                    </a:lnTo>
                    <a:cubicBezTo>
                      <a:pt x="167316" y="0"/>
                      <a:pt x="199185" y="13200"/>
                      <a:pt x="222682" y="36697"/>
                    </a:cubicBezTo>
                    <a:cubicBezTo>
                      <a:pt x="246179" y="60194"/>
                      <a:pt x="259379" y="92063"/>
                      <a:pt x="259379" y="125293"/>
                    </a:cubicBezTo>
                    <a:lnTo>
                      <a:pt x="259379" y="125293"/>
                    </a:lnTo>
                    <a:cubicBezTo>
                      <a:pt x="259379" y="158522"/>
                      <a:pt x="246179" y="190391"/>
                      <a:pt x="222682" y="213888"/>
                    </a:cubicBezTo>
                    <a:cubicBezTo>
                      <a:pt x="199185" y="237385"/>
                      <a:pt x="167316" y="250585"/>
                      <a:pt x="134087"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solidFill>
                <a:srgbClr val="FFBD59"/>
              </a:solidFill>
              <a:ln cap="rnd">
                <a:noFill/>
                <a:prstDash val="solid"/>
                <a:round/>
              </a:ln>
            </p:spPr>
          </p:sp>
          <p:sp>
            <p:nvSpPr>
              <p:cNvPr name="TextBox 57" id="57"/>
              <p:cNvSpPr txBox="true"/>
              <p:nvPr/>
            </p:nvSpPr>
            <p:spPr>
              <a:xfrm>
                <a:off x="0" y="-66675"/>
                <a:ext cx="259379" cy="317260"/>
              </a:xfrm>
              <a:prstGeom prst="rect">
                <a:avLst/>
              </a:prstGeom>
            </p:spPr>
            <p:txBody>
              <a:bodyPr anchor="ctr" rtlCol="false" tIns="0" lIns="0" bIns="0" rIns="0"/>
              <a:lstStyle/>
              <a:p>
                <a:pPr algn="ctr" marL="0" indent="0" lvl="0">
                  <a:lnSpc>
                    <a:spcPts val="3480"/>
                  </a:lnSpc>
                  <a:spcBef>
                    <a:spcPct val="0"/>
                  </a:spcBef>
                </a:pPr>
                <a:r>
                  <a:rPr lang="en-US" b="true" sz="2486">
                    <a:solidFill>
                      <a:srgbClr val="FFFFFF"/>
                    </a:solidFill>
                    <a:latin typeface="Poppins Bold"/>
                    <a:ea typeface="Poppins Bold"/>
                    <a:cs typeface="Poppins Bold"/>
                    <a:sym typeface="Poppins Bold"/>
                  </a:rPr>
                  <a:t>1</a:t>
                </a:r>
              </a:p>
            </p:txBody>
          </p:sp>
        </p:grpSp>
      </p:grpSp>
      <p:grpSp>
        <p:nvGrpSpPr>
          <p:cNvPr name="Group 58" id="58"/>
          <p:cNvGrpSpPr/>
          <p:nvPr/>
        </p:nvGrpSpPr>
        <p:grpSpPr>
          <a:xfrm rot="0">
            <a:off x="1073803" y="7784523"/>
            <a:ext cx="3782894" cy="1314860"/>
            <a:chOff x="0" y="0"/>
            <a:chExt cx="5043858" cy="1753147"/>
          </a:xfrm>
        </p:grpSpPr>
        <p:grpSp>
          <p:nvGrpSpPr>
            <p:cNvPr name="Group 59" id="59"/>
            <p:cNvGrpSpPr/>
            <p:nvPr/>
          </p:nvGrpSpPr>
          <p:grpSpPr>
            <a:xfrm rot="0">
              <a:off x="199715" y="457036"/>
              <a:ext cx="4844143" cy="1296112"/>
              <a:chOff x="0" y="0"/>
              <a:chExt cx="2241208" cy="599664"/>
            </a:xfrm>
          </p:grpSpPr>
          <p:sp>
            <p:nvSpPr>
              <p:cNvPr name="Freeform 60" id="60"/>
              <p:cNvSpPr/>
              <p:nvPr/>
            </p:nvSpPr>
            <p:spPr>
              <a:xfrm flipH="false" flipV="false" rot="0">
                <a:off x="0" y="0"/>
                <a:ext cx="2241208" cy="599664"/>
              </a:xfrm>
              <a:custGeom>
                <a:avLst/>
                <a:gdLst/>
                <a:ahLst/>
                <a:cxnLst/>
                <a:rect r="r" b="b" t="t" l="l"/>
                <a:pathLst>
                  <a:path h="599664" w="2241208">
                    <a:moveTo>
                      <a:pt x="53273" y="0"/>
                    </a:moveTo>
                    <a:lnTo>
                      <a:pt x="2187935" y="0"/>
                    </a:lnTo>
                    <a:cubicBezTo>
                      <a:pt x="2217357" y="0"/>
                      <a:pt x="2241208" y="23851"/>
                      <a:pt x="2241208" y="53273"/>
                    </a:cubicBezTo>
                    <a:lnTo>
                      <a:pt x="2241208" y="546390"/>
                    </a:lnTo>
                    <a:cubicBezTo>
                      <a:pt x="2241208" y="560519"/>
                      <a:pt x="2235596" y="574070"/>
                      <a:pt x="2225605" y="584060"/>
                    </a:cubicBezTo>
                    <a:cubicBezTo>
                      <a:pt x="2215614" y="594051"/>
                      <a:pt x="2202064" y="599664"/>
                      <a:pt x="2187935" y="599664"/>
                    </a:cubicBezTo>
                    <a:lnTo>
                      <a:pt x="53273" y="599664"/>
                    </a:lnTo>
                    <a:cubicBezTo>
                      <a:pt x="39144" y="599664"/>
                      <a:pt x="25594" y="594051"/>
                      <a:pt x="15603" y="584060"/>
                    </a:cubicBezTo>
                    <a:cubicBezTo>
                      <a:pt x="5613" y="574070"/>
                      <a:pt x="0" y="560519"/>
                      <a:pt x="0" y="546390"/>
                    </a:cubicBezTo>
                    <a:lnTo>
                      <a:pt x="0" y="53273"/>
                    </a:lnTo>
                    <a:cubicBezTo>
                      <a:pt x="0" y="39144"/>
                      <a:pt x="5613" y="25594"/>
                      <a:pt x="15603" y="15603"/>
                    </a:cubicBezTo>
                    <a:cubicBezTo>
                      <a:pt x="25594" y="5613"/>
                      <a:pt x="39144" y="0"/>
                      <a:pt x="53273" y="0"/>
                    </a:cubicBezTo>
                    <a:close/>
                  </a:path>
                </a:pathLst>
              </a:custGeom>
              <a:solidFill>
                <a:srgbClr val="0C4393"/>
              </a:solidFill>
            </p:spPr>
          </p:sp>
          <p:sp>
            <p:nvSpPr>
              <p:cNvPr name="TextBox 61" id="61"/>
              <p:cNvSpPr txBox="true"/>
              <p:nvPr/>
            </p:nvSpPr>
            <p:spPr>
              <a:xfrm>
                <a:off x="0" y="-38100"/>
                <a:ext cx="2241208" cy="637764"/>
              </a:xfrm>
              <a:prstGeom prst="rect">
                <a:avLst/>
              </a:prstGeom>
            </p:spPr>
            <p:txBody>
              <a:bodyPr anchor="ctr" rtlCol="false" tIns="50800" lIns="50800" bIns="50800" rIns="50800"/>
              <a:lstStyle/>
              <a:p>
                <a:pPr algn="ctr">
                  <a:lnSpc>
                    <a:spcPts val="2659"/>
                  </a:lnSpc>
                </a:pPr>
              </a:p>
            </p:txBody>
          </p:sp>
        </p:grpSp>
        <p:grpSp>
          <p:nvGrpSpPr>
            <p:cNvPr name="Group 62" id="62"/>
            <p:cNvGrpSpPr/>
            <p:nvPr/>
          </p:nvGrpSpPr>
          <p:grpSpPr>
            <a:xfrm rot="0">
              <a:off x="0" y="0"/>
              <a:ext cx="946150" cy="914071"/>
              <a:chOff x="0" y="0"/>
              <a:chExt cx="259379" cy="250585"/>
            </a:xfrm>
          </p:grpSpPr>
          <p:sp>
            <p:nvSpPr>
              <p:cNvPr name="Freeform 63" id="63"/>
              <p:cNvSpPr/>
              <p:nvPr/>
            </p:nvSpPr>
            <p:spPr>
              <a:xfrm flipH="false" flipV="false" rot="0">
                <a:off x="0" y="0"/>
                <a:ext cx="259379" cy="250585"/>
              </a:xfrm>
              <a:custGeom>
                <a:avLst/>
                <a:gdLst/>
                <a:ahLst/>
                <a:cxnLst/>
                <a:rect r="r" b="b" t="t" l="l"/>
                <a:pathLst>
                  <a:path h="250585" w="259379">
                    <a:moveTo>
                      <a:pt x="125293" y="0"/>
                    </a:moveTo>
                    <a:lnTo>
                      <a:pt x="134087" y="0"/>
                    </a:lnTo>
                    <a:cubicBezTo>
                      <a:pt x="167316" y="0"/>
                      <a:pt x="199185" y="13200"/>
                      <a:pt x="222682" y="36697"/>
                    </a:cubicBezTo>
                    <a:cubicBezTo>
                      <a:pt x="246179" y="60194"/>
                      <a:pt x="259379" y="92063"/>
                      <a:pt x="259379" y="125293"/>
                    </a:cubicBezTo>
                    <a:lnTo>
                      <a:pt x="259379" y="125293"/>
                    </a:lnTo>
                    <a:cubicBezTo>
                      <a:pt x="259379" y="158522"/>
                      <a:pt x="246179" y="190391"/>
                      <a:pt x="222682" y="213888"/>
                    </a:cubicBezTo>
                    <a:cubicBezTo>
                      <a:pt x="199185" y="237385"/>
                      <a:pt x="167316" y="250585"/>
                      <a:pt x="134087"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rotWithShape="true">
                <a:gsLst>
                  <a:gs pos="0">
                    <a:srgbClr val="00569E">
                      <a:alpha val="100000"/>
                    </a:srgbClr>
                  </a:gs>
                  <a:gs pos="50000">
                    <a:srgbClr val="014074">
                      <a:alpha val="100000"/>
                    </a:srgbClr>
                  </a:gs>
                  <a:gs pos="100000">
                    <a:srgbClr val="002A4D">
                      <a:alpha val="100000"/>
                    </a:srgbClr>
                  </a:gs>
                </a:gsLst>
                <a:path path="circle">
                  <a:fillToRect l="0" r="100000" t="0" b="100000"/>
                </a:path>
                <a:tileRect r="0" l="-100000" b="0" t="-100000"/>
              </a:gradFill>
              <a:ln cap="rnd">
                <a:noFill/>
                <a:prstDash val="solid"/>
                <a:round/>
              </a:ln>
            </p:spPr>
          </p:sp>
          <p:sp>
            <p:nvSpPr>
              <p:cNvPr name="TextBox 64" id="64"/>
              <p:cNvSpPr txBox="true"/>
              <p:nvPr/>
            </p:nvSpPr>
            <p:spPr>
              <a:xfrm>
                <a:off x="0" y="-66675"/>
                <a:ext cx="259379" cy="317260"/>
              </a:xfrm>
              <a:prstGeom prst="rect">
                <a:avLst/>
              </a:prstGeom>
            </p:spPr>
            <p:txBody>
              <a:bodyPr anchor="ctr" rtlCol="false" tIns="0" lIns="0" bIns="0" rIns="0"/>
              <a:lstStyle/>
              <a:p>
                <a:pPr algn="ctr" marL="0" indent="0" lvl="0">
                  <a:lnSpc>
                    <a:spcPts val="3480"/>
                  </a:lnSpc>
                  <a:spcBef>
                    <a:spcPct val="0"/>
                  </a:spcBef>
                </a:pPr>
                <a:r>
                  <a:rPr lang="en-US" b="true" sz="2486">
                    <a:solidFill>
                      <a:srgbClr val="FFFFFF"/>
                    </a:solidFill>
                    <a:latin typeface="Poppins Bold"/>
                    <a:ea typeface="Poppins Bold"/>
                    <a:cs typeface="Poppins Bold"/>
                    <a:sym typeface="Poppins Bold"/>
                  </a:rPr>
                  <a:t>2</a:t>
                </a:r>
              </a:p>
            </p:txBody>
          </p:sp>
        </p:grpSp>
      </p:grpSp>
      <p:sp>
        <p:nvSpPr>
          <p:cNvPr name="TextBox 65" id="65"/>
          <p:cNvSpPr txBox="true"/>
          <p:nvPr/>
        </p:nvSpPr>
        <p:spPr>
          <a:xfrm rot="0">
            <a:off x="1718489" y="6752192"/>
            <a:ext cx="4076171" cy="441391"/>
          </a:xfrm>
          <a:prstGeom prst="rect">
            <a:avLst/>
          </a:prstGeom>
        </p:spPr>
        <p:txBody>
          <a:bodyPr anchor="t" rtlCol="false" tIns="0" lIns="0" bIns="0" rIns="0">
            <a:spAutoFit/>
          </a:bodyPr>
          <a:lstStyle/>
          <a:p>
            <a:pPr algn="l" marL="0" indent="0" lvl="0">
              <a:lnSpc>
                <a:spcPts val="3499"/>
              </a:lnSpc>
              <a:spcBef>
                <a:spcPct val="0"/>
              </a:spcBef>
            </a:pPr>
            <a:r>
              <a:rPr lang="en-US" b="true" sz="2499" spc="-49">
                <a:solidFill>
                  <a:srgbClr val="FDFDFD"/>
                </a:solidFill>
                <a:latin typeface="Poppins Bold"/>
                <a:ea typeface="Poppins Bold"/>
                <a:cs typeface="Poppins Bold"/>
                <a:sym typeface="Poppins Bold"/>
              </a:rPr>
              <a:t>Facebook Hateful Memes </a:t>
            </a:r>
          </a:p>
        </p:txBody>
      </p:sp>
      <p:sp>
        <p:nvSpPr>
          <p:cNvPr name="TextBox 66" id="66"/>
          <p:cNvSpPr txBox="true"/>
          <p:nvPr/>
        </p:nvSpPr>
        <p:spPr>
          <a:xfrm rot="0">
            <a:off x="1957737" y="8375278"/>
            <a:ext cx="2271308" cy="441391"/>
          </a:xfrm>
          <a:prstGeom prst="rect">
            <a:avLst/>
          </a:prstGeom>
        </p:spPr>
        <p:txBody>
          <a:bodyPr anchor="t" rtlCol="false" tIns="0" lIns="0" bIns="0" rIns="0">
            <a:spAutoFit/>
          </a:bodyPr>
          <a:lstStyle/>
          <a:p>
            <a:pPr algn="l" marL="0" indent="0" lvl="0">
              <a:lnSpc>
                <a:spcPts val="3499"/>
              </a:lnSpc>
              <a:spcBef>
                <a:spcPct val="0"/>
              </a:spcBef>
            </a:pPr>
            <a:r>
              <a:rPr lang="en-US" b="true" sz="2499" spc="-49">
                <a:solidFill>
                  <a:srgbClr val="FDFDFD"/>
                </a:solidFill>
                <a:latin typeface="Poppins Bold"/>
                <a:ea typeface="Poppins Bold"/>
                <a:cs typeface="Poppins Bold"/>
                <a:sym typeface="Poppins Bold"/>
              </a:rPr>
              <a:t>Memotion 7K</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6043301" y="0"/>
            <a:ext cx="3835766" cy="10287000"/>
            <a:chOff x="0" y="0"/>
            <a:chExt cx="1010243" cy="2709333"/>
          </a:xfrm>
        </p:grpSpPr>
        <p:sp>
          <p:nvSpPr>
            <p:cNvPr name="Freeform 3" id="3"/>
            <p:cNvSpPr/>
            <p:nvPr/>
          </p:nvSpPr>
          <p:spPr>
            <a:xfrm flipH="false" flipV="false" rot="0">
              <a:off x="0" y="0"/>
              <a:ext cx="1010243" cy="2709333"/>
            </a:xfrm>
            <a:custGeom>
              <a:avLst/>
              <a:gdLst/>
              <a:ahLst/>
              <a:cxnLst/>
              <a:rect r="r" b="b" t="t" l="l"/>
              <a:pathLst>
                <a:path h="2709333" w="1010243">
                  <a:moveTo>
                    <a:pt x="0" y="0"/>
                  </a:moveTo>
                  <a:lnTo>
                    <a:pt x="1010243" y="0"/>
                  </a:lnTo>
                  <a:lnTo>
                    <a:pt x="1010243" y="2709333"/>
                  </a:lnTo>
                  <a:lnTo>
                    <a:pt x="0" y="2709333"/>
                  </a:lnTo>
                  <a:close/>
                </a:path>
              </a:pathLst>
            </a:custGeom>
            <a:solidFill>
              <a:srgbClr val="0C4393"/>
            </a:solidFill>
          </p:spPr>
        </p:sp>
        <p:sp>
          <p:nvSpPr>
            <p:cNvPr name="TextBox 4" id="4"/>
            <p:cNvSpPr txBox="true"/>
            <p:nvPr/>
          </p:nvSpPr>
          <p:spPr>
            <a:xfrm>
              <a:off x="0" y="-38100"/>
              <a:ext cx="1010243" cy="274743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2083251" y="8265637"/>
            <a:ext cx="3564204" cy="3564204"/>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051D40">
                  <a:alpha val="15686"/>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043301" y="7664126"/>
            <a:ext cx="5946973" cy="594697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FFFFFF">
                  <a:alpha val="15686"/>
                </a:srgbClr>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0796302" y="9643525"/>
            <a:ext cx="1286950" cy="128695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213082" y="2604915"/>
            <a:ext cx="15666238" cy="4856534"/>
          </a:xfrm>
          <a:custGeom>
            <a:avLst/>
            <a:gdLst/>
            <a:ahLst/>
            <a:cxnLst/>
            <a:rect r="r" b="b" t="t" l="l"/>
            <a:pathLst>
              <a:path h="4856534" w="15666238">
                <a:moveTo>
                  <a:pt x="0" y="0"/>
                </a:moveTo>
                <a:lnTo>
                  <a:pt x="15666239" y="0"/>
                </a:lnTo>
                <a:lnTo>
                  <a:pt x="15666239" y="4856534"/>
                </a:lnTo>
                <a:lnTo>
                  <a:pt x="0" y="4856534"/>
                </a:lnTo>
                <a:lnTo>
                  <a:pt x="0" y="0"/>
                </a:lnTo>
                <a:close/>
              </a:path>
            </a:pathLst>
          </a:custGeom>
          <a:blipFill>
            <a:blip r:embed="rId2"/>
            <a:stretch>
              <a:fillRect l="0" t="0" r="0" b="0"/>
            </a:stretch>
          </a:blipFill>
        </p:spPr>
      </p:sp>
      <p:sp>
        <p:nvSpPr>
          <p:cNvPr name="TextBox 15" id="15"/>
          <p:cNvSpPr txBox="true"/>
          <p:nvPr/>
        </p:nvSpPr>
        <p:spPr>
          <a:xfrm rot="0">
            <a:off x="1206666" y="1492563"/>
            <a:ext cx="13679072" cy="903637"/>
          </a:xfrm>
          <a:prstGeom prst="rect">
            <a:avLst/>
          </a:prstGeom>
        </p:spPr>
        <p:txBody>
          <a:bodyPr anchor="t" rtlCol="false" tIns="0" lIns="0" bIns="0" rIns="0">
            <a:spAutoFit/>
          </a:bodyPr>
          <a:lstStyle/>
          <a:p>
            <a:pPr algn="l" marL="0" indent="0" lvl="0">
              <a:lnSpc>
                <a:spcPts val="7420"/>
              </a:lnSpc>
              <a:spcBef>
                <a:spcPct val="0"/>
              </a:spcBef>
            </a:pPr>
            <a:r>
              <a:rPr lang="en-US" b="true" sz="5300">
                <a:solidFill>
                  <a:srgbClr val="051D40"/>
                </a:solidFill>
                <a:latin typeface="Montserrat Bold"/>
                <a:ea typeface="Montserrat Bold"/>
                <a:cs typeface="Montserrat Bold"/>
                <a:sym typeface="Montserrat Bold"/>
              </a:rPr>
              <a:t>FACEBOOK HATEFUL MEME DATASET</a:t>
            </a:r>
          </a:p>
        </p:txBody>
      </p:sp>
      <p:sp>
        <p:nvSpPr>
          <p:cNvPr name="TextBox 16" id="16"/>
          <p:cNvSpPr txBox="true"/>
          <p:nvPr/>
        </p:nvSpPr>
        <p:spPr>
          <a:xfrm rot="0">
            <a:off x="6272057" y="9546116"/>
            <a:ext cx="1507522" cy="501622"/>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Poppins"/>
                <a:ea typeface="Poppins"/>
                <a:cs typeface="Poppins"/>
                <a:sym typeface="Poppins"/>
              </a:rPr>
              <a:t>Nhóm 7</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6043301" y="0"/>
            <a:ext cx="3835766" cy="10287000"/>
            <a:chOff x="0" y="0"/>
            <a:chExt cx="1010243" cy="2709333"/>
          </a:xfrm>
        </p:grpSpPr>
        <p:sp>
          <p:nvSpPr>
            <p:cNvPr name="Freeform 3" id="3"/>
            <p:cNvSpPr/>
            <p:nvPr/>
          </p:nvSpPr>
          <p:spPr>
            <a:xfrm flipH="false" flipV="false" rot="0">
              <a:off x="0" y="0"/>
              <a:ext cx="1010243" cy="2709333"/>
            </a:xfrm>
            <a:custGeom>
              <a:avLst/>
              <a:gdLst/>
              <a:ahLst/>
              <a:cxnLst/>
              <a:rect r="r" b="b" t="t" l="l"/>
              <a:pathLst>
                <a:path h="2709333" w="1010243">
                  <a:moveTo>
                    <a:pt x="0" y="0"/>
                  </a:moveTo>
                  <a:lnTo>
                    <a:pt x="1010243" y="0"/>
                  </a:lnTo>
                  <a:lnTo>
                    <a:pt x="1010243" y="2709333"/>
                  </a:lnTo>
                  <a:lnTo>
                    <a:pt x="0" y="2709333"/>
                  </a:lnTo>
                  <a:close/>
                </a:path>
              </a:pathLst>
            </a:custGeom>
            <a:solidFill>
              <a:srgbClr val="0C4393"/>
            </a:solidFill>
          </p:spPr>
        </p:sp>
        <p:sp>
          <p:nvSpPr>
            <p:cNvPr name="TextBox 4" id="4"/>
            <p:cNvSpPr txBox="true"/>
            <p:nvPr/>
          </p:nvSpPr>
          <p:spPr>
            <a:xfrm>
              <a:off x="0" y="-38100"/>
              <a:ext cx="1010243" cy="274743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2083251" y="8265637"/>
            <a:ext cx="3564204" cy="3564204"/>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051D40">
                  <a:alpha val="15686"/>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043301" y="7664126"/>
            <a:ext cx="5946973" cy="594697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FFFFFF">
                  <a:alpha val="15686"/>
                </a:srgbClr>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0796302" y="9643525"/>
            <a:ext cx="1286950" cy="128695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291497" y="2553596"/>
            <a:ext cx="15509408" cy="4940319"/>
          </a:xfrm>
          <a:custGeom>
            <a:avLst/>
            <a:gdLst/>
            <a:ahLst/>
            <a:cxnLst/>
            <a:rect r="r" b="b" t="t" l="l"/>
            <a:pathLst>
              <a:path h="4940319" w="15509408">
                <a:moveTo>
                  <a:pt x="0" y="0"/>
                </a:moveTo>
                <a:lnTo>
                  <a:pt x="15509409" y="0"/>
                </a:lnTo>
                <a:lnTo>
                  <a:pt x="15509409" y="4940320"/>
                </a:lnTo>
                <a:lnTo>
                  <a:pt x="0" y="4940320"/>
                </a:lnTo>
                <a:lnTo>
                  <a:pt x="0" y="0"/>
                </a:lnTo>
                <a:close/>
              </a:path>
            </a:pathLst>
          </a:custGeom>
          <a:blipFill>
            <a:blip r:embed="rId2"/>
            <a:stretch>
              <a:fillRect l="0" t="0" r="-2753" b="0"/>
            </a:stretch>
          </a:blipFill>
        </p:spPr>
      </p:sp>
      <p:sp>
        <p:nvSpPr>
          <p:cNvPr name="TextBox 15" id="15"/>
          <p:cNvSpPr txBox="true"/>
          <p:nvPr/>
        </p:nvSpPr>
        <p:spPr>
          <a:xfrm rot="0">
            <a:off x="3704185" y="1116225"/>
            <a:ext cx="8684033" cy="903637"/>
          </a:xfrm>
          <a:prstGeom prst="rect">
            <a:avLst/>
          </a:prstGeom>
        </p:spPr>
        <p:txBody>
          <a:bodyPr anchor="t" rtlCol="false" tIns="0" lIns="0" bIns="0" rIns="0">
            <a:spAutoFit/>
          </a:bodyPr>
          <a:lstStyle/>
          <a:p>
            <a:pPr algn="l" marL="0" indent="0" lvl="0">
              <a:lnSpc>
                <a:spcPts val="7420"/>
              </a:lnSpc>
              <a:spcBef>
                <a:spcPct val="0"/>
              </a:spcBef>
            </a:pPr>
            <a:r>
              <a:rPr lang="en-US" b="true" sz="5300">
                <a:solidFill>
                  <a:srgbClr val="051D40"/>
                </a:solidFill>
                <a:latin typeface="Montserrat Bold"/>
                <a:ea typeface="Montserrat Bold"/>
                <a:cs typeface="Montserrat Bold"/>
                <a:sym typeface="Montserrat Bold"/>
              </a:rPr>
              <a:t>MEMOTION 7K DATASET</a:t>
            </a:r>
          </a:p>
        </p:txBody>
      </p:sp>
      <p:sp>
        <p:nvSpPr>
          <p:cNvPr name="TextBox 16" id="16"/>
          <p:cNvSpPr txBox="true"/>
          <p:nvPr/>
        </p:nvSpPr>
        <p:spPr>
          <a:xfrm rot="0">
            <a:off x="6272057" y="9546116"/>
            <a:ext cx="1507522" cy="501622"/>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Poppins"/>
                <a:ea typeface="Poppins"/>
                <a:cs typeface="Poppins"/>
                <a:sym typeface="Poppins"/>
              </a:rPr>
              <a:t>Nhóm 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6043301" y="0"/>
            <a:ext cx="3835766" cy="10287000"/>
            <a:chOff x="0" y="0"/>
            <a:chExt cx="1010243" cy="2709333"/>
          </a:xfrm>
        </p:grpSpPr>
        <p:sp>
          <p:nvSpPr>
            <p:cNvPr name="Freeform 3" id="3"/>
            <p:cNvSpPr/>
            <p:nvPr/>
          </p:nvSpPr>
          <p:spPr>
            <a:xfrm flipH="false" flipV="false" rot="0">
              <a:off x="0" y="0"/>
              <a:ext cx="1010243" cy="2709333"/>
            </a:xfrm>
            <a:custGeom>
              <a:avLst/>
              <a:gdLst/>
              <a:ahLst/>
              <a:cxnLst/>
              <a:rect r="r" b="b" t="t" l="l"/>
              <a:pathLst>
                <a:path h="2709333" w="1010243">
                  <a:moveTo>
                    <a:pt x="0" y="0"/>
                  </a:moveTo>
                  <a:lnTo>
                    <a:pt x="1010243" y="0"/>
                  </a:lnTo>
                  <a:lnTo>
                    <a:pt x="1010243" y="2709333"/>
                  </a:lnTo>
                  <a:lnTo>
                    <a:pt x="0" y="2709333"/>
                  </a:lnTo>
                  <a:close/>
                </a:path>
              </a:pathLst>
            </a:custGeom>
            <a:solidFill>
              <a:srgbClr val="0C4393"/>
            </a:solidFill>
          </p:spPr>
        </p:sp>
        <p:sp>
          <p:nvSpPr>
            <p:cNvPr name="TextBox 4" id="4"/>
            <p:cNvSpPr txBox="true"/>
            <p:nvPr/>
          </p:nvSpPr>
          <p:spPr>
            <a:xfrm>
              <a:off x="0" y="-38100"/>
              <a:ext cx="1010243" cy="274743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2083251" y="8265637"/>
            <a:ext cx="3564204" cy="3564204"/>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051D40">
                  <a:alpha val="15686"/>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043301" y="7664126"/>
            <a:ext cx="5946973" cy="594697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FFFFFF">
                  <a:alpha val="15686"/>
                </a:srgbClr>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0796302" y="9643525"/>
            <a:ext cx="1286950" cy="128695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0" y="2872060"/>
            <a:ext cx="15808420" cy="4900610"/>
          </a:xfrm>
          <a:custGeom>
            <a:avLst/>
            <a:gdLst/>
            <a:ahLst/>
            <a:cxnLst/>
            <a:rect r="r" b="b" t="t" l="l"/>
            <a:pathLst>
              <a:path h="4900610" w="15808420">
                <a:moveTo>
                  <a:pt x="0" y="0"/>
                </a:moveTo>
                <a:lnTo>
                  <a:pt x="15808420" y="0"/>
                </a:lnTo>
                <a:lnTo>
                  <a:pt x="15808420" y="4900610"/>
                </a:lnTo>
                <a:lnTo>
                  <a:pt x="0" y="4900610"/>
                </a:lnTo>
                <a:lnTo>
                  <a:pt x="0" y="0"/>
                </a:lnTo>
                <a:close/>
              </a:path>
            </a:pathLst>
          </a:custGeom>
          <a:blipFill>
            <a:blip r:embed="rId2"/>
            <a:stretch>
              <a:fillRect l="0" t="0" r="0" b="0"/>
            </a:stretch>
          </a:blipFill>
        </p:spPr>
      </p:sp>
      <p:sp>
        <p:nvSpPr>
          <p:cNvPr name="TextBox 15" id="15"/>
          <p:cNvSpPr txBox="true"/>
          <p:nvPr/>
        </p:nvSpPr>
        <p:spPr>
          <a:xfrm rot="0">
            <a:off x="4704904" y="1475457"/>
            <a:ext cx="6682596" cy="903637"/>
          </a:xfrm>
          <a:prstGeom prst="rect">
            <a:avLst/>
          </a:prstGeom>
        </p:spPr>
        <p:txBody>
          <a:bodyPr anchor="t" rtlCol="false" tIns="0" lIns="0" bIns="0" rIns="0">
            <a:spAutoFit/>
          </a:bodyPr>
          <a:lstStyle/>
          <a:p>
            <a:pPr algn="l" marL="0" indent="0" lvl="0">
              <a:lnSpc>
                <a:spcPts val="7420"/>
              </a:lnSpc>
              <a:spcBef>
                <a:spcPct val="0"/>
              </a:spcBef>
            </a:pPr>
            <a:r>
              <a:rPr lang="en-US" b="true" sz="5300">
                <a:solidFill>
                  <a:srgbClr val="051D40"/>
                </a:solidFill>
                <a:latin typeface="Montserrat Bold"/>
                <a:ea typeface="Montserrat Bold"/>
                <a:cs typeface="Montserrat Bold"/>
                <a:sym typeface="Montserrat Bold"/>
              </a:rPr>
              <a:t>MERGED DATASET</a:t>
            </a:r>
          </a:p>
        </p:txBody>
      </p:sp>
      <p:sp>
        <p:nvSpPr>
          <p:cNvPr name="TextBox 16" id="16"/>
          <p:cNvSpPr txBox="true"/>
          <p:nvPr/>
        </p:nvSpPr>
        <p:spPr>
          <a:xfrm rot="0">
            <a:off x="6272057" y="9546116"/>
            <a:ext cx="1507522" cy="501622"/>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Poppins"/>
                <a:ea typeface="Poppins"/>
                <a:cs typeface="Poppins"/>
                <a:sym typeface="Poppins"/>
              </a:rPr>
              <a:t>Nhóm 7</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6043301" y="0"/>
            <a:ext cx="3835766" cy="10287000"/>
            <a:chOff x="0" y="0"/>
            <a:chExt cx="1010243" cy="2709333"/>
          </a:xfrm>
        </p:grpSpPr>
        <p:sp>
          <p:nvSpPr>
            <p:cNvPr name="Freeform 3" id="3"/>
            <p:cNvSpPr/>
            <p:nvPr/>
          </p:nvSpPr>
          <p:spPr>
            <a:xfrm flipH="false" flipV="false" rot="0">
              <a:off x="0" y="0"/>
              <a:ext cx="1010243" cy="2709333"/>
            </a:xfrm>
            <a:custGeom>
              <a:avLst/>
              <a:gdLst/>
              <a:ahLst/>
              <a:cxnLst/>
              <a:rect r="r" b="b" t="t" l="l"/>
              <a:pathLst>
                <a:path h="2709333" w="1010243">
                  <a:moveTo>
                    <a:pt x="0" y="0"/>
                  </a:moveTo>
                  <a:lnTo>
                    <a:pt x="1010243" y="0"/>
                  </a:lnTo>
                  <a:lnTo>
                    <a:pt x="1010243" y="2709333"/>
                  </a:lnTo>
                  <a:lnTo>
                    <a:pt x="0" y="2709333"/>
                  </a:lnTo>
                  <a:close/>
                </a:path>
              </a:pathLst>
            </a:custGeom>
            <a:solidFill>
              <a:srgbClr val="0C4393"/>
            </a:solidFill>
          </p:spPr>
        </p:sp>
        <p:sp>
          <p:nvSpPr>
            <p:cNvPr name="TextBox 4" id="4"/>
            <p:cNvSpPr txBox="true"/>
            <p:nvPr/>
          </p:nvSpPr>
          <p:spPr>
            <a:xfrm>
              <a:off x="0" y="-38100"/>
              <a:ext cx="1010243" cy="274743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2083251" y="8265637"/>
            <a:ext cx="3564204" cy="3564204"/>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051D40">
                  <a:alpha val="15686"/>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043301" y="7664126"/>
            <a:ext cx="5946973" cy="594697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FFFFFF">
                  <a:alpha val="15686"/>
                </a:srgbClr>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0796302" y="9643525"/>
            <a:ext cx="1286950" cy="128695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134549" y="2868900"/>
            <a:ext cx="15823306" cy="4549200"/>
          </a:xfrm>
          <a:custGeom>
            <a:avLst/>
            <a:gdLst/>
            <a:ahLst/>
            <a:cxnLst/>
            <a:rect r="r" b="b" t="t" l="l"/>
            <a:pathLst>
              <a:path h="4549200" w="15823306">
                <a:moveTo>
                  <a:pt x="0" y="0"/>
                </a:moveTo>
                <a:lnTo>
                  <a:pt x="15823306" y="0"/>
                </a:lnTo>
                <a:lnTo>
                  <a:pt x="15823306" y="4549200"/>
                </a:lnTo>
                <a:lnTo>
                  <a:pt x="0" y="4549200"/>
                </a:lnTo>
                <a:lnTo>
                  <a:pt x="0" y="0"/>
                </a:lnTo>
                <a:close/>
              </a:path>
            </a:pathLst>
          </a:custGeom>
          <a:blipFill>
            <a:blip r:embed="rId2"/>
            <a:stretch>
              <a:fillRect l="0" t="0" r="0" b="0"/>
            </a:stretch>
          </a:blipFill>
        </p:spPr>
      </p:sp>
      <p:sp>
        <p:nvSpPr>
          <p:cNvPr name="TextBox 15" id="15"/>
          <p:cNvSpPr txBox="true"/>
          <p:nvPr/>
        </p:nvSpPr>
        <p:spPr>
          <a:xfrm rot="0">
            <a:off x="5577325" y="1663626"/>
            <a:ext cx="4937753" cy="903637"/>
          </a:xfrm>
          <a:prstGeom prst="rect">
            <a:avLst/>
          </a:prstGeom>
        </p:spPr>
        <p:txBody>
          <a:bodyPr anchor="t" rtlCol="false" tIns="0" lIns="0" bIns="0" rIns="0">
            <a:spAutoFit/>
          </a:bodyPr>
          <a:lstStyle/>
          <a:p>
            <a:pPr algn="l" marL="0" indent="0" lvl="0">
              <a:lnSpc>
                <a:spcPts val="7420"/>
              </a:lnSpc>
              <a:spcBef>
                <a:spcPct val="0"/>
              </a:spcBef>
            </a:pPr>
            <a:r>
              <a:rPr lang="en-US" b="true" sz="5300">
                <a:solidFill>
                  <a:srgbClr val="051D40"/>
                </a:solidFill>
                <a:latin typeface="Montserrat Bold"/>
                <a:ea typeface="Montserrat Bold"/>
                <a:cs typeface="Montserrat Bold"/>
                <a:sym typeface="Montserrat Bold"/>
              </a:rPr>
              <a:t>TEXT LENGTH</a:t>
            </a:r>
          </a:p>
        </p:txBody>
      </p:sp>
      <p:sp>
        <p:nvSpPr>
          <p:cNvPr name="TextBox 16" id="16"/>
          <p:cNvSpPr txBox="true"/>
          <p:nvPr/>
        </p:nvSpPr>
        <p:spPr>
          <a:xfrm rot="0">
            <a:off x="6272057" y="9546116"/>
            <a:ext cx="1507522" cy="501622"/>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Poppins"/>
                <a:ea typeface="Poppins"/>
                <a:cs typeface="Poppins"/>
                <a:sym typeface="Poppins"/>
              </a:rPr>
              <a:t>Nhóm 7</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0C4393"/>
        </a:solidFill>
      </p:bgPr>
    </p:bg>
    <p:spTree>
      <p:nvGrpSpPr>
        <p:cNvPr id="1" name=""/>
        <p:cNvGrpSpPr/>
        <p:nvPr/>
      </p:nvGrpSpPr>
      <p:grpSpPr>
        <a:xfrm>
          <a:off x="0" y="0"/>
          <a:ext cx="0" cy="0"/>
          <a:chOff x="0" y="0"/>
          <a:chExt cx="0" cy="0"/>
        </a:xfrm>
      </p:grpSpPr>
      <p:grpSp>
        <p:nvGrpSpPr>
          <p:cNvPr name="Group 2" id="2"/>
          <p:cNvGrpSpPr/>
          <p:nvPr/>
        </p:nvGrpSpPr>
        <p:grpSpPr>
          <a:xfrm rot="0">
            <a:off x="-2123887" y="-2346523"/>
            <a:ext cx="4693046" cy="46930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FFFFFF">
                  <a:alpha val="15686"/>
                </a:srgbClr>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2274757" y="1659973"/>
            <a:ext cx="14007350" cy="6981204"/>
            <a:chOff x="0" y="0"/>
            <a:chExt cx="2656418" cy="1323947"/>
          </a:xfrm>
        </p:grpSpPr>
        <p:sp>
          <p:nvSpPr>
            <p:cNvPr name="Freeform 6" id="6"/>
            <p:cNvSpPr/>
            <p:nvPr/>
          </p:nvSpPr>
          <p:spPr>
            <a:xfrm flipH="false" flipV="false" rot="0">
              <a:off x="0" y="0"/>
              <a:ext cx="2656418" cy="1323947"/>
            </a:xfrm>
            <a:custGeom>
              <a:avLst/>
              <a:gdLst/>
              <a:ahLst/>
              <a:cxnLst/>
              <a:rect r="r" b="b" t="t" l="l"/>
              <a:pathLst>
                <a:path h="1323947" w="2656418">
                  <a:moveTo>
                    <a:pt x="24319" y="0"/>
                  </a:moveTo>
                  <a:lnTo>
                    <a:pt x="2632099" y="0"/>
                  </a:lnTo>
                  <a:cubicBezTo>
                    <a:pt x="2645530" y="0"/>
                    <a:pt x="2656418" y="10888"/>
                    <a:pt x="2656418" y="24319"/>
                  </a:cubicBezTo>
                  <a:lnTo>
                    <a:pt x="2656418" y="1299629"/>
                  </a:lnTo>
                  <a:cubicBezTo>
                    <a:pt x="2656418" y="1313059"/>
                    <a:pt x="2645530" y="1323947"/>
                    <a:pt x="2632099" y="1323947"/>
                  </a:cubicBezTo>
                  <a:lnTo>
                    <a:pt x="24319" y="1323947"/>
                  </a:lnTo>
                  <a:cubicBezTo>
                    <a:pt x="10888" y="1323947"/>
                    <a:pt x="0" y="1313059"/>
                    <a:pt x="0" y="1299629"/>
                  </a:cubicBezTo>
                  <a:lnTo>
                    <a:pt x="0" y="24319"/>
                  </a:lnTo>
                  <a:cubicBezTo>
                    <a:pt x="0" y="10888"/>
                    <a:pt x="10888" y="0"/>
                    <a:pt x="24319" y="0"/>
                  </a:cubicBezTo>
                  <a:close/>
                </a:path>
              </a:pathLst>
            </a:custGeom>
            <a:solidFill>
              <a:srgbClr val="FDFDFD"/>
            </a:solidFill>
          </p:spPr>
        </p:sp>
        <p:sp>
          <p:nvSpPr>
            <p:cNvPr name="TextBox 7" id="7"/>
            <p:cNvSpPr txBox="true"/>
            <p:nvPr/>
          </p:nvSpPr>
          <p:spPr>
            <a:xfrm>
              <a:off x="0" y="-38100"/>
              <a:ext cx="2656418" cy="1362047"/>
            </a:xfrm>
            <a:prstGeom prst="rect">
              <a:avLst/>
            </a:prstGeom>
          </p:spPr>
          <p:txBody>
            <a:bodyPr anchor="ctr" rtlCol="false" tIns="50800" lIns="50800" bIns="50800" rIns="50800"/>
            <a:lstStyle/>
            <a:p>
              <a:pPr algn="ctr">
                <a:lnSpc>
                  <a:spcPts val="3079"/>
                </a:lnSpc>
              </a:pPr>
            </a:p>
            <a:p>
              <a:pPr algn="ctr">
                <a:lnSpc>
                  <a:spcPts val="3079"/>
                </a:lnSpc>
              </a:pPr>
            </a:p>
          </p:txBody>
        </p:sp>
      </p:grpSp>
      <p:grpSp>
        <p:nvGrpSpPr>
          <p:cNvPr name="Group 8" id="8"/>
          <p:cNvGrpSpPr/>
          <p:nvPr/>
        </p:nvGrpSpPr>
        <p:grpSpPr>
          <a:xfrm rot="0">
            <a:off x="15573718" y="7940477"/>
            <a:ext cx="4693046" cy="469304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FFFFFF">
                  <a:alpha val="15686"/>
                </a:srgbClr>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2615945" y="684822"/>
            <a:ext cx="13072415" cy="870376"/>
          </a:xfrm>
          <a:prstGeom prst="rect">
            <a:avLst/>
          </a:prstGeom>
        </p:spPr>
        <p:txBody>
          <a:bodyPr anchor="t" rtlCol="false" tIns="0" lIns="0" bIns="0" rIns="0">
            <a:spAutoFit/>
          </a:bodyPr>
          <a:lstStyle/>
          <a:p>
            <a:pPr algn="ctr" marL="0" indent="0" lvl="0">
              <a:lnSpc>
                <a:spcPts val="7151"/>
              </a:lnSpc>
              <a:spcBef>
                <a:spcPct val="0"/>
              </a:spcBef>
            </a:pPr>
            <a:r>
              <a:rPr lang="en-US" b="true" sz="5108">
                <a:solidFill>
                  <a:srgbClr val="FDFDFD"/>
                </a:solidFill>
                <a:latin typeface="Montserrat Bold"/>
                <a:ea typeface="Montserrat Bold"/>
                <a:cs typeface="Montserrat Bold"/>
                <a:sym typeface="Montserrat Bold"/>
              </a:rPr>
              <a:t>TIỀN XỬ LÝ DỮ LIỆU</a:t>
            </a:r>
          </a:p>
        </p:txBody>
      </p:sp>
      <p:sp>
        <p:nvSpPr>
          <p:cNvPr name="TextBox 12" id="12"/>
          <p:cNvSpPr txBox="true"/>
          <p:nvPr/>
        </p:nvSpPr>
        <p:spPr>
          <a:xfrm rot="0">
            <a:off x="3578162" y="5782816"/>
            <a:ext cx="11400540" cy="2055036"/>
          </a:xfrm>
          <a:prstGeom prst="rect">
            <a:avLst/>
          </a:prstGeom>
        </p:spPr>
        <p:txBody>
          <a:bodyPr anchor="t" rtlCol="false" tIns="0" lIns="0" bIns="0" rIns="0">
            <a:spAutoFit/>
          </a:bodyPr>
          <a:lstStyle/>
          <a:p>
            <a:pPr algn="just" marL="507279" indent="-253639" lvl="1">
              <a:lnSpc>
                <a:spcPts val="3289"/>
              </a:lnSpc>
              <a:spcBef>
                <a:spcPct val="0"/>
              </a:spcBef>
              <a:buFont typeface="Arial"/>
              <a:buChar char="•"/>
            </a:pPr>
            <a:r>
              <a:rPr lang="en-US" sz="2349" spc="-46">
                <a:solidFill>
                  <a:srgbClr val="051D40"/>
                </a:solidFill>
                <a:latin typeface="Poppins"/>
                <a:ea typeface="Poppins"/>
                <a:cs typeface="Poppins"/>
                <a:sym typeface="Poppins"/>
              </a:rPr>
              <a:t>Kiểm tra file ảnh có đọc được không</a:t>
            </a:r>
          </a:p>
          <a:p>
            <a:pPr algn="just" marL="507279" indent="-253639" lvl="1">
              <a:lnSpc>
                <a:spcPts val="3289"/>
              </a:lnSpc>
              <a:spcBef>
                <a:spcPct val="0"/>
              </a:spcBef>
              <a:buFont typeface="Arial"/>
              <a:buChar char="•"/>
            </a:pPr>
            <a:r>
              <a:rPr lang="en-US" sz="2349" spc="-46" strike="noStrike" u="none">
                <a:solidFill>
                  <a:srgbClr val="051D40"/>
                </a:solidFill>
                <a:latin typeface="Poppins"/>
                <a:ea typeface="Poppins"/>
                <a:cs typeface="Poppins"/>
                <a:sym typeface="Poppins"/>
              </a:rPr>
              <a:t>Yêu cầu kích thước tối thiểu 10×10 pixel để loại các ảnh bị lỗi</a:t>
            </a:r>
          </a:p>
          <a:p>
            <a:pPr algn="just" marL="507279" indent="-253639" lvl="1">
              <a:lnSpc>
                <a:spcPts val="3289"/>
              </a:lnSpc>
              <a:spcBef>
                <a:spcPct val="0"/>
              </a:spcBef>
              <a:buFont typeface="Arial"/>
              <a:buChar char="•"/>
            </a:pPr>
            <a:r>
              <a:rPr lang="en-US" sz="2349" spc="-46" strike="noStrike" u="none">
                <a:solidFill>
                  <a:srgbClr val="051D40"/>
                </a:solidFill>
                <a:latin typeface="Poppins"/>
                <a:ea typeface="Poppins"/>
                <a:cs typeface="Poppins"/>
                <a:sym typeface="Poppins"/>
              </a:rPr>
              <a:t>Mẫu lỗi ảnh được skip và trả về score mặc định 0.5 (trung tính) — không ảnh hưởng kết quả tổng thể</a:t>
            </a:r>
          </a:p>
          <a:p>
            <a:pPr algn="just" marL="507279" indent="-253639" lvl="1">
              <a:lnSpc>
                <a:spcPts val="3289"/>
              </a:lnSpc>
              <a:spcBef>
                <a:spcPct val="0"/>
              </a:spcBef>
              <a:buFont typeface="Arial"/>
              <a:buChar char="•"/>
            </a:pPr>
            <a:r>
              <a:rPr lang="en-US" sz="2349" spc="-46" strike="noStrike" u="none">
                <a:solidFill>
                  <a:srgbClr val="051D40"/>
                </a:solidFill>
                <a:latin typeface="Poppins"/>
                <a:ea typeface="Poppins"/>
                <a:cs typeface="Poppins"/>
                <a:sym typeface="Poppins"/>
              </a:rPr>
              <a:t>Resize tự động qua processor của VLM theo cap max_pixels = 64 × 28 × 28</a:t>
            </a:r>
          </a:p>
        </p:txBody>
      </p:sp>
      <p:sp>
        <p:nvSpPr>
          <p:cNvPr name="TextBox 13" id="13"/>
          <p:cNvSpPr txBox="true"/>
          <p:nvPr/>
        </p:nvSpPr>
        <p:spPr>
          <a:xfrm rot="0">
            <a:off x="3578162" y="2868517"/>
            <a:ext cx="11784958" cy="1962491"/>
          </a:xfrm>
          <a:prstGeom prst="rect">
            <a:avLst/>
          </a:prstGeom>
        </p:spPr>
        <p:txBody>
          <a:bodyPr anchor="t" rtlCol="false" tIns="0" lIns="0" bIns="0" rIns="0">
            <a:spAutoFit/>
          </a:bodyPr>
          <a:lstStyle/>
          <a:p>
            <a:pPr algn="just" marL="485689" indent="-242845" lvl="1">
              <a:lnSpc>
                <a:spcPts val="3149"/>
              </a:lnSpc>
              <a:spcBef>
                <a:spcPct val="0"/>
              </a:spcBef>
              <a:buFont typeface="Arial"/>
              <a:buChar char="•"/>
            </a:pPr>
            <a:r>
              <a:rPr lang="en-US" sz="2249" spc="-44">
                <a:solidFill>
                  <a:srgbClr val="051D40"/>
                </a:solidFill>
                <a:latin typeface="Poppins"/>
                <a:ea typeface="Poppins"/>
                <a:cs typeface="Poppins"/>
                <a:sym typeface="Poppins"/>
              </a:rPr>
              <a:t>Chuẩn</a:t>
            </a:r>
            <a:r>
              <a:rPr lang="en-US" sz="2249" spc="-44" strike="noStrike" u="none">
                <a:solidFill>
                  <a:srgbClr val="051D40"/>
                </a:solidFill>
                <a:latin typeface="Poppins"/>
                <a:ea typeface="Poppins"/>
                <a:cs typeface="Poppins"/>
                <a:sym typeface="Poppins"/>
              </a:rPr>
              <a:t> hoá khoảng trắng: strip đầu/cuối, gộp các khoảng trắng liên tiếp thành một</a:t>
            </a:r>
          </a:p>
          <a:p>
            <a:pPr algn="just" marL="485689" indent="-242845" lvl="1">
              <a:lnSpc>
                <a:spcPts val="3149"/>
              </a:lnSpc>
              <a:spcBef>
                <a:spcPct val="0"/>
              </a:spcBef>
              <a:buFont typeface="Arial"/>
              <a:buChar char="•"/>
            </a:pPr>
            <a:r>
              <a:rPr lang="en-US" sz="2249" spc="-44" strike="noStrike" u="none">
                <a:solidFill>
                  <a:srgbClr val="051D40"/>
                </a:solidFill>
                <a:latin typeface="Poppins"/>
                <a:ea typeface="Poppins"/>
                <a:cs typeface="Poppins"/>
                <a:sym typeface="Poppins"/>
              </a:rPr>
              <a:t>Loại bỏ ký tự ngoài bảng ASCII (thường xuất hiện do lỗi mã hoá khi crawl meme từ internet)</a:t>
            </a:r>
          </a:p>
          <a:p>
            <a:pPr algn="just" marL="485689" indent="-242845" lvl="1">
              <a:lnSpc>
                <a:spcPts val="3149"/>
              </a:lnSpc>
              <a:spcBef>
                <a:spcPct val="0"/>
              </a:spcBef>
              <a:buFont typeface="Arial"/>
              <a:buChar char="•"/>
            </a:pPr>
            <a:r>
              <a:rPr lang="en-US" sz="2249" spc="-44" strike="noStrike" u="none">
                <a:solidFill>
                  <a:srgbClr val="051D40"/>
                </a:solidFill>
                <a:latin typeface="Poppins"/>
                <a:ea typeface="Poppins"/>
                <a:cs typeface="Poppins"/>
                <a:sym typeface="Poppins"/>
              </a:rPr>
              <a:t>Thay thế các mẫu có text rỗng bằng chuỗi mặc định "no text" để tránh lỗi xử lý</a:t>
            </a:r>
          </a:p>
          <a:p>
            <a:pPr algn="just" marL="485689" indent="-242845" lvl="1">
              <a:lnSpc>
                <a:spcPts val="3149"/>
              </a:lnSpc>
              <a:spcBef>
                <a:spcPct val="0"/>
              </a:spcBef>
              <a:buFont typeface="Arial"/>
              <a:buChar char="•"/>
            </a:pPr>
            <a:r>
              <a:rPr lang="en-US" sz="2249" spc="-44" strike="noStrike" u="none">
                <a:solidFill>
                  <a:srgbClr val="051D40"/>
                </a:solidFill>
                <a:latin typeface="Poppins"/>
                <a:ea typeface="Poppins"/>
                <a:cs typeface="Poppins"/>
                <a:sym typeface="Poppins"/>
              </a:rPr>
              <a:t>Giới hạn độ dài văn bản theo max_length của từng processor/tokenizer</a:t>
            </a:r>
          </a:p>
        </p:txBody>
      </p:sp>
      <p:sp>
        <p:nvSpPr>
          <p:cNvPr name="TextBox 14" id="14"/>
          <p:cNvSpPr txBox="true"/>
          <p:nvPr/>
        </p:nvSpPr>
        <p:spPr>
          <a:xfrm rot="0">
            <a:off x="3350609" y="5112475"/>
            <a:ext cx="6417771" cy="413166"/>
          </a:xfrm>
          <a:prstGeom prst="rect">
            <a:avLst/>
          </a:prstGeom>
        </p:spPr>
        <p:txBody>
          <a:bodyPr anchor="t" rtlCol="false" tIns="0" lIns="0" bIns="0" rIns="0">
            <a:spAutoFit/>
          </a:bodyPr>
          <a:lstStyle/>
          <a:p>
            <a:pPr algn="l">
              <a:lnSpc>
                <a:spcPts val="3480"/>
              </a:lnSpc>
              <a:spcBef>
                <a:spcPct val="0"/>
              </a:spcBef>
            </a:pPr>
            <a:r>
              <a:rPr lang="en-US" b="true" sz="2486">
                <a:solidFill>
                  <a:srgbClr val="051D40"/>
                </a:solidFill>
                <a:latin typeface="Montserrat Bold"/>
                <a:ea typeface="Montserrat Bold"/>
                <a:cs typeface="Montserrat Bold"/>
                <a:sym typeface="Montserrat Bold"/>
              </a:rPr>
              <a:t>Tiền xử lí hình ảnh (image validation)</a:t>
            </a:r>
          </a:p>
        </p:txBody>
      </p:sp>
      <p:sp>
        <p:nvSpPr>
          <p:cNvPr name="TextBox 15" id="15"/>
          <p:cNvSpPr txBox="true"/>
          <p:nvPr/>
        </p:nvSpPr>
        <p:spPr>
          <a:xfrm rot="0">
            <a:off x="3350609" y="2363053"/>
            <a:ext cx="5486075" cy="413166"/>
          </a:xfrm>
          <a:prstGeom prst="rect">
            <a:avLst/>
          </a:prstGeom>
        </p:spPr>
        <p:txBody>
          <a:bodyPr anchor="t" rtlCol="false" tIns="0" lIns="0" bIns="0" rIns="0">
            <a:spAutoFit/>
          </a:bodyPr>
          <a:lstStyle/>
          <a:p>
            <a:pPr algn="l">
              <a:lnSpc>
                <a:spcPts val="3480"/>
              </a:lnSpc>
              <a:spcBef>
                <a:spcPct val="0"/>
              </a:spcBef>
            </a:pPr>
            <a:r>
              <a:rPr lang="en-US" b="true" sz="2486">
                <a:solidFill>
                  <a:srgbClr val="051D40"/>
                </a:solidFill>
                <a:latin typeface="Montserrat Bold"/>
                <a:ea typeface="Montserrat Bold"/>
                <a:cs typeface="Montserrat Bold"/>
                <a:sym typeface="Montserrat Bold"/>
              </a:rPr>
              <a:t>Tiền xử lí văn bản (text cleaning)</a:t>
            </a:r>
          </a:p>
        </p:txBody>
      </p:sp>
      <p:sp>
        <p:nvSpPr>
          <p:cNvPr name="TextBox 16" id="16"/>
          <p:cNvSpPr txBox="true"/>
          <p:nvPr/>
        </p:nvSpPr>
        <p:spPr>
          <a:xfrm rot="0">
            <a:off x="8398391" y="9469881"/>
            <a:ext cx="1507522" cy="501556"/>
          </a:xfrm>
          <a:prstGeom prst="rect">
            <a:avLst/>
          </a:prstGeom>
        </p:spPr>
        <p:txBody>
          <a:bodyPr anchor="t" rtlCol="false" tIns="0" lIns="0" bIns="0" rIns="0">
            <a:spAutoFit/>
          </a:bodyPr>
          <a:lstStyle/>
          <a:p>
            <a:pPr algn="l">
              <a:lnSpc>
                <a:spcPts val="3855"/>
              </a:lnSpc>
              <a:spcBef>
                <a:spcPct val="0"/>
              </a:spcBef>
            </a:pPr>
            <a:r>
              <a:rPr lang="en-US" sz="2753" spc="-55">
                <a:solidFill>
                  <a:srgbClr val="FFFFFF"/>
                </a:solidFill>
                <a:latin typeface="Poppins"/>
                <a:ea typeface="Poppins"/>
                <a:cs typeface="Poppins"/>
                <a:sym typeface="Poppins"/>
              </a:rPr>
              <a:t>Nhóm 7</a:t>
            </a:r>
          </a:p>
        </p:txBody>
      </p:sp>
      <p:grpSp>
        <p:nvGrpSpPr>
          <p:cNvPr name="Group 17" id="17"/>
          <p:cNvGrpSpPr/>
          <p:nvPr/>
        </p:nvGrpSpPr>
        <p:grpSpPr>
          <a:xfrm rot="0">
            <a:off x="-1207728" y="8412776"/>
            <a:ext cx="3117324" cy="3117324"/>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0">
            <a:off x="14719646" y="-693438"/>
            <a:ext cx="1286950" cy="1286950"/>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C4393"/>
        </a:solidFill>
      </p:bgPr>
    </p:bg>
    <p:spTree>
      <p:nvGrpSpPr>
        <p:cNvPr id="1" name=""/>
        <p:cNvGrpSpPr/>
        <p:nvPr/>
      </p:nvGrpSpPr>
      <p:grpSpPr>
        <a:xfrm>
          <a:off x="0" y="0"/>
          <a:ext cx="0" cy="0"/>
          <a:chOff x="0" y="0"/>
          <a:chExt cx="0" cy="0"/>
        </a:xfrm>
      </p:grpSpPr>
      <p:grpSp>
        <p:nvGrpSpPr>
          <p:cNvPr name="Group 2" id="2"/>
          <p:cNvGrpSpPr/>
          <p:nvPr/>
        </p:nvGrpSpPr>
        <p:grpSpPr>
          <a:xfrm rot="0">
            <a:off x="1028700" y="1356495"/>
            <a:ext cx="16230600" cy="8260399"/>
            <a:chOff x="0" y="0"/>
            <a:chExt cx="3078045" cy="1566540"/>
          </a:xfrm>
        </p:grpSpPr>
        <p:sp>
          <p:nvSpPr>
            <p:cNvPr name="Freeform 3" id="3"/>
            <p:cNvSpPr/>
            <p:nvPr/>
          </p:nvSpPr>
          <p:spPr>
            <a:xfrm flipH="false" flipV="false" rot="0">
              <a:off x="0" y="0"/>
              <a:ext cx="3078045" cy="1566540"/>
            </a:xfrm>
            <a:custGeom>
              <a:avLst/>
              <a:gdLst/>
              <a:ahLst/>
              <a:cxnLst/>
              <a:rect r="r" b="b" t="t" l="l"/>
              <a:pathLst>
                <a:path h="1566540" w="3078045">
                  <a:moveTo>
                    <a:pt x="20988" y="0"/>
                  </a:moveTo>
                  <a:lnTo>
                    <a:pt x="3057057" y="0"/>
                  </a:lnTo>
                  <a:cubicBezTo>
                    <a:pt x="3068649" y="0"/>
                    <a:pt x="3078045" y="9397"/>
                    <a:pt x="3078045" y="20988"/>
                  </a:cubicBezTo>
                  <a:lnTo>
                    <a:pt x="3078045" y="1545552"/>
                  </a:lnTo>
                  <a:cubicBezTo>
                    <a:pt x="3078045" y="1551118"/>
                    <a:pt x="3075834" y="1556457"/>
                    <a:pt x="3071898" y="1560393"/>
                  </a:cubicBezTo>
                  <a:cubicBezTo>
                    <a:pt x="3067962" y="1564329"/>
                    <a:pt x="3062624" y="1566540"/>
                    <a:pt x="3057057" y="1566540"/>
                  </a:cubicBezTo>
                  <a:lnTo>
                    <a:pt x="20988" y="1566540"/>
                  </a:lnTo>
                  <a:cubicBezTo>
                    <a:pt x="9397" y="1566540"/>
                    <a:pt x="0" y="1557143"/>
                    <a:pt x="0" y="1545552"/>
                  </a:cubicBezTo>
                  <a:lnTo>
                    <a:pt x="0" y="20988"/>
                  </a:lnTo>
                  <a:cubicBezTo>
                    <a:pt x="0" y="9397"/>
                    <a:pt x="9397" y="0"/>
                    <a:pt x="20988" y="0"/>
                  </a:cubicBezTo>
                  <a:close/>
                </a:path>
              </a:pathLst>
            </a:custGeom>
            <a:solidFill>
              <a:srgbClr val="FDFDFD"/>
            </a:solidFill>
          </p:spPr>
        </p:sp>
        <p:sp>
          <p:nvSpPr>
            <p:cNvPr name="TextBox 4" id="4"/>
            <p:cNvSpPr txBox="true"/>
            <p:nvPr/>
          </p:nvSpPr>
          <p:spPr>
            <a:xfrm>
              <a:off x="0" y="-38100"/>
              <a:ext cx="3078045" cy="1604640"/>
            </a:xfrm>
            <a:prstGeom prst="rect">
              <a:avLst/>
            </a:prstGeom>
          </p:spPr>
          <p:txBody>
            <a:bodyPr anchor="ctr" rtlCol="false" tIns="50800" lIns="50800" bIns="50800" rIns="50800"/>
            <a:lstStyle/>
            <a:p>
              <a:pPr algn="ctr">
                <a:lnSpc>
                  <a:spcPts val="2659"/>
                </a:lnSpc>
              </a:pPr>
            </a:p>
            <a:p>
              <a:pPr algn="ctr">
                <a:lnSpc>
                  <a:spcPts val="2659"/>
                </a:lnSpc>
              </a:pPr>
            </a:p>
          </p:txBody>
        </p:sp>
      </p:grpSp>
      <p:grpSp>
        <p:nvGrpSpPr>
          <p:cNvPr name="Group 5" id="5"/>
          <p:cNvGrpSpPr/>
          <p:nvPr/>
        </p:nvGrpSpPr>
        <p:grpSpPr>
          <a:xfrm rot="0">
            <a:off x="-2123887" y="-2346523"/>
            <a:ext cx="4693046" cy="469304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FFFFFF">
                  <a:alpha val="15686"/>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5573718" y="7940477"/>
            <a:ext cx="4693046" cy="469304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FFFFFF">
                  <a:alpha val="15686"/>
                </a:srgbClr>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2193343" y="4053007"/>
            <a:ext cx="13733534" cy="2589463"/>
          </a:xfrm>
          <a:custGeom>
            <a:avLst/>
            <a:gdLst/>
            <a:ahLst/>
            <a:cxnLst/>
            <a:rect r="r" b="b" t="t" l="l"/>
            <a:pathLst>
              <a:path h="2589463" w="13733534">
                <a:moveTo>
                  <a:pt x="0" y="0"/>
                </a:moveTo>
                <a:lnTo>
                  <a:pt x="13733535" y="0"/>
                </a:lnTo>
                <a:lnTo>
                  <a:pt x="13733535" y="2589463"/>
                </a:lnTo>
                <a:lnTo>
                  <a:pt x="0" y="2589463"/>
                </a:lnTo>
                <a:lnTo>
                  <a:pt x="0" y="0"/>
                </a:lnTo>
                <a:close/>
              </a:path>
            </a:pathLst>
          </a:custGeom>
          <a:blipFill>
            <a:blip r:embed="rId2"/>
            <a:stretch>
              <a:fillRect l="0" t="-22743" r="-79" b="0"/>
            </a:stretch>
          </a:blipFill>
        </p:spPr>
      </p:sp>
      <p:sp>
        <p:nvSpPr>
          <p:cNvPr name="TextBox 12" id="12"/>
          <p:cNvSpPr txBox="true"/>
          <p:nvPr/>
        </p:nvSpPr>
        <p:spPr>
          <a:xfrm rot="0">
            <a:off x="2119861" y="286093"/>
            <a:ext cx="14355387" cy="870376"/>
          </a:xfrm>
          <a:prstGeom prst="rect">
            <a:avLst/>
          </a:prstGeom>
        </p:spPr>
        <p:txBody>
          <a:bodyPr anchor="t" rtlCol="false" tIns="0" lIns="0" bIns="0" rIns="0">
            <a:spAutoFit/>
          </a:bodyPr>
          <a:lstStyle/>
          <a:p>
            <a:pPr algn="ctr" marL="0" indent="0" lvl="0">
              <a:lnSpc>
                <a:spcPts val="7151"/>
              </a:lnSpc>
              <a:spcBef>
                <a:spcPct val="0"/>
              </a:spcBef>
            </a:pPr>
            <a:r>
              <a:rPr lang="en-US" b="true" sz="5108">
                <a:solidFill>
                  <a:srgbClr val="FDFDFD"/>
                </a:solidFill>
                <a:latin typeface="Montserrat Bold"/>
                <a:ea typeface="Montserrat Bold"/>
                <a:cs typeface="Montserrat Bold"/>
                <a:sym typeface="Montserrat Bold"/>
              </a:rPr>
              <a:t>TĂNG CƯỜNG DỮ LIỆU VÀ CÂN BẰNG LỚP </a:t>
            </a:r>
          </a:p>
        </p:txBody>
      </p:sp>
      <p:sp>
        <p:nvSpPr>
          <p:cNvPr name="TextBox 13" id="13"/>
          <p:cNvSpPr txBox="true"/>
          <p:nvPr/>
        </p:nvSpPr>
        <p:spPr>
          <a:xfrm rot="0">
            <a:off x="1737488" y="2249893"/>
            <a:ext cx="14948804" cy="1626378"/>
          </a:xfrm>
          <a:prstGeom prst="rect">
            <a:avLst/>
          </a:prstGeom>
        </p:spPr>
        <p:txBody>
          <a:bodyPr anchor="t" rtlCol="false" tIns="0" lIns="0" bIns="0" rIns="0">
            <a:spAutoFit/>
          </a:bodyPr>
          <a:lstStyle/>
          <a:p>
            <a:pPr algn="l" marL="507279" indent="-253639" lvl="1">
              <a:lnSpc>
                <a:spcPts val="3289"/>
              </a:lnSpc>
              <a:spcBef>
                <a:spcPct val="0"/>
              </a:spcBef>
              <a:buFont typeface="Arial"/>
              <a:buChar char="•"/>
            </a:pPr>
            <a:r>
              <a:rPr lang="en-US" sz="2349" spc="-46">
                <a:solidFill>
                  <a:srgbClr val="051D40"/>
                </a:solidFill>
                <a:latin typeface="Montserrat"/>
                <a:ea typeface="Montserrat"/>
                <a:cs typeface="Montserrat"/>
                <a:sym typeface="Montserrat"/>
              </a:rPr>
              <a:t>RandomHorizontalFlip —</a:t>
            </a:r>
            <a:r>
              <a:rPr lang="en-US" sz="2349" spc="-46" strike="noStrike" u="none">
                <a:solidFill>
                  <a:srgbClr val="051D40"/>
                </a:solidFill>
                <a:latin typeface="Montserrat"/>
                <a:ea typeface="Montserrat"/>
                <a:cs typeface="Montserrat"/>
                <a:sym typeface="Montserrat"/>
              </a:rPr>
              <a:t> lật ngang ngẫu nhiên</a:t>
            </a:r>
          </a:p>
          <a:p>
            <a:pPr algn="l" marL="507279" indent="-253639" lvl="1">
              <a:lnSpc>
                <a:spcPts val="3289"/>
              </a:lnSpc>
              <a:spcBef>
                <a:spcPct val="0"/>
              </a:spcBef>
              <a:buFont typeface="Arial"/>
              <a:buChar char="•"/>
            </a:pPr>
            <a:r>
              <a:rPr lang="en-US" sz="2349" spc="-46" strike="noStrike" u="none">
                <a:solidFill>
                  <a:srgbClr val="051D40"/>
                </a:solidFill>
                <a:latin typeface="Montserrat"/>
                <a:ea typeface="Montserrat"/>
                <a:cs typeface="Montserrat"/>
                <a:sym typeface="Montserrat"/>
              </a:rPr>
              <a:t>ColorJitter — thay đổi nhẹ độ sáng và màu sắc</a:t>
            </a:r>
          </a:p>
          <a:p>
            <a:pPr algn="l" marL="507279" indent="-253639" lvl="1">
              <a:lnSpc>
                <a:spcPts val="3289"/>
              </a:lnSpc>
              <a:spcBef>
                <a:spcPct val="0"/>
              </a:spcBef>
              <a:buFont typeface="Arial"/>
              <a:buChar char="•"/>
            </a:pPr>
            <a:r>
              <a:rPr lang="en-US" sz="2349" spc="-46" strike="noStrike" u="none">
                <a:solidFill>
                  <a:srgbClr val="051D40"/>
                </a:solidFill>
                <a:latin typeface="Montserrat"/>
                <a:ea typeface="Montserrat"/>
                <a:cs typeface="Montserrat"/>
                <a:sym typeface="Montserrat"/>
              </a:rPr>
              <a:t>Rotation nhẹ (xoay góc nhỏ, không quá ±15°)</a:t>
            </a:r>
          </a:p>
          <a:p>
            <a:pPr algn="l" marL="507279" indent="-253639" lvl="1">
              <a:lnSpc>
                <a:spcPts val="3289"/>
              </a:lnSpc>
              <a:spcBef>
                <a:spcPct val="0"/>
              </a:spcBef>
              <a:buFont typeface="Arial"/>
              <a:buChar char="•"/>
            </a:pPr>
            <a:r>
              <a:rPr lang="en-US" sz="2349" spc="-46" strike="noStrike" u="none">
                <a:solidFill>
                  <a:srgbClr val="051D40"/>
                </a:solidFill>
                <a:latin typeface="Montserrat"/>
                <a:ea typeface="Montserrat"/>
                <a:cs typeface="Montserrat"/>
                <a:sym typeface="Montserrat"/>
              </a:rPr>
              <a:t>RandomResizedCrop với tỉ lệ vừa phải — tránh cắt sâu làm mất phần văn bản trong ảnh</a:t>
            </a:r>
          </a:p>
        </p:txBody>
      </p:sp>
      <p:sp>
        <p:nvSpPr>
          <p:cNvPr name="TextBox 14" id="14"/>
          <p:cNvSpPr txBox="true"/>
          <p:nvPr/>
        </p:nvSpPr>
        <p:spPr>
          <a:xfrm rot="0">
            <a:off x="1737488" y="7110720"/>
            <a:ext cx="14813024" cy="2055036"/>
          </a:xfrm>
          <a:prstGeom prst="rect">
            <a:avLst/>
          </a:prstGeom>
        </p:spPr>
        <p:txBody>
          <a:bodyPr anchor="t" rtlCol="false" tIns="0" lIns="0" bIns="0" rIns="0">
            <a:spAutoFit/>
          </a:bodyPr>
          <a:lstStyle/>
          <a:p>
            <a:pPr algn="l" marL="507279" indent="-253639" lvl="1">
              <a:lnSpc>
                <a:spcPts val="3289"/>
              </a:lnSpc>
              <a:spcBef>
                <a:spcPct val="0"/>
              </a:spcBef>
              <a:buFont typeface="Arial"/>
              <a:buChar char="•"/>
            </a:pPr>
            <a:r>
              <a:rPr lang="en-US" sz="2349" spc="-46">
                <a:solidFill>
                  <a:srgbClr val="051D40"/>
                </a:solidFill>
                <a:latin typeface="Poppins"/>
                <a:ea typeface="Poppins"/>
                <a:cs typeface="Poppins"/>
                <a:sym typeface="Poppins"/>
              </a:rPr>
              <a:t>Mất cân bằng lớp trong FB tra</a:t>
            </a:r>
            <a:r>
              <a:rPr lang="en-US" sz="2349" spc="-46" strike="noStrike" u="none">
                <a:solidFill>
                  <a:srgbClr val="051D40"/>
                </a:solidFill>
                <a:latin typeface="Poppins"/>
                <a:ea typeface="Poppins"/>
                <a:cs typeface="Poppins"/>
                <a:sym typeface="Poppins"/>
              </a:rPr>
              <a:t>in: 35,9% hateful vs 64,1% benign (3.050 / 5.450)</a:t>
            </a:r>
          </a:p>
          <a:p>
            <a:pPr algn="l" marL="507279" indent="-253639" lvl="1">
              <a:lnSpc>
                <a:spcPts val="3289"/>
              </a:lnSpc>
              <a:spcBef>
                <a:spcPct val="0"/>
              </a:spcBef>
              <a:buFont typeface="Arial"/>
              <a:buChar char="•"/>
            </a:pPr>
            <a:r>
              <a:rPr lang="en-US" sz="2349" spc="-46" strike="noStrike" u="none">
                <a:solidFill>
                  <a:srgbClr val="051D40"/>
                </a:solidFill>
                <a:latin typeface="Poppins"/>
                <a:ea typeface="Poppins"/>
                <a:cs typeface="Poppins"/>
                <a:sym typeface="Poppins"/>
              </a:rPr>
              <a:t>pos_weight = 1.787 trong BCE/ASL Loss để bù trọng số cho lớp thiểu số</a:t>
            </a:r>
          </a:p>
          <a:p>
            <a:pPr algn="l" marL="507279" indent="-253639" lvl="1">
              <a:lnSpc>
                <a:spcPts val="3289"/>
              </a:lnSpc>
              <a:spcBef>
                <a:spcPct val="0"/>
              </a:spcBef>
              <a:buFont typeface="Arial"/>
              <a:buChar char="•"/>
            </a:pPr>
            <a:r>
              <a:rPr lang="en-US" sz="2349" spc="-46" strike="noStrike" u="none">
                <a:solidFill>
                  <a:srgbClr val="051D40"/>
                </a:solidFill>
                <a:latin typeface="Poppins"/>
                <a:ea typeface="Poppins"/>
                <a:cs typeface="Poppins"/>
                <a:sym typeface="Poppins"/>
              </a:rPr>
              <a:t>WeightedRandomSampler (áp dụng từ v6) — đảm bảo mỗi batch thấy được cả 2 lớp với tần suất gần bằng nhau</a:t>
            </a:r>
          </a:p>
          <a:p>
            <a:pPr algn="l" marL="507279" indent="-253639" lvl="1">
              <a:lnSpc>
                <a:spcPts val="3289"/>
              </a:lnSpc>
              <a:spcBef>
                <a:spcPct val="0"/>
              </a:spcBef>
              <a:buFont typeface="Arial"/>
              <a:buChar char="•"/>
            </a:pPr>
            <a:r>
              <a:rPr lang="en-US" sz="2349" spc="-46" strike="noStrike" u="none">
                <a:solidFill>
                  <a:srgbClr val="051D40"/>
                </a:solidFill>
                <a:latin typeface="Poppins"/>
                <a:ea typeface="Poppins"/>
                <a:cs typeface="Poppins"/>
                <a:sym typeface="Poppins"/>
              </a:rPr>
              <a:t>Trộn thêm Memotion vào tập train để bổ sung mẫu hateful và tăng diversity dữ liệu</a:t>
            </a:r>
          </a:p>
        </p:txBody>
      </p:sp>
      <p:sp>
        <p:nvSpPr>
          <p:cNvPr name="TextBox 15" id="15"/>
          <p:cNvSpPr txBox="true"/>
          <p:nvPr/>
        </p:nvSpPr>
        <p:spPr>
          <a:xfrm rot="0">
            <a:off x="1537837" y="1707615"/>
            <a:ext cx="6700622" cy="413166"/>
          </a:xfrm>
          <a:prstGeom prst="rect">
            <a:avLst/>
          </a:prstGeom>
        </p:spPr>
        <p:txBody>
          <a:bodyPr anchor="t" rtlCol="false" tIns="0" lIns="0" bIns="0" rIns="0">
            <a:spAutoFit/>
          </a:bodyPr>
          <a:lstStyle/>
          <a:p>
            <a:pPr algn="l">
              <a:lnSpc>
                <a:spcPts val="3480"/>
              </a:lnSpc>
              <a:spcBef>
                <a:spcPct val="0"/>
              </a:spcBef>
            </a:pPr>
            <a:r>
              <a:rPr lang="en-US" b="true" sz="2486">
                <a:solidFill>
                  <a:srgbClr val="051D40"/>
                </a:solidFill>
                <a:latin typeface="Montserrat Bold"/>
                <a:ea typeface="Montserrat Bold"/>
                <a:cs typeface="Montserrat Bold"/>
                <a:sym typeface="Montserrat Bold"/>
              </a:rPr>
              <a:t>Tăng cường dữ liệu (Augmentation):</a:t>
            </a:r>
          </a:p>
        </p:txBody>
      </p:sp>
      <p:sp>
        <p:nvSpPr>
          <p:cNvPr name="TextBox 16" id="16"/>
          <p:cNvSpPr txBox="true"/>
          <p:nvPr/>
        </p:nvSpPr>
        <p:spPr>
          <a:xfrm rot="0">
            <a:off x="1537837" y="6604370"/>
            <a:ext cx="5776882" cy="413166"/>
          </a:xfrm>
          <a:prstGeom prst="rect">
            <a:avLst/>
          </a:prstGeom>
        </p:spPr>
        <p:txBody>
          <a:bodyPr anchor="t" rtlCol="false" tIns="0" lIns="0" bIns="0" rIns="0">
            <a:spAutoFit/>
          </a:bodyPr>
          <a:lstStyle/>
          <a:p>
            <a:pPr algn="l">
              <a:lnSpc>
                <a:spcPts val="3480"/>
              </a:lnSpc>
              <a:spcBef>
                <a:spcPct val="0"/>
              </a:spcBef>
            </a:pPr>
            <a:r>
              <a:rPr lang="en-US" b="true" sz="2486">
                <a:solidFill>
                  <a:srgbClr val="051D40"/>
                </a:solidFill>
                <a:latin typeface="Montserrat Bold"/>
                <a:ea typeface="Montserrat Bold"/>
                <a:cs typeface="Montserrat Bold"/>
                <a:sym typeface="Montserrat Bold"/>
              </a:rPr>
              <a:t>Cân bằng lớp (Class balancing):</a:t>
            </a:r>
          </a:p>
        </p:txBody>
      </p:sp>
      <p:sp>
        <p:nvSpPr>
          <p:cNvPr name="TextBox 17" id="17"/>
          <p:cNvSpPr txBox="true"/>
          <p:nvPr/>
        </p:nvSpPr>
        <p:spPr>
          <a:xfrm rot="0">
            <a:off x="8455313" y="9675157"/>
            <a:ext cx="1507522" cy="501556"/>
          </a:xfrm>
          <a:prstGeom prst="rect">
            <a:avLst/>
          </a:prstGeom>
        </p:spPr>
        <p:txBody>
          <a:bodyPr anchor="t" rtlCol="false" tIns="0" lIns="0" bIns="0" rIns="0">
            <a:spAutoFit/>
          </a:bodyPr>
          <a:lstStyle/>
          <a:p>
            <a:pPr algn="l">
              <a:lnSpc>
                <a:spcPts val="3855"/>
              </a:lnSpc>
              <a:spcBef>
                <a:spcPct val="0"/>
              </a:spcBef>
            </a:pPr>
            <a:r>
              <a:rPr lang="en-US" sz="2753" spc="-55">
                <a:solidFill>
                  <a:srgbClr val="FFFFFF"/>
                </a:solidFill>
                <a:latin typeface="Poppins"/>
                <a:ea typeface="Poppins"/>
                <a:cs typeface="Poppins"/>
                <a:sym typeface="Poppins"/>
              </a:rPr>
              <a:t>Nhóm 7</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6008479" y="-1286914"/>
            <a:ext cx="3315352" cy="3283936"/>
            <a:chOff x="0" y="0"/>
            <a:chExt cx="812800" cy="805098"/>
          </a:xfrm>
        </p:grpSpPr>
        <p:sp>
          <p:nvSpPr>
            <p:cNvPr name="Freeform 3" id="3"/>
            <p:cNvSpPr/>
            <p:nvPr/>
          </p:nvSpPr>
          <p:spPr>
            <a:xfrm flipH="false" flipV="false" rot="0">
              <a:off x="0" y="0"/>
              <a:ext cx="812800" cy="805098"/>
            </a:xfrm>
            <a:custGeom>
              <a:avLst/>
              <a:gdLst/>
              <a:ahLst/>
              <a:cxnLst/>
              <a:rect r="r" b="b" t="t" l="l"/>
              <a:pathLst>
                <a:path h="805098" w="812800">
                  <a:moveTo>
                    <a:pt x="406400" y="0"/>
                  </a:moveTo>
                  <a:cubicBezTo>
                    <a:pt x="181951" y="0"/>
                    <a:pt x="0" y="180227"/>
                    <a:pt x="0" y="402549"/>
                  </a:cubicBezTo>
                  <a:cubicBezTo>
                    <a:pt x="0" y="624871"/>
                    <a:pt x="181951" y="805098"/>
                    <a:pt x="406400" y="805098"/>
                  </a:cubicBezTo>
                  <a:cubicBezTo>
                    <a:pt x="630849" y="805098"/>
                    <a:pt x="812800" y="624871"/>
                    <a:pt x="812800" y="402549"/>
                  </a:cubicBezTo>
                  <a:cubicBezTo>
                    <a:pt x="812800" y="180227"/>
                    <a:pt x="630849" y="0"/>
                    <a:pt x="406400" y="0"/>
                  </a:cubicBezTo>
                  <a:close/>
                </a:path>
              </a:pathLst>
            </a:custGeom>
            <a:ln w="952500" cap="sq">
              <a:solidFill>
                <a:srgbClr val="051D40">
                  <a:alpha val="15686"/>
                </a:srgbClr>
              </a:solidFill>
              <a:prstDash val="solid"/>
              <a:miter/>
            </a:ln>
          </p:spPr>
        </p:sp>
        <p:sp>
          <p:nvSpPr>
            <p:cNvPr name="TextBox 4" id="4"/>
            <p:cNvSpPr txBox="true"/>
            <p:nvPr/>
          </p:nvSpPr>
          <p:spPr>
            <a:xfrm>
              <a:off x="76200" y="37378"/>
              <a:ext cx="660400" cy="69224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95249" y="7938785"/>
            <a:ext cx="3355359" cy="335535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4393"/>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0097" y="355377"/>
            <a:ext cx="7788499" cy="1103036"/>
            <a:chOff x="0" y="0"/>
            <a:chExt cx="10384665" cy="1470715"/>
          </a:xfrm>
        </p:grpSpPr>
        <p:grpSp>
          <p:nvGrpSpPr>
            <p:cNvPr name="Group 9" id="9"/>
            <p:cNvGrpSpPr/>
            <p:nvPr/>
          </p:nvGrpSpPr>
          <p:grpSpPr>
            <a:xfrm rot="0">
              <a:off x="0" y="0"/>
              <a:ext cx="10384665" cy="1470715"/>
              <a:chOff x="0" y="0"/>
              <a:chExt cx="2051292" cy="290512"/>
            </a:xfrm>
          </p:grpSpPr>
          <p:sp>
            <p:nvSpPr>
              <p:cNvPr name="Freeform 10" id="10"/>
              <p:cNvSpPr/>
              <p:nvPr/>
            </p:nvSpPr>
            <p:spPr>
              <a:xfrm flipH="false" flipV="false" rot="0">
                <a:off x="0" y="0"/>
                <a:ext cx="2051292" cy="290512"/>
              </a:xfrm>
              <a:custGeom>
                <a:avLst/>
                <a:gdLst/>
                <a:ahLst/>
                <a:cxnLst/>
                <a:rect r="r" b="b" t="t" l="l"/>
                <a:pathLst>
                  <a:path h="290512" w="2051292">
                    <a:moveTo>
                      <a:pt x="50695" y="0"/>
                    </a:moveTo>
                    <a:lnTo>
                      <a:pt x="2000597" y="0"/>
                    </a:lnTo>
                    <a:cubicBezTo>
                      <a:pt x="2014042" y="0"/>
                      <a:pt x="2026937" y="5341"/>
                      <a:pt x="2036444" y="14848"/>
                    </a:cubicBezTo>
                    <a:cubicBezTo>
                      <a:pt x="2045951" y="24355"/>
                      <a:pt x="2051292" y="37250"/>
                      <a:pt x="2051292" y="50695"/>
                    </a:cubicBezTo>
                    <a:lnTo>
                      <a:pt x="2051292" y="239817"/>
                    </a:lnTo>
                    <a:cubicBezTo>
                      <a:pt x="2051292" y="253262"/>
                      <a:pt x="2045951" y="266156"/>
                      <a:pt x="2036444" y="275663"/>
                    </a:cubicBezTo>
                    <a:cubicBezTo>
                      <a:pt x="2026937" y="285170"/>
                      <a:pt x="2014042" y="290512"/>
                      <a:pt x="2000597" y="290512"/>
                    </a:cubicBezTo>
                    <a:lnTo>
                      <a:pt x="50695" y="290512"/>
                    </a:lnTo>
                    <a:cubicBezTo>
                      <a:pt x="22697" y="290512"/>
                      <a:pt x="0" y="267815"/>
                      <a:pt x="0" y="239817"/>
                    </a:cubicBezTo>
                    <a:lnTo>
                      <a:pt x="0" y="50695"/>
                    </a:lnTo>
                    <a:cubicBezTo>
                      <a:pt x="0" y="22697"/>
                      <a:pt x="22697" y="0"/>
                      <a:pt x="50695" y="0"/>
                    </a:cubicBezTo>
                    <a:close/>
                  </a:path>
                </a:pathLst>
              </a:custGeom>
              <a:solidFill>
                <a:srgbClr val="00569E"/>
              </a:solidFill>
            </p:spPr>
          </p:sp>
          <p:sp>
            <p:nvSpPr>
              <p:cNvPr name="TextBox 11" id="11"/>
              <p:cNvSpPr txBox="true"/>
              <p:nvPr/>
            </p:nvSpPr>
            <p:spPr>
              <a:xfrm>
                <a:off x="0" y="-38100"/>
                <a:ext cx="2051292" cy="328612"/>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32378" y="176467"/>
              <a:ext cx="9719908" cy="1032055"/>
            </a:xfrm>
            <a:prstGeom prst="rect">
              <a:avLst/>
            </a:prstGeom>
          </p:spPr>
          <p:txBody>
            <a:bodyPr anchor="t" rtlCol="false" tIns="0" lIns="0" bIns="0" rIns="0">
              <a:spAutoFit/>
            </a:bodyPr>
            <a:lstStyle/>
            <a:p>
              <a:pPr algn="l" marL="0" indent="0" lvl="0">
                <a:lnSpc>
                  <a:spcPts val="6553"/>
                </a:lnSpc>
                <a:spcBef>
                  <a:spcPct val="0"/>
                </a:spcBef>
              </a:pPr>
              <a:r>
                <a:rPr lang="en-US" b="true" sz="4680">
                  <a:solidFill>
                    <a:srgbClr val="FDFDFD"/>
                  </a:solidFill>
                  <a:latin typeface="Montserrat Bold"/>
                  <a:ea typeface="Montserrat Bold"/>
                  <a:cs typeface="Montserrat Bold"/>
                  <a:sym typeface="Montserrat Bold"/>
                </a:rPr>
                <a:t>KẾT QUẢ BENCHMARK</a:t>
              </a:r>
            </a:p>
          </p:txBody>
        </p:sp>
      </p:grpSp>
      <p:sp>
        <p:nvSpPr>
          <p:cNvPr name="Freeform 13" id="13"/>
          <p:cNvSpPr/>
          <p:nvPr/>
        </p:nvSpPr>
        <p:spPr>
          <a:xfrm flipH="false" flipV="false" rot="0">
            <a:off x="482431" y="1997022"/>
            <a:ext cx="17323139" cy="7080833"/>
          </a:xfrm>
          <a:custGeom>
            <a:avLst/>
            <a:gdLst/>
            <a:ahLst/>
            <a:cxnLst/>
            <a:rect r="r" b="b" t="t" l="l"/>
            <a:pathLst>
              <a:path h="7080833" w="17323139">
                <a:moveTo>
                  <a:pt x="0" y="0"/>
                </a:moveTo>
                <a:lnTo>
                  <a:pt x="17323138" y="0"/>
                </a:lnTo>
                <a:lnTo>
                  <a:pt x="17323138" y="7080833"/>
                </a:lnTo>
                <a:lnTo>
                  <a:pt x="0" y="7080833"/>
                </a:lnTo>
                <a:lnTo>
                  <a:pt x="0" y="0"/>
                </a:lnTo>
                <a:close/>
              </a:path>
            </a:pathLst>
          </a:custGeom>
          <a:blipFill>
            <a:blip r:embed="rId2"/>
            <a:stretch>
              <a:fillRect l="0" t="0" r="0" b="0"/>
            </a:stretch>
          </a:blipFill>
        </p:spPr>
      </p:sp>
      <p:sp>
        <p:nvSpPr>
          <p:cNvPr name="TextBox 14" id="14"/>
          <p:cNvSpPr txBox="true"/>
          <p:nvPr/>
        </p:nvSpPr>
        <p:spPr>
          <a:xfrm rot="0">
            <a:off x="16505539" y="9530740"/>
            <a:ext cx="1507522" cy="501556"/>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Poppins"/>
                <a:ea typeface="Poppins"/>
                <a:cs typeface="Poppins"/>
                <a:sym typeface="Poppins"/>
              </a:rPr>
              <a:t>Nhóm 7</a:t>
            </a:r>
          </a:p>
        </p:txBody>
      </p:sp>
      <p:grpSp>
        <p:nvGrpSpPr>
          <p:cNvPr name="Group 15" id="15"/>
          <p:cNvGrpSpPr/>
          <p:nvPr/>
        </p:nvGrpSpPr>
        <p:grpSpPr>
          <a:xfrm rot="0">
            <a:off x="1807911" y="9616465"/>
            <a:ext cx="1286950" cy="128695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0693329" y="-2731790"/>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0C4393"/>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9432902" y="-1779950"/>
            <a:ext cx="13275122" cy="1327512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4393"/>
            </a:solidFill>
          </p:spPr>
        </p:sp>
        <p:sp>
          <p:nvSpPr>
            <p:cNvPr name="TextBox 7" id="7"/>
            <p:cNvSpPr txBox="true"/>
            <p:nvPr/>
          </p:nvSpPr>
          <p:spPr>
            <a:xfrm>
              <a:off x="76200" y="0"/>
              <a:ext cx="660400" cy="736600"/>
            </a:xfrm>
            <a:prstGeom prst="rect">
              <a:avLst/>
            </a:prstGeom>
          </p:spPr>
          <p:txBody>
            <a:bodyPr anchor="ctr" rtlCol="false" tIns="50800" lIns="50800" bIns="50800" rIns="50800"/>
            <a:lstStyle/>
            <a:p>
              <a:pPr algn="l" marL="0" indent="0" lvl="0">
                <a:lnSpc>
                  <a:spcPts val="5957"/>
                </a:lnSpc>
                <a:spcBef>
                  <a:spcPct val="0"/>
                </a:spcBef>
              </a:pPr>
            </a:p>
          </p:txBody>
        </p:sp>
      </p:grpSp>
      <p:grpSp>
        <p:nvGrpSpPr>
          <p:cNvPr name="Group 8" id="8"/>
          <p:cNvGrpSpPr/>
          <p:nvPr/>
        </p:nvGrpSpPr>
        <p:grpSpPr>
          <a:xfrm rot="0">
            <a:off x="3655416" y="1566600"/>
            <a:ext cx="373607" cy="37360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0" id="10"/>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1" id="11"/>
          <p:cNvGrpSpPr/>
          <p:nvPr/>
        </p:nvGrpSpPr>
        <p:grpSpPr>
          <a:xfrm rot="0">
            <a:off x="4180720" y="4956696"/>
            <a:ext cx="373607" cy="37360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3" id="13"/>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4" id="14"/>
          <p:cNvGrpSpPr/>
          <p:nvPr/>
        </p:nvGrpSpPr>
        <p:grpSpPr>
          <a:xfrm rot="0">
            <a:off x="15640521" y="8882807"/>
            <a:ext cx="3564204" cy="356420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051D40">
                  <a:alpha val="15686"/>
                </a:srgbClr>
              </a:solidFill>
              <a:prstDash val="solid"/>
              <a:miter/>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4516312" y="9824380"/>
            <a:ext cx="1286950" cy="128695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4577518" y="-1529433"/>
            <a:ext cx="13203270" cy="5116267"/>
          </a:xfrm>
          <a:custGeom>
            <a:avLst/>
            <a:gdLst/>
            <a:ahLst/>
            <a:cxnLst/>
            <a:rect r="r" b="b" t="t" l="l"/>
            <a:pathLst>
              <a:path h="5116267" w="13203270">
                <a:moveTo>
                  <a:pt x="0" y="0"/>
                </a:moveTo>
                <a:lnTo>
                  <a:pt x="13203269" y="0"/>
                </a:lnTo>
                <a:lnTo>
                  <a:pt x="13203269" y="5116266"/>
                </a:lnTo>
                <a:lnTo>
                  <a:pt x="0" y="5116266"/>
                </a:lnTo>
                <a:lnTo>
                  <a:pt x="0" y="0"/>
                </a:lnTo>
                <a:close/>
              </a:path>
            </a:pathLst>
          </a:custGeom>
          <a:blipFill>
            <a:blip r:embed="rId2"/>
            <a:stretch>
              <a:fillRect l="0" t="0" r="0" b="0"/>
            </a:stretch>
          </a:blipFill>
        </p:spPr>
      </p:sp>
      <p:sp>
        <p:nvSpPr>
          <p:cNvPr name="TextBox 21" id="21"/>
          <p:cNvSpPr txBox="true"/>
          <p:nvPr/>
        </p:nvSpPr>
        <p:spPr>
          <a:xfrm rot="0">
            <a:off x="0" y="3521486"/>
            <a:ext cx="3316528" cy="2794221"/>
          </a:xfrm>
          <a:prstGeom prst="rect">
            <a:avLst/>
          </a:prstGeom>
        </p:spPr>
        <p:txBody>
          <a:bodyPr anchor="t" rtlCol="false" tIns="0" lIns="0" bIns="0" rIns="0">
            <a:spAutoFit/>
          </a:bodyPr>
          <a:lstStyle/>
          <a:p>
            <a:pPr algn="ctr" marL="0" indent="0" lvl="0">
              <a:lnSpc>
                <a:spcPts val="5573"/>
              </a:lnSpc>
              <a:spcBef>
                <a:spcPct val="0"/>
              </a:spcBef>
            </a:pPr>
            <a:r>
              <a:rPr lang="en-US" b="true" sz="3980">
                <a:solidFill>
                  <a:srgbClr val="FDFDFD"/>
                </a:solidFill>
                <a:latin typeface="Montserrat Bold"/>
                <a:ea typeface="Montserrat Bold"/>
                <a:cs typeface="Montserrat Bold"/>
                <a:sym typeface="Montserrat Bold"/>
              </a:rPr>
              <a:t>FINETUNE QWEN2-VL-2B BASELINE</a:t>
            </a:r>
          </a:p>
        </p:txBody>
      </p:sp>
      <p:sp>
        <p:nvSpPr>
          <p:cNvPr name="TextBox 22" id="22"/>
          <p:cNvSpPr txBox="true"/>
          <p:nvPr/>
        </p:nvSpPr>
        <p:spPr>
          <a:xfrm rot="0">
            <a:off x="9671631" y="9530740"/>
            <a:ext cx="1507522" cy="501556"/>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Poppins"/>
                <a:ea typeface="Poppins"/>
                <a:cs typeface="Poppins"/>
                <a:sym typeface="Poppins"/>
              </a:rPr>
              <a:t>Nhóm 7</a:t>
            </a:r>
          </a:p>
        </p:txBody>
      </p:sp>
      <p:sp>
        <p:nvSpPr>
          <p:cNvPr name="TextBox 23" id="23"/>
          <p:cNvSpPr txBox="true"/>
          <p:nvPr/>
        </p:nvSpPr>
        <p:spPr>
          <a:xfrm rot="0">
            <a:off x="4892828" y="3706962"/>
            <a:ext cx="13049348" cy="4964243"/>
          </a:xfrm>
          <a:prstGeom prst="rect">
            <a:avLst/>
          </a:prstGeom>
        </p:spPr>
        <p:txBody>
          <a:bodyPr anchor="t" rtlCol="false" tIns="0" lIns="0" bIns="0" rIns="0">
            <a:spAutoFit/>
          </a:bodyPr>
          <a:lstStyle/>
          <a:p>
            <a:pPr algn="just">
              <a:lnSpc>
                <a:spcPts val="3055"/>
              </a:lnSpc>
            </a:pPr>
            <a:r>
              <a:rPr lang="en-US" b="true" sz="2182" spc="-43">
                <a:solidFill>
                  <a:srgbClr val="FFBD59"/>
                </a:solidFill>
                <a:latin typeface="Poppins Bold"/>
                <a:ea typeface="Poppins Bold"/>
                <a:cs typeface="Poppins Bold"/>
                <a:sym typeface="Poppins Bold"/>
              </a:rPr>
              <a:t>Mục đích:</a:t>
            </a:r>
          </a:p>
          <a:p>
            <a:pPr algn="just" marL="471173" indent="-235586" lvl="1">
              <a:lnSpc>
                <a:spcPts val="3055"/>
              </a:lnSpc>
              <a:buFont typeface="Arial"/>
              <a:buChar char="•"/>
            </a:pPr>
            <a:r>
              <a:rPr lang="en-US" sz="2182" spc="-43">
                <a:solidFill>
                  <a:srgbClr val="000000"/>
                </a:solidFill>
                <a:latin typeface="Poppins"/>
                <a:ea typeface="Poppins"/>
                <a:cs typeface="Poppins"/>
                <a:sym typeface="Poppins"/>
              </a:rPr>
              <a:t>Thiết lập baseline đơn giản và đáng tin cậy làm điểm tham chiếu cho các phiên bản cải tiến.</a:t>
            </a:r>
          </a:p>
          <a:p>
            <a:pPr algn="just" marL="471173" indent="-235586" lvl="1">
              <a:lnSpc>
                <a:spcPts val="3055"/>
              </a:lnSpc>
              <a:buFont typeface="Arial"/>
              <a:buChar char="•"/>
            </a:pPr>
            <a:r>
              <a:rPr lang="en-US" sz="2182" spc="-43">
                <a:solidFill>
                  <a:srgbClr val="000000"/>
                </a:solidFill>
                <a:latin typeface="Poppins"/>
                <a:ea typeface="Poppins"/>
                <a:cs typeface="Poppins"/>
                <a:sym typeface="Poppins"/>
              </a:rPr>
              <a:t>Xác thực ngay từ đầu rằng hướng tinh chỉnh parameter-efficient (LoRA) là khả thi và hiệu quả trên phần cứng giới hạn</a:t>
            </a:r>
          </a:p>
          <a:p>
            <a:pPr algn="just" marL="471173" indent="-235586" lvl="1">
              <a:lnSpc>
                <a:spcPts val="3055"/>
              </a:lnSpc>
              <a:buFont typeface="Arial"/>
              <a:buChar char="•"/>
            </a:pPr>
            <a:r>
              <a:rPr lang="en-US" sz="2182" spc="-43">
                <a:solidFill>
                  <a:srgbClr val="000000"/>
                </a:solidFill>
                <a:latin typeface="Poppins"/>
                <a:ea typeface="Poppins"/>
                <a:cs typeface="Poppins"/>
                <a:sym typeface="Poppins"/>
              </a:rPr>
              <a:t>Đánh giá mức cải thiện cơ bản so với Qwen2-VL-2B ở trạng thái frozen (0.7178)</a:t>
            </a:r>
          </a:p>
          <a:p>
            <a:pPr algn="just">
              <a:lnSpc>
                <a:spcPts val="3055"/>
              </a:lnSpc>
            </a:pPr>
            <a:r>
              <a:rPr lang="en-US" b="true" sz="2182" spc="-43">
                <a:solidFill>
                  <a:srgbClr val="FFBD59"/>
                </a:solidFill>
                <a:latin typeface="Poppins Bold"/>
                <a:ea typeface="Poppins Bold"/>
                <a:cs typeface="Poppins Bold"/>
                <a:sym typeface="Poppins Bold"/>
              </a:rPr>
              <a:t>Cách fine-tune:</a:t>
            </a:r>
          </a:p>
          <a:p>
            <a:pPr algn="just" marL="471173" indent="-235586" lvl="1">
              <a:lnSpc>
                <a:spcPts val="3055"/>
              </a:lnSpc>
              <a:buFont typeface="Arial"/>
              <a:buChar char="•"/>
            </a:pPr>
            <a:r>
              <a:rPr lang="en-US" sz="2182" spc="-43">
                <a:solidFill>
                  <a:srgbClr val="000000"/>
                </a:solidFill>
                <a:latin typeface="Poppins"/>
                <a:ea typeface="Poppins"/>
                <a:cs typeface="Poppins"/>
                <a:sym typeface="Poppins"/>
              </a:rPr>
              <a:t>LoRA cấu hình cơ bản: rank r = 8, alpha = 16</a:t>
            </a:r>
          </a:p>
          <a:p>
            <a:pPr algn="just" marL="471173" indent="-235586" lvl="1">
              <a:lnSpc>
                <a:spcPts val="3055"/>
              </a:lnSpc>
              <a:buFont typeface="Arial"/>
              <a:buChar char="•"/>
            </a:pPr>
            <a:r>
              <a:rPr lang="en-US" sz="2182" spc="-43">
                <a:solidFill>
                  <a:srgbClr val="000000"/>
                </a:solidFill>
                <a:latin typeface="Poppins"/>
                <a:ea typeface="Poppins"/>
                <a:cs typeface="Poppins"/>
                <a:sym typeface="Poppins"/>
              </a:rPr>
              <a:t>Target modules: chỉ áp dụng lên q_proj và v_proj (Query + Value projection của attention)</a:t>
            </a:r>
          </a:p>
          <a:p>
            <a:pPr algn="just" marL="471173" indent="-235586" lvl="1">
              <a:lnSpc>
                <a:spcPts val="3055"/>
              </a:lnSpc>
              <a:buFont typeface="Arial"/>
              <a:buChar char="•"/>
            </a:pPr>
            <a:r>
              <a:rPr lang="en-US" sz="2182" spc="-43">
                <a:solidFill>
                  <a:srgbClr val="000000"/>
                </a:solidFill>
                <a:latin typeface="Poppins"/>
                <a:ea typeface="Poppins"/>
                <a:cs typeface="Poppins"/>
                <a:sym typeface="Poppins"/>
              </a:rPr>
              <a:t>Target layers: layer 16–27 của Qwen2-VL decoder (12 lớp cuối — nơi mang nhiều thông tin ngữ nghĩa)</a:t>
            </a:r>
          </a:p>
          <a:p>
            <a:pPr algn="just" marL="471173" indent="-235586" lvl="1">
              <a:lnSpc>
                <a:spcPts val="3055"/>
              </a:lnSpc>
              <a:buFont typeface="Arial"/>
              <a:buChar char="•"/>
            </a:pPr>
            <a:r>
              <a:rPr lang="en-US" sz="2182" spc="-43">
                <a:solidFill>
                  <a:srgbClr val="000000"/>
                </a:solidFill>
                <a:latin typeface="Poppins"/>
                <a:ea typeface="Poppins"/>
                <a:cs typeface="Poppins"/>
                <a:sym typeface="Poppins"/>
              </a:rPr>
              <a:t>Classification head: linear đơn giản hidden_size → 1, gắn sau hidden state của token cuối cùng ở lớp ẩn cuối</a:t>
            </a:r>
          </a:p>
          <a:p>
            <a:pPr algn="just" marL="471173" indent="-235586" lvl="1">
              <a:lnSpc>
                <a:spcPts val="3055"/>
              </a:lnSpc>
              <a:buFont typeface="Arial"/>
              <a:buChar char="•"/>
            </a:pPr>
            <a:r>
              <a:rPr lang="en-US" sz="2182" spc="-43">
                <a:solidFill>
                  <a:srgbClr val="000000"/>
                </a:solidFill>
                <a:latin typeface="Poppins"/>
                <a:ea typeface="Poppins"/>
                <a:cs typeface="Poppins"/>
                <a:sym typeface="Poppins"/>
              </a:rPr>
              <a:t>Loss function: BCEWithLogitsLoss + pos_weight = 1.787 để bù trọng số cho lớp thiểu số (hateful)</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0693329" y="-2731790"/>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0C4393"/>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9432902" y="-1779950"/>
            <a:ext cx="13275122" cy="1327512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4393"/>
            </a:solidFill>
          </p:spPr>
        </p:sp>
        <p:sp>
          <p:nvSpPr>
            <p:cNvPr name="TextBox 7" id="7"/>
            <p:cNvSpPr txBox="true"/>
            <p:nvPr/>
          </p:nvSpPr>
          <p:spPr>
            <a:xfrm>
              <a:off x="76200" y="0"/>
              <a:ext cx="660400" cy="736600"/>
            </a:xfrm>
            <a:prstGeom prst="rect">
              <a:avLst/>
            </a:prstGeom>
          </p:spPr>
          <p:txBody>
            <a:bodyPr anchor="ctr" rtlCol="false" tIns="50800" lIns="50800" bIns="50800" rIns="50800"/>
            <a:lstStyle/>
            <a:p>
              <a:pPr algn="l" marL="0" indent="0" lvl="0">
                <a:lnSpc>
                  <a:spcPts val="5957"/>
                </a:lnSpc>
                <a:spcBef>
                  <a:spcPct val="0"/>
                </a:spcBef>
              </a:pPr>
            </a:p>
          </p:txBody>
        </p:sp>
      </p:grpSp>
      <p:grpSp>
        <p:nvGrpSpPr>
          <p:cNvPr name="Group 8" id="8"/>
          <p:cNvGrpSpPr/>
          <p:nvPr/>
        </p:nvGrpSpPr>
        <p:grpSpPr>
          <a:xfrm rot="0">
            <a:off x="3655416" y="1566600"/>
            <a:ext cx="373607" cy="37360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0" id="10"/>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1" id="11"/>
          <p:cNvGrpSpPr/>
          <p:nvPr/>
        </p:nvGrpSpPr>
        <p:grpSpPr>
          <a:xfrm rot="0">
            <a:off x="4180720" y="4956696"/>
            <a:ext cx="373607" cy="37360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3" id="13"/>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4" id="14"/>
          <p:cNvGrpSpPr/>
          <p:nvPr/>
        </p:nvGrpSpPr>
        <p:grpSpPr>
          <a:xfrm rot="0">
            <a:off x="15640521" y="8882807"/>
            <a:ext cx="3564204" cy="356420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051D40">
                  <a:alpha val="15686"/>
                </a:srgbClr>
              </a:solidFill>
              <a:prstDash val="solid"/>
              <a:miter/>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4516312" y="9824380"/>
            <a:ext cx="1286950" cy="128695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4592780" y="-1113824"/>
            <a:ext cx="13172744" cy="4887461"/>
          </a:xfrm>
          <a:custGeom>
            <a:avLst/>
            <a:gdLst/>
            <a:ahLst/>
            <a:cxnLst/>
            <a:rect r="r" b="b" t="t" l="l"/>
            <a:pathLst>
              <a:path h="4887461" w="13172744">
                <a:moveTo>
                  <a:pt x="0" y="0"/>
                </a:moveTo>
                <a:lnTo>
                  <a:pt x="13172744" y="0"/>
                </a:lnTo>
                <a:lnTo>
                  <a:pt x="13172744" y="4887461"/>
                </a:lnTo>
                <a:lnTo>
                  <a:pt x="0" y="4887461"/>
                </a:lnTo>
                <a:lnTo>
                  <a:pt x="0" y="0"/>
                </a:lnTo>
                <a:close/>
              </a:path>
            </a:pathLst>
          </a:custGeom>
          <a:blipFill>
            <a:blip r:embed="rId2"/>
            <a:stretch>
              <a:fillRect l="0" t="0" r="0" b="-27348"/>
            </a:stretch>
          </a:blipFill>
        </p:spPr>
      </p:sp>
      <p:sp>
        <p:nvSpPr>
          <p:cNvPr name="TextBox 21" id="21"/>
          <p:cNvSpPr txBox="true"/>
          <p:nvPr/>
        </p:nvSpPr>
        <p:spPr>
          <a:xfrm rot="0">
            <a:off x="0" y="3847161"/>
            <a:ext cx="3316528" cy="2089635"/>
          </a:xfrm>
          <a:prstGeom prst="rect">
            <a:avLst/>
          </a:prstGeom>
        </p:spPr>
        <p:txBody>
          <a:bodyPr anchor="t" rtlCol="false" tIns="0" lIns="0" bIns="0" rIns="0">
            <a:spAutoFit/>
          </a:bodyPr>
          <a:lstStyle/>
          <a:p>
            <a:pPr algn="ctr" marL="0" indent="0" lvl="0">
              <a:lnSpc>
                <a:spcPts val="5573"/>
              </a:lnSpc>
              <a:spcBef>
                <a:spcPct val="0"/>
              </a:spcBef>
            </a:pPr>
            <a:r>
              <a:rPr lang="en-US" b="true" sz="3980">
                <a:solidFill>
                  <a:srgbClr val="FDFDFD"/>
                </a:solidFill>
                <a:latin typeface="Montserrat Bold"/>
                <a:ea typeface="Montserrat Bold"/>
                <a:cs typeface="Montserrat Bold"/>
                <a:sym typeface="Montserrat Bold"/>
              </a:rPr>
              <a:t>FINETUNE QWEN2-VL-2B V2</a:t>
            </a:r>
          </a:p>
        </p:txBody>
      </p:sp>
      <p:sp>
        <p:nvSpPr>
          <p:cNvPr name="TextBox 22" id="22"/>
          <p:cNvSpPr txBox="true"/>
          <p:nvPr/>
        </p:nvSpPr>
        <p:spPr>
          <a:xfrm rot="0">
            <a:off x="9671631" y="9530740"/>
            <a:ext cx="1507522" cy="501556"/>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Poppins"/>
                <a:ea typeface="Poppins"/>
                <a:cs typeface="Poppins"/>
                <a:sym typeface="Poppins"/>
              </a:rPr>
              <a:t>Nhóm 7</a:t>
            </a:r>
          </a:p>
        </p:txBody>
      </p:sp>
      <p:sp>
        <p:nvSpPr>
          <p:cNvPr name="TextBox 23" id="23"/>
          <p:cNvSpPr txBox="true"/>
          <p:nvPr/>
        </p:nvSpPr>
        <p:spPr>
          <a:xfrm rot="0">
            <a:off x="4892828" y="3706962"/>
            <a:ext cx="13049348" cy="4583243"/>
          </a:xfrm>
          <a:prstGeom prst="rect">
            <a:avLst/>
          </a:prstGeom>
        </p:spPr>
        <p:txBody>
          <a:bodyPr anchor="t" rtlCol="false" tIns="0" lIns="0" bIns="0" rIns="0">
            <a:spAutoFit/>
          </a:bodyPr>
          <a:lstStyle/>
          <a:p>
            <a:pPr algn="just">
              <a:lnSpc>
                <a:spcPts val="3055"/>
              </a:lnSpc>
            </a:pPr>
            <a:r>
              <a:rPr lang="en-US" b="true" sz="2182" spc="-43">
                <a:solidFill>
                  <a:srgbClr val="FFBD59"/>
                </a:solidFill>
                <a:latin typeface="Poppins Bold"/>
                <a:ea typeface="Poppins Bold"/>
                <a:cs typeface="Poppins Bold"/>
                <a:sym typeface="Poppins Bold"/>
              </a:rPr>
              <a:t>Mục đích:</a:t>
            </a:r>
          </a:p>
          <a:p>
            <a:pPr algn="just" marL="471173" indent="-235586" lvl="1">
              <a:lnSpc>
                <a:spcPts val="3055"/>
              </a:lnSpc>
              <a:buFont typeface="Arial"/>
              <a:buChar char="•"/>
            </a:pPr>
            <a:r>
              <a:rPr lang="en-US" sz="2182" spc="-43">
                <a:solidFill>
                  <a:srgbClr val="000000"/>
                </a:solidFill>
                <a:latin typeface="Poppins"/>
                <a:ea typeface="Poppins"/>
                <a:cs typeface="Poppins"/>
                <a:sym typeface="Poppins"/>
              </a:rPr>
              <a:t>Cải tiến hàm mất mát vì BCE đối xử với mọi mẫu như nhau, kể cả easy samples (mẫu mô hình đã học tốt)</a:t>
            </a:r>
          </a:p>
          <a:p>
            <a:pPr algn="just" marL="471173" indent="-235586" lvl="1">
              <a:lnSpc>
                <a:spcPts val="3055"/>
              </a:lnSpc>
              <a:buFont typeface="Arial"/>
              <a:buChar char="•"/>
            </a:pPr>
            <a:r>
              <a:rPr lang="en-US" sz="2182" spc="-43">
                <a:solidFill>
                  <a:srgbClr val="000000"/>
                </a:solidFill>
                <a:latin typeface="Poppins"/>
                <a:ea typeface="Poppins"/>
                <a:cs typeface="Poppins"/>
                <a:sym typeface="Poppins"/>
              </a:rPr>
              <a:t>Áp dụng Focal Loss để giảm trọng số cho easy samples, ép model tập trung học các mẫu khó hơn (đặc biệt là các meme có cấu trúc confounder phức tạp)</a:t>
            </a:r>
          </a:p>
          <a:p>
            <a:pPr algn="just" marL="471173" indent="-235586" lvl="1">
              <a:lnSpc>
                <a:spcPts val="3055"/>
              </a:lnSpc>
              <a:buFont typeface="Arial"/>
              <a:buChar char="•"/>
            </a:pPr>
            <a:r>
              <a:rPr lang="en-US" sz="2182" spc="-43">
                <a:solidFill>
                  <a:srgbClr val="000000"/>
                </a:solidFill>
                <a:latin typeface="Poppins"/>
                <a:ea typeface="Poppins"/>
                <a:cs typeface="Poppins"/>
                <a:sym typeface="Poppins"/>
              </a:rPr>
              <a:t>Đây là kỹ thuật phổ biến trong các bài toán phân loại có mất cân bằng lớp</a:t>
            </a:r>
          </a:p>
          <a:p>
            <a:pPr algn="just">
              <a:lnSpc>
                <a:spcPts val="3055"/>
              </a:lnSpc>
            </a:pPr>
            <a:r>
              <a:rPr lang="en-US" b="true" sz="2182" spc="-43">
                <a:solidFill>
                  <a:srgbClr val="FFBD59"/>
                </a:solidFill>
                <a:latin typeface="Poppins Bold"/>
                <a:ea typeface="Poppins Bold"/>
                <a:cs typeface="Poppins Bold"/>
                <a:sym typeface="Poppins Bold"/>
              </a:rPr>
              <a:t>Cách fine-tune:</a:t>
            </a:r>
          </a:p>
          <a:p>
            <a:pPr algn="just" marL="471173" indent="-235586" lvl="1">
              <a:lnSpc>
                <a:spcPts val="3055"/>
              </a:lnSpc>
              <a:buFont typeface="Arial"/>
              <a:buChar char="•"/>
            </a:pPr>
            <a:r>
              <a:rPr lang="en-US" sz="2182" spc="-43">
                <a:solidFill>
                  <a:srgbClr val="000000"/>
                </a:solidFill>
                <a:latin typeface="Poppins"/>
                <a:ea typeface="Poppins"/>
                <a:cs typeface="Poppins"/>
                <a:sym typeface="Poppins"/>
              </a:rPr>
              <a:t>Giữ nguyên kiến trúc </a:t>
            </a:r>
            <a:r>
              <a:rPr lang="en-US" sz="2182" spc="-43">
                <a:solidFill>
                  <a:srgbClr val="000000"/>
                </a:solidFill>
                <a:latin typeface="Poppins"/>
                <a:ea typeface="Poppins"/>
                <a:cs typeface="Poppins"/>
                <a:sym typeface="Poppins"/>
              </a:rPr>
              <a:t>LoRA và head giống v1 để cô lập biến: chỉ thay đổi loss function</a:t>
            </a:r>
          </a:p>
          <a:p>
            <a:pPr algn="just" marL="471173" indent="-235586" lvl="1">
              <a:lnSpc>
                <a:spcPts val="3055"/>
              </a:lnSpc>
              <a:buFont typeface="Arial"/>
              <a:buChar char="•"/>
            </a:pPr>
            <a:r>
              <a:rPr lang="en-US" sz="2182" spc="-43">
                <a:solidFill>
                  <a:srgbClr val="000000"/>
                </a:solidFill>
                <a:latin typeface="Poppins"/>
                <a:ea typeface="Poppins"/>
                <a:cs typeface="Poppins"/>
                <a:sym typeface="Poppins"/>
              </a:rPr>
              <a:t>LoRA: r = 8, α = 16, target = q_proj + v_proj, layers 16–27</a:t>
            </a:r>
          </a:p>
          <a:p>
            <a:pPr algn="just" marL="471173" indent="-235586" lvl="1">
              <a:lnSpc>
                <a:spcPts val="3055"/>
              </a:lnSpc>
              <a:buFont typeface="Arial"/>
              <a:buChar char="•"/>
            </a:pPr>
            <a:r>
              <a:rPr lang="en-US" sz="2182" spc="-43">
                <a:solidFill>
                  <a:srgbClr val="000000"/>
                </a:solidFill>
                <a:latin typeface="Poppins"/>
                <a:ea typeface="Poppins"/>
                <a:cs typeface="Poppins"/>
                <a:sym typeface="Poppins"/>
              </a:rPr>
              <a:t>Classification head: linear đơn giản (hidden_size → 1) sau token cuối</a:t>
            </a:r>
          </a:p>
          <a:p>
            <a:pPr algn="just" marL="471173" indent="-235586" lvl="1">
              <a:lnSpc>
                <a:spcPts val="3055"/>
              </a:lnSpc>
              <a:buFont typeface="Arial"/>
              <a:buChar char="•"/>
            </a:pPr>
            <a:r>
              <a:rPr lang="en-US" sz="2182" spc="-43">
                <a:solidFill>
                  <a:srgbClr val="000000"/>
                </a:solidFill>
                <a:latin typeface="Poppins"/>
                <a:ea typeface="Poppins"/>
                <a:cs typeface="Poppins"/>
                <a:sym typeface="Poppins"/>
              </a:rPr>
              <a:t>Thay đổi duy nhất: BCEWithLogitsLoss → Focal Loss (γ = 2)</a:t>
            </a:r>
          </a:p>
          <a:p>
            <a:pPr algn="just" marL="471173" indent="-235586" lvl="1">
              <a:lnSpc>
                <a:spcPts val="3055"/>
              </a:lnSpc>
              <a:buFont typeface="Arial"/>
              <a:buChar char="•"/>
            </a:pPr>
            <a:r>
              <a:rPr lang="en-US" sz="2182" spc="-43">
                <a:solidFill>
                  <a:srgbClr val="000000"/>
                </a:solidFill>
                <a:latin typeface="Poppins"/>
                <a:ea typeface="Poppins"/>
                <a:cs typeface="Poppins"/>
                <a:sym typeface="Poppins"/>
              </a:rPr>
              <a:t>Vẫn giữ pos_weight = 1.787 để bù mất cân bằng lớp</a:t>
            </a:r>
          </a:p>
        </p:txBody>
      </p:sp>
      <p:sp>
        <p:nvSpPr>
          <p:cNvPr name="TextBox 24" id="24"/>
          <p:cNvSpPr txBox="true"/>
          <p:nvPr/>
        </p:nvSpPr>
        <p:spPr>
          <a:xfrm rot="0">
            <a:off x="890547" y="6020678"/>
            <a:ext cx="1535435" cy="392243"/>
          </a:xfrm>
          <a:prstGeom prst="rect">
            <a:avLst/>
          </a:prstGeom>
        </p:spPr>
        <p:txBody>
          <a:bodyPr anchor="t" rtlCol="false" tIns="0" lIns="0" bIns="0" rIns="0">
            <a:spAutoFit/>
          </a:bodyPr>
          <a:lstStyle/>
          <a:p>
            <a:pPr algn="just">
              <a:lnSpc>
                <a:spcPts val="3055"/>
              </a:lnSpc>
            </a:pPr>
            <a:r>
              <a:rPr lang="en-US" b="true" sz="2182" spc="-43">
                <a:solidFill>
                  <a:srgbClr val="FFBD59"/>
                </a:solidFill>
                <a:latin typeface="Poppins Bold"/>
                <a:ea typeface="Poppins Bold"/>
                <a:cs typeface="Poppins Bold"/>
                <a:sym typeface="Poppins Bold"/>
              </a:rPr>
              <a:t>Focal Loss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0693329" y="-2731790"/>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0C4393"/>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9432902" y="-1779950"/>
            <a:ext cx="13275122" cy="1327512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4393"/>
            </a:solidFill>
          </p:spPr>
        </p:sp>
        <p:sp>
          <p:nvSpPr>
            <p:cNvPr name="TextBox 7" id="7"/>
            <p:cNvSpPr txBox="true"/>
            <p:nvPr/>
          </p:nvSpPr>
          <p:spPr>
            <a:xfrm>
              <a:off x="76200" y="0"/>
              <a:ext cx="660400" cy="736600"/>
            </a:xfrm>
            <a:prstGeom prst="rect">
              <a:avLst/>
            </a:prstGeom>
          </p:spPr>
          <p:txBody>
            <a:bodyPr anchor="ctr" rtlCol="false" tIns="50800" lIns="50800" bIns="50800" rIns="50800"/>
            <a:lstStyle/>
            <a:p>
              <a:pPr algn="l" marL="0" indent="0" lvl="0">
                <a:lnSpc>
                  <a:spcPts val="5957"/>
                </a:lnSpc>
                <a:spcBef>
                  <a:spcPct val="0"/>
                </a:spcBef>
              </a:pPr>
            </a:p>
          </p:txBody>
        </p:sp>
      </p:grpSp>
      <p:grpSp>
        <p:nvGrpSpPr>
          <p:cNvPr name="Group 8" id="8"/>
          <p:cNvGrpSpPr/>
          <p:nvPr/>
        </p:nvGrpSpPr>
        <p:grpSpPr>
          <a:xfrm rot="0">
            <a:off x="3655416" y="1566600"/>
            <a:ext cx="373607" cy="37360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0" id="10"/>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1" id="11"/>
          <p:cNvGrpSpPr/>
          <p:nvPr/>
        </p:nvGrpSpPr>
        <p:grpSpPr>
          <a:xfrm rot="0">
            <a:off x="4180720" y="4956696"/>
            <a:ext cx="373607" cy="37360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3" id="13"/>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4" id="14"/>
          <p:cNvGrpSpPr/>
          <p:nvPr/>
        </p:nvGrpSpPr>
        <p:grpSpPr>
          <a:xfrm rot="0">
            <a:off x="15640521" y="8882807"/>
            <a:ext cx="3564204" cy="356420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051D40">
                  <a:alpha val="15686"/>
                </a:srgbClr>
              </a:solidFill>
              <a:prstDash val="solid"/>
              <a:miter/>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4516312" y="9824380"/>
            <a:ext cx="1286950" cy="128695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4679467" y="-1235147"/>
            <a:ext cx="13262709" cy="5603494"/>
          </a:xfrm>
          <a:custGeom>
            <a:avLst/>
            <a:gdLst/>
            <a:ahLst/>
            <a:cxnLst/>
            <a:rect r="r" b="b" t="t" l="l"/>
            <a:pathLst>
              <a:path h="5603494" w="13262709">
                <a:moveTo>
                  <a:pt x="0" y="0"/>
                </a:moveTo>
                <a:lnTo>
                  <a:pt x="13262709" y="0"/>
                </a:lnTo>
                <a:lnTo>
                  <a:pt x="13262709" y="5603494"/>
                </a:lnTo>
                <a:lnTo>
                  <a:pt x="0" y="5603494"/>
                </a:lnTo>
                <a:lnTo>
                  <a:pt x="0" y="0"/>
                </a:lnTo>
                <a:close/>
              </a:path>
            </a:pathLst>
          </a:custGeom>
          <a:blipFill>
            <a:blip r:embed="rId2"/>
            <a:stretch>
              <a:fillRect l="0" t="0" r="0" b="0"/>
            </a:stretch>
          </a:blipFill>
        </p:spPr>
      </p:sp>
      <p:sp>
        <p:nvSpPr>
          <p:cNvPr name="TextBox 21" id="21"/>
          <p:cNvSpPr txBox="true"/>
          <p:nvPr/>
        </p:nvSpPr>
        <p:spPr>
          <a:xfrm rot="0">
            <a:off x="0" y="3257495"/>
            <a:ext cx="3316528" cy="2089635"/>
          </a:xfrm>
          <a:prstGeom prst="rect">
            <a:avLst/>
          </a:prstGeom>
        </p:spPr>
        <p:txBody>
          <a:bodyPr anchor="t" rtlCol="false" tIns="0" lIns="0" bIns="0" rIns="0">
            <a:spAutoFit/>
          </a:bodyPr>
          <a:lstStyle/>
          <a:p>
            <a:pPr algn="ctr" marL="0" indent="0" lvl="0">
              <a:lnSpc>
                <a:spcPts val="5573"/>
              </a:lnSpc>
              <a:spcBef>
                <a:spcPct val="0"/>
              </a:spcBef>
            </a:pPr>
            <a:r>
              <a:rPr lang="en-US" b="true" sz="3980">
                <a:solidFill>
                  <a:srgbClr val="FDFDFD"/>
                </a:solidFill>
                <a:latin typeface="Montserrat Bold"/>
                <a:ea typeface="Montserrat Bold"/>
                <a:cs typeface="Montserrat Bold"/>
                <a:sym typeface="Montserrat Bold"/>
              </a:rPr>
              <a:t>FINETUNE QWEN2-VL-2B V3</a:t>
            </a:r>
          </a:p>
        </p:txBody>
      </p:sp>
      <p:sp>
        <p:nvSpPr>
          <p:cNvPr name="TextBox 22" id="22"/>
          <p:cNvSpPr txBox="true"/>
          <p:nvPr/>
        </p:nvSpPr>
        <p:spPr>
          <a:xfrm rot="0">
            <a:off x="9671631" y="9530740"/>
            <a:ext cx="1507522" cy="501556"/>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Poppins"/>
                <a:ea typeface="Poppins"/>
                <a:cs typeface="Poppins"/>
                <a:sym typeface="Poppins"/>
              </a:rPr>
              <a:t>Nhóm 7</a:t>
            </a:r>
          </a:p>
        </p:txBody>
      </p:sp>
      <p:sp>
        <p:nvSpPr>
          <p:cNvPr name="TextBox 23" id="23"/>
          <p:cNvSpPr txBox="true"/>
          <p:nvPr/>
        </p:nvSpPr>
        <p:spPr>
          <a:xfrm rot="0">
            <a:off x="4679467" y="4136602"/>
            <a:ext cx="13049348" cy="5479863"/>
          </a:xfrm>
          <a:prstGeom prst="rect">
            <a:avLst/>
          </a:prstGeom>
        </p:spPr>
        <p:txBody>
          <a:bodyPr anchor="t" rtlCol="false" tIns="0" lIns="0" bIns="0" rIns="0">
            <a:spAutoFit/>
          </a:bodyPr>
          <a:lstStyle/>
          <a:p>
            <a:pPr algn="just">
              <a:lnSpc>
                <a:spcPts val="3055"/>
              </a:lnSpc>
            </a:pPr>
            <a:r>
              <a:rPr lang="en-US" b="true" sz="2182" spc="-43">
                <a:solidFill>
                  <a:srgbClr val="FFBD59"/>
                </a:solidFill>
                <a:latin typeface="Poppins Bold"/>
                <a:ea typeface="Poppins Bold"/>
                <a:cs typeface="Poppins Bold"/>
                <a:sym typeface="Poppins Bold"/>
              </a:rPr>
              <a:t>Mục đích:</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Sau khi v2 (Focal Loss) không cải thiện được v1, chuyển hướng cải tiến sang classification head thay vì loss function</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Giả thuyết: một head mạnh hơn có thể bù lại sự bất ổn của Focal Loss và trích xuất feature tốt hơn từ hidden state của Qwen2-VL-2B</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Kiểm tra xem việc tăng dung lượng head (từ vài nghìn tham số lên vài chục nghìn) có tạo ra bước nhảy AUROC hay không</a:t>
            </a:r>
          </a:p>
          <a:p>
            <a:pPr algn="just">
              <a:lnSpc>
                <a:spcPts val="3055"/>
              </a:lnSpc>
            </a:pPr>
            <a:r>
              <a:rPr lang="en-US" b="true" sz="2182" spc="-43">
                <a:solidFill>
                  <a:srgbClr val="FFBD59"/>
                </a:solidFill>
                <a:latin typeface="Poppins Bold"/>
                <a:ea typeface="Poppins Bold"/>
                <a:cs typeface="Poppins Bold"/>
                <a:sym typeface="Poppins Bold"/>
              </a:rPr>
              <a:t>Cách fine-tune:</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Giữ nguyên các th</a:t>
            </a:r>
            <a:r>
              <a:rPr lang="en-US" sz="2082" spc="-41">
                <a:solidFill>
                  <a:srgbClr val="000000"/>
                </a:solidFill>
                <a:latin typeface="Poppins"/>
                <a:ea typeface="Poppins"/>
                <a:cs typeface="Poppins"/>
                <a:sym typeface="Poppins"/>
              </a:rPr>
              <a:t>ành phần khác: LoRA (r=8, α=16, q_proj + v_proj, layers 16–27), Focal Loss (γ=2), pos_weight = 1.787</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Thay đổi chính: c</a:t>
            </a:r>
            <a:r>
              <a:rPr lang="en-US" sz="2082" spc="-41">
                <a:solidFill>
                  <a:srgbClr val="000000"/>
                </a:solidFill>
                <a:latin typeface="Poppins"/>
                <a:ea typeface="Poppins"/>
                <a:cs typeface="Poppins"/>
                <a:sym typeface="Poppins"/>
              </a:rPr>
              <a:t>lassification head từ linear đơn giản → MLP nhiều lớp với LayerNorm + Residual:</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Layer 1: Linear(hidden_size → 512) + LayerNorm + GELU + Dropout 0.3</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L</a:t>
            </a:r>
            <a:r>
              <a:rPr lang="en-US" sz="2082" spc="-41">
                <a:solidFill>
                  <a:srgbClr val="000000"/>
                </a:solidFill>
                <a:latin typeface="Poppins"/>
                <a:ea typeface="Poppins"/>
                <a:cs typeface="Poppins"/>
                <a:sym typeface="Poppins"/>
              </a:rPr>
              <a:t>ayer 2: Linear(512 → 128) + LayerNorm + Dropout 0.3</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Res</a:t>
            </a:r>
            <a:r>
              <a:rPr lang="en-US" sz="2082" spc="-41">
                <a:solidFill>
                  <a:srgbClr val="000000"/>
                </a:solidFill>
                <a:latin typeface="Poppins"/>
                <a:ea typeface="Poppins"/>
                <a:cs typeface="Poppins"/>
                <a:sym typeface="Poppins"/>
              </a:rPr>
              <a:t>idual connection giữa các layer để hỗ trợ gradient flow</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Output: Linear(128 → 1)</a:t>
            </a:r>
          </a:p>
        </p:txBody>
      </p:sp>
      <p:sp>
        <p:nvSpPr>
          <p:cNvPr name="TextBox 24" id="24"/>
          <p:cNvSpPr txBox="true"/>
          <p:nvPr/>
        </p:nvSpPr>
        <p:spPr>
          <a:xfrm rot="0">
            <a:off x="666778" y="5410670"/>
            <a:ext cx="1982972" cy="1916243"/>
          </a:xfrm>
          <a:prstGeom prst="rect">
            <a:avLst/>
          </a:prstGeom>
        </p:spPr>
        <p:txBody>
          <a:bodyPr anchor="t" rtlCol="false" tIns="0" lIns="0" bIns="0" rIns="0">
            <a:spAutoFit/>
          </a:bodyPr>
          <a:lstStyle/>
          <a:p>
            <a:pPr algn="ctr">
              <a:lnSpc>
                <a:spcPts val="3055"/>
              </a:lnSpc>
            </a:pPr>
            <a:r>
              <a:rPr lang="en-US" b="true" sz="2182" spc="-43">
                <a:solidFill>
                  <a:srgbClr val="FFBD59"/>
                </a:solidFill>
                <a:latin typeface="Poppins Bold"/>
                <a:ea typeface="Poppins Bold"/>
                <a:cs typeface="Poppins Bold"/>
                <a:sym typeface="Poppins Bold"/>
              </a:rPr>
              <a:t>Enhanced Classification Head - MLP đa lớp với LayerNorm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0693329" y="-2731790"/>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0C4393"/>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9432902" y="-1779950"/>
            <a:ext cx="13275122" cy="1327512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4393"/>
            </a:solidFill>
          </p:spPr>
        </p:sp>
        <p:sp>
          <p:nvSpPr>
            <p:cNvPr name="TextBox 7" id="7"/>
            <p:cNvSpPr txBox="true"/>
            <p:nvPr/>
          </p:nvSpPr>
          <p:spPr>
            <a:xfrm>
              <a:off x="76200" y="0"/>
              <a:ext cx="660400" cy="736600"/>
            </a:xfrm>
            <a:prstGeom prst="rect">
              <a:avLst/>
            </a:prstGeom>
          </p:spPr>
          <p:txBody>
            <a:bodyPr anchor="ctr" rtlCol="false" tIns="50800" lIns="50800" bIns="50800" rIns="50800"/>
            <a:lstStyle/>
            <a:p>
              <a:pPr algn="l" marL="0" indent="0" lvl="0">
                <a:lnSpc>
                  <a:spcPts val="5957"/>
                </a:lnSpc>
                <a:spcBef>
                  <a:spcPct val="0"/>
                </a:spcBef>
              </a:pPr>
            </a:p>
          </p:txBody>
        </p:sp>
      </p:grpSp>
      <p:grpSp>
        <p:nvGrpSpPr>
          <p:cNvPr name="Group 8" id="8"/>
          <p:cNvGrpSpPr/>
          <p:nvPr/>
        </p:nvGrpSpPr>
        <p:grpSpPr>
          <a:xfrm rot="0">
            <a:off x="3655416" y="1566600"/>
            <a:ext cx="373607" cy="37360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0" id="10"/>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1" id="11"/>
          <p:cNvGrpSpPr/>
          <p:nvPr/>
        </p:nvGrpSpPr>
        <p:grpSpPr>
          <a:xfrm rot="0">
            <a:off x="4180720" y="4956696"/>
            <a:ext cx="373607" cy="37360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3" id="13"/>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4" id="14"/>
          <p:cNvGrpSpPr/>
          <p:nvPr/>
        </p:nvGrpSpPr>
        <p:grpSpPr>
          <a:xfrm rot="0">
            <a:off x="15640521" y="8882807"/>
            <a:ext cx="3564204" cy="356420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051D40">
                  <a:alpha val="15686"/>
                </a:srgbClr>
              </a:solidFill>
              <a:prstDash val="solid"/>
              <a:miter/>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4516312" y="9824380"/>
            <a:ext cx="1286950" cy="128695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5039216" y="-1217318"/>
            <a:ext cx="12983460" cy="5420595"/>
          </a:xfrm>
          <a:custGeom>
            <a:avLst/>
            <a:gdLst/>
            <a:ahLst/>
            <a:cxnLst/>
            <a:rect r="r" b="b" t="t" l="l"/>
            <a:pathLst>
              <a:path h="5420595" w="12983460">
                <a:moveTo>
                  <a:pt x="0" y="0"/>
                </a:moveTo>
                <a:lnTo>
                  <a:pt x="12983460" y="0"/>
                </a:lnTo>
                <a:lnTo>
                  <a:pt x="12983460" y="5420595"/>
                </a:lnTo>
                <a:lnTo>
                  <a:pt x="0" y="5420595"/>
                </a:lnTo>
                <a:lnTo>
                  <a:pt x="0" y="0"/>
                </a:lnTo>
                <a:close/>
              </a:path>
            </a:pathLst>
          </a:custGeom>
          <a:blipFill>
            <a:blip r:embed="rId2"/>
            <a:stretch>
              <a:fillRect l="0" t="0" r="0" b="0"/>
            </a:stretch>
          </a:blipFill>
        </p:spPr>
      </p:sp>
      <p:sp>
        <p:nvSpPr>
          <p:cNvPr name="TextBox 21" id="21"/>
          <p:cNvSpPr txBox="true"/>
          <p:nvPr/>
        </p:nvSpPr>
        <p:spPr>
          <a:xfrm rot="0">
            <a:off x="0" y="3451691"/>
            <a:ext cx="3316528" cy="2089635"/>
          </a:xfrm>
          <a:prstGeom prst="rect">
            <a:avLst/>
          </a:prstGeom>
        </p:spPr>
        <p:txBody>
          <a:bodyPr anchor="t" rtlCol="false" tIns="0" lIns="0" bIns="0" rIns="0">
            <a:spAutoFit/>
          </a:bodyPr>
          <a:lstStyle/>
          <a:p>
            <a:pPr algn="ctr" marL="0" indent="0" lvl="0">
              <a:lnSpc>
                <a:spcPts val="5573"/>
              </a:lnSpc>
              <a:spcBef>
                <a:spcPct val="0"/>
              </a:spcBef>
            </a:pPr>
            <a:r>
              <a:rPr lang="en-US" b="true" sz="3980">
                <a:solidFill>
                  <a:srgbClr val="FDFDFD"/>
                </a:solidFill>
                <a:latin typeface="Montserrat Bold"/>
                <a:ea typeface="Montserrat Bold"/>
                <a:cs typeface="Montserrat Bold"/>
                <a:sym typeface="Montserrat Bold"/>
              </a:rPr>
              <a:t>FINETUNE QWEN2-VL-2B V4</a:t>
            </a:r>
          </a:p>
        </p:txBody>
      </p:sp>
      <p:sp>
        <p:nvSpPr>
          <p:cNvPr name="TextBox 22" id="22"/>
          <p:cNvSpPr txBox="true"/>
          <p:nvPr/>
        </p:nvSpPr>
        <p:spPr>
          <a:xfrm rot="0">
            <a:off x="9671631" y="9530740"/>
            <a:ext cx="1507522" cy="501556"/>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Poppins"/>
                <a:ea typeface="Poppins"/>
                <a:cs typeface="Poppins"/>
                <a:sym typeface="Poppins"/>
              </a:rPr>
              <a:t>Nhóm 7</a:t>
            </a:r>
          </a:p>
        </p:txBody>
      </p:sp>
      <p:sp>
        <p:nvSpPr>
          <p:cNvPr name="TextBox 23" id="23"/>
          <p:cNvSpPr txBox="true"/>
          <p:nvPr/>
        </p:nvSpPr>
        <p:spPr>
          <a:xfrm rot="0">
            <a:off x="4654478" y="3985840"/>
            <a:ext cx="13049348" cy="5479863"/>
          </a:xfrm>
          <a:prstGeom prst="rect">
            <a:avLst/>
          </a:prstGeom>
        </p:spPr>
        <p:txBody>
          <a:bodyPr anchor="t" rtlCol="false" tIns="0" lIns="0" bIns="0" rIns="0">
            <a:spAutoFit/>
          </a:bodyPr>
          <a:lstStyle/>
          <a:p>
            <a:pPr algn="just">
              <a:lnSpc>
                <a:spcPts val="3055"/>
              </a:lnSpc>
            </a:pPr>
            <a:r>
              <a:rPr lang="en-US" b="true" sz="2182" spc="-43">
                <a:solidFill>
                  <a:srgbClr val="FFBD59"/>
                </a:solidFill>
                <a:latin typeface="Poppins Bold"/>
                <a:ea typeface="Poppins Bold"/>
                <a:cs typeface="Poppins Bold"/>
                <a:sym typeface="Poppins Bold"/>
              </a:rPr>
              <a:t>Mục đích:</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Tiếp tục khám phá hướng cải tiến feature extraction sau khi v3 (Enhanced Head) chưa đủ tạo bước nhảy</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Giả thuyết: lấy hidden state của token cuối (cách làm ở v1–v3) không hoàn toàn chính xác với kiến trúc Qwen2-VL — token cuối không nhất thiết là token tổng hợp đầy đủ thông tin</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Cho phép model tự chọn ra những token quan trọng trong sequence ảnh-văn bản thông qua cơ chế attention, thay vì phụ thuộc vào quy ước cứng "token cuối = token tổng hợp"</a:t>
            </a:r>
          </a:p>
          <a:p>
            <a:pPr algn="just">
              <a:lnSpc>
                <a:spcPts val="3055"/>
              </a:lnSpc>
            </a:pPr>
            <a:r>
              <a:rPr lang="en-US" b="true" sz="2182" spc="-43">
                <a:solidFill>
                  <a:srgbClr val="FFBD59"/>
                </a:solidFill>
                <a:latin typeface="Poppins Bold"/>
                <a:ea typeface="Poppins Bold"/>
                <a:cs typeface="Poppins Bold"/>
                <a:sym typeface="Poppins Bold"/>
              </a:rPr>
              <a:t>Cách fine-tune:</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Giữ nguyên các th</a:t>
            </a:r>
            <a:r>
              <a:rPr lang="en-US" sz="2082" spc="-41">
                <a:solidFill>
                  <a:srgbClr val="000000"/>
                </a:solidFill>
                <a:latin typeface="Poppins"/>
                <a:ea typeface="Poppins"/>
                <a:cs typeface="Poppins"/>
                <a:sym typeface="Poppins"/>
              </a:rPr>
              <a:t>ành phần khác: LoRA (r=8, α=16, q_proj + v_proj, layers 16–27), Focal Loss (γ=2), pos_weight = 1.787, Enhanced Head MLP (giống v3)</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Thay đổi chính: thay </a:t>
            </a:r>
            <a:r>
              <a:rPr lang="en-US" sz="2082" spc="-41">
                <a:solidFill>
                  <a:srgbClr val="000000"/>
                </a:solidFill>
                <a:latin typeface="Poppins"/>
                <a:ea typeface="Poppins"/>
                <a:cs typeface="Poppins"/>
                <a:sym typeface="Poppins"/>
              </a:rPr>
              <a:t>last-token pooling → AttentionPool với K=16 learnable queries:</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St</a:t>
            </a:r>
            <a:r>
              <a:rPr lang="en-US" sz="2082" spc="-41">
                <a:solidFill>
                  <a:srgbClr val="000000"/>
                </a:solidFill>
                <a:latin typeface="Poppins"/>
                <a:ea typeface="Poppins"/>
                <a:cs typeface="Poppins"/>
                <a:sym typeface="Poppins"/>
              </a:rPr>
              <a:t>ep 1: Lấy hidden states từ K=16 token cuối của sequence → keys (B, 16, 1536)</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St</a:t>
            </a:r>
            <a:r>
              <a:rPr lang="en-US" sz="2082" spc="-41">
                <a:solidFill>
                  <a:srgbClr val="000000"/>
                </a:solidFill>
                <a:latin typeface="Poppins"/>
                <a:ea typeface="Poppins"/>
                <a:cs typeface="Poppins"/>
                <a:sym typeface="Poppins"/>
              </a:rPr>
              <a:t>ep 2: Tạo learnable query parameter (1, 1, 1536) có thể train được</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Step 3: Tính attention weights = softmax(query @ keys.T / sqrt(d))</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Step 4: Weighted sum: attn @ keys → (B, 1536) — vector pool đại diện cả sequence</a:t>
            </a:r>
          </a:p>
        </p:txBody>
      </p:sp>
      <p:sp>
        <p:nvSpPr>
          <p:cNvPr name="TextBox 24" id="24"/>
          <p:cNvSpPr txBox="true"/>
          <p:nvPr/>
        </p:nvSpPr>
        <p:spPr>
          <a:xfrm rot="0">
            <a:off x="666778" y="5604866"/>
            <a:ext cx="1982972" cy="1154243"/>
          </a:xfrm>
          <a:prstGeom prst="rect">
            <a:avLst/>
          </a:prstGeom>
        </p:spPr>
        <p:txBody>
          <a:bodyPr anchor="t" rtlCol="false" tIns="0" lIns="0" bIns="0" rIns="0">
            <a:spAutoFit/>
          </a:bodyPr>
          <a:lstStyle/>
          <a:p>
            <a:pPr algn="ctr">
              <a:lnSpc>
                <a:spcPts val="3055"/>
              </a:lnSpc>
            </a:pPr>
            <a:r>
              <a:rPr lang="en-US" b="true" sz="2182" spc="-43">
                <a:solidFill>
                  <a:srgbClr val="FFBD59"/>
                </a:solidFill>
                <a:latin typeface="Poppins Bold"/>
                <a:ea typeface="Poppins Bold"/>
                <a:cs typeface="Poppins Bold"/>
                <a:sym typeface="Poppins Bold"/>
              </a:rPr>
              <a:t>Attention Pool - Pooling theo K query</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0693329" y="-2731790"/>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0C4393"/>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9432902" y="-1779950"/>
            <a:ext cx="13275122" cy="1327512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4393"/>
            </a:solidFill>
          </p:spPr>
        </p:sp>
        <p:sp>
          <p:nvSpPr>
            <p:cNvPr name="TextBox 7" id="7"/>
            <p:cNvSpPr txBox="true"/>
            <p:nvPr/>
          </p:nvSpPr>
          <p:spPr>
            <a:xfrm>
              <a:off x="76200" y="0"/>
              <a:ext cx="660400" cy="736600"/>
            </a:xfrm>
            <a:prstGeom prst="rect">
              <a:avLst/>
            </a:prstGeom>
          </p:spPr>
          <p:txBody>
            <a:bodyPr anchor="ctr" rtlCol="false" tIns="50800" lIns="50800" bIns="50800" rIns="50800"/>
            <a:lstStyle/>
            <a:p>
              <a:pPr algn="l" marL="0" indent="0" lvl="0">
                <a:lnSpc>
                  <a:spcPts val="5957"/>
                </a:lnSpc>
                <a:spcBef>
                  <a:spcPct val="0"/>
                </a:spcBef>
              </a:pPr>
            </a:p>
          </p:txBody>
        </p:sp>
      </p:grpSp>
      <p:grpSp>
        <p:nvGrpSpPr>
          <p:cNvPr name="Group 8" id="8"/>
          <p:cNvGrpSpPr/>
          <p:nvPr/>
        </p:nvGrpSpPr>
        <p:grpSpPr>
          <a:xfrm rot="0">
            <a:off x="3655416" y="1566600"/>
            <a:ext cx="373607" cy="37360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0" id="10"/>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1" id="11"/>
          <p:cNvGrpSpPr/>
          <p:nvPr/>
        </p:nvGrpSpPr>
        <p:grpSpPr>
          <a:xfrm rot="0">
            <a:off x="4180720" y="4956696"/>
            <a:ext cx="373607" cy="37360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3" id="13"/>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4" id="14"/>
          <p:cNvGrpSpPr/>
          <p:nvPr/>
        </p:nvGrpSpPr>
        <p:grpSpPr>
          <a:xfrm rot="0">
            <a:off x="15640521" y="8882807"/>
            <a:ext cx="3564204" cy="356420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051D40">
                  <a:alpha val="15686"/>
                </a:srgbClr>
              </a:solidFill>
              <a:prstDash val="solid"/>
              <a:miter/>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4516312" y="9824380"/>
            <a:ext cx="1286950" cy="128695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4554327" y="-1421586"/>
            <a:ext cx="13313284" cy="5624863"/>
          </a:xfrm>
          <a:custGeom>
            <a:avLst/>
            <a:gdLst/>
            <a:ahLst/>
            <a:cxnLst/>
            <a:rect r="r" b="b" t="t" l="l"/>
            <a:pathLst>
              <a:path h="5624863" w="13313284">
                <a:moveTo>
                  <a:pt x="0" y="0"/>
                </a:moveTo>
                <a:lnTo>
                  <a:pt x="13313285" y="0"/>
                </a:lnTo>
                <a:lnTo>
                  <a:pt x="13313285" y="5624863"/>
                </a:lnTo>
                <a:lnTo>
                  <a:pt x="0" y="5624863"/>
                </a:lnTo>
                <a:lnTo>
                  <a:pt x="0" y="0"/>
                </a:lnTo>
                <a:close/>
              </a:path>
            </a:pathLst>
          </a:custGeom>
          <a:blipFill>
            <a:blip r:embed="rId2"/>
            <a:stretch>
              <a:fillRect l="0" t="0" r="0" b="0"/>
            </a:stretch>
          </a:blipFill>
        </p:spPr>
      </p:sp>
      <p:sp>
        <p:nvSpPr>
          <p:cNvPr name="TextBox 21" id="21"/>
          <p:cNvSpPr txBox="true"/>
          <p:nvPr/>
        </p:nvSpPr>
        <p:spPr>
          <a:xfrm rot="0">
            <a:off x="0" y="3257495"/>
            <a:ext cx="3316528" cy="2089635"/>
          </a:xfrm>
          <a:prstGeom prst="rect">
            <a:avLst/>
          </a:prstGeom>
        </p:spPr>
        <p:txBody>
          <a:bodyPr anchor="t" rtlCol="false" tIns="0" lIns="0" bIns="0" rIns="0">
            <a:spAutoFit/>
          </a:bodyPr>
          <a:lstStyle/>
          <a:p>
            <a:pPr algn="ctr" marL="0" indent="0" lvl="0">
              <a:lnSpc>
                <a:spcPts val="5573"/>
              </a:lnSpc>
              <a:spcBef>
                <a:spcPct val="0"/>
              </a:spcBef>
            </a:pPr>
            <a:r>
              <a:rPr lang="en-US" b="true" sz="3980">
                <a:solidFill>
                  <a:srgbClr val="FDFDFD"/>
                </a:solidFill>
                <a:latin typeface="Montserrat Bold"/>
                <a:ea typeface="Montserrat Bold"/>
                <a:cs typeface="Montserrat Bold"/>
                <a:sym typeface="Montserrat Bold"/>
              </a:rPr>
              <a:t>FINETUNE QWEN2-VL-2B V5</a:t>
            </a:r>
          </a:p>
        </p:txBody>
      </p:sp>
      <p:sp>
        <p:nvSpPr>
          <p:cNvPr name="TextBox 22" id="22"/>
          <p:cNvSpPr txBox="true"/>
          <p:nvPr/>
        </p:nvSpPr>
        <p:spPr>
          <a:xfrm rot="0">
            <a:off x="9671631" y="9530740"/>
            <a:ext cx="1507522" cy="501556"/>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Poppins"/>
                <a:ea typeface="Poppins"/>
                <a:cs typeface="Poppins"/>
                <a:sym typeface="Poppins"/>
              </a:rPr>
              <a:t>Nhóm 7</a:t>
            </a:r>
          </a:p>
        </p:txBody>
      </p:sp>
      <p:sp>
        <p:nvSpPr>
          <p:cNvPr name="TextBox 23" id="23"/>
          <p:cNvSpPr txBox="true"/>
          <p:nvPr/>
        </p:nvSpPr>
        <p:spPr>
          <a:xfrm rot="0">
            <a:off x="4679467" y="4136602"/>
            <a:ext cx="13049348" cy="5117913"/>
          </a:xfrm>
          <a:prstGeom prst="rect">
            <a:avLst/>
          </a:prstGeom>
        </p:spPr>
        <p:txBody>
          <a:bodyPr anchor="t" rtlCol="false" tIns="0" lIns="0" bIns="0" rIns="0">
            <a:spAutoFit/>
          </a:bodyPr>
          <a:lstStyle/>
          <a:p>
            <a:pPr algn="just">
              <a:lnSpc>
                <a:spcPts val="3055"/>
              </a:lnSpc>
            </a:pPr>
            <a:r>
              <a:rPr lang="en-US" b="true" sz="2182" spc="-43">
                <a:solidFill>
                  <a:srgbClr val="FFBD59"/>
                </a:solidFill>
                <a:latin typeface="Poppins Bold"/>
                <a:ea typeface="Poppins Bold"/>
                <a:cs typeface="Poppins Bold"/>
                <a:sym typeface="Poppins Bold"/>
              </a:rPr>
              <a:t>Mục đích:</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Đổi paradigm hoàn toàn: tập trung vào việc mở rộng phạm vi của LoRA</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Giả thuyết: nút thắt cổ chai không nằm ở head/loss, mà nằm ở dung lượng học của chính LoRA — chỉ tinh chỉnh q_proj và v_proj (như v1–v4) là không đủ để mô hình học được pattern phức tạp của meme đa phương thức</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Cô lập biến: tạm thời quay lại head đơn giản + BCE Loss để loại bỏ các yếu tố gây nhiễu khi đánh giá, chỉ thay đổi LoRA scope</a:t>
            </a:r>
          </a:p>
          <a:p>
            <a:pPr algn="just">
              <a:lnSpc>
                <a:spcPts val="3055"/>
              </a:lnSpc>
            </a:pPr>
            <a:r>
              <a:rPr lang="en-US" b="true" sz="2182" spc="-43">
                <a:solidFill>
                  <a:srgbClr val="FFBD59"/>
                </a:solidFill>
                <a:latin typeface="Poppins Bold"/>
                <a:ea typeface="Poppins Bold"/>
                <a:cs typeface="Poppins Bold"/>
                <a:sym typeface="Poppins Bold"/>
              </a:rPr>
              <a:t>Cách fine-tune:</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Tha</a:t>
            </a:r>
            <a:r>
              <a:rPr lang="en-US" sz="2082" spc="-41">
                <a:solidFill>
                  <a:srgbClr val="000000"/>
                </a:solidFill>
                <a:latin typeface="Poppins"/>
                <a:ea typeface="Poppins"/>
                <a:cs typeface="Poppins"/>
                <a:sym typeface="Poppins"/>
              </a:rPr>
              <a:t>y đổi chí</a:t>
            </a:r>
            <a:r>
              <a:rPr lang="en-US" sz="2082" spc="-41">
                <a:solidFill>
                  <a:srgbClr val="000000"/>
                </a:solidFill>
                <a:latin typeface="Poppins"/>
                <a:ea typeface="Poppins"/>
                <a:cs typeface="Poppins"/>
                <a:sym typeface="Poppins"/>
              </a:rPr>
              <a:t>nh: LoRA mở rộng thành toàn bộ attention block q_proj + k_proj + v_proj + o_proj</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Cấu hình rank và target layers giữ nguyên: r = 8, α = 16, layers 16–27</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Đơn giản hoá các thành phần khác để cô lập biến:</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C</a:t>
            </a:r>
            <a:r>
              <a:rPr lang="en-US" sz="2082" spc="-41">
                <a:solidFill>
                  <a:srgbClr val="000000"/>
                </a:solidFill>
                <a:latin typeface="Poppins"/>
                <a:ea typeface="Poppins"/>
                <a:cs typeface="Poppins"/>
                <a:sym typeface="Poppins"/>
              </a:rPr>
              <a:t>lassification head: linear đơn giản (hidden_size → 1) — quay lại như v1 </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Loss: BCEWithLogitsLoss — quay lại từ Focal Loss của v2–v4</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pos_weight = 1.787 giữ nguyên để bù mất cân bằng lớp</a:t>
            </a:r>
          </a:p>
        </p:txBody>
      </p:sp>
      <p:sp>
        <p:nvSpPr>
          <p:cNvPr name="TextBox 24" id="24"/>
          <p:cNvSpPr txBox="true"/>
          <p:nvPr/>
        </p:nvSpPr>
        <p:spPr>
          <a:xfrm rot="0">
            <a:off x="666778" y="5410670"/>
            <a:ext cx="1982972" cy="1154243"/>
          </a:xfrm>
          <a:prstGeom prst="rect">
            <a:avLst/>
          </a:prstGeom>
        </p:spPr>
        <p:txBody>
          <a:bodyPr anchor="t" rtlCol="false" tIns="0" lIns="0" bIns="0" rIns="0">
            <a:spAutoFit/>
          </a:bodyPr>
          <a:lstStyle/>
          <a:p>
            <a:pPr algn="ctr">
              <a:lnSpc>
                <a:spcPts val="3055"/>
              </a:lnSpc>
            </a:pPr>
            <a:r>
              <a:rPr lang="en-US" b="true" sz="2182" spc="-43">
                <a:solidFill>
                  <a:srgbClr val="FFBD59"/>
                </a:solidFill>
                <a:latin typeface="Poppins Bold"/>
                <a:ea typeface="Poppins Bold"/>
                <a:cs typeface="Poppins Bold"/>
                <a:sym typeface="Poppins Bold"/>
              </a:rPr>
              <a:t>LoRA Expanded</a:t>
            </a:r>
          </a:p>
          <a:p>
            <a:pPr algn="ctr">
              <a:lnSpc>
                <a:spcPts val="3055"/>
              </a:lnSpc>
            </a:pPr>
            <a:r>
              <a:rPr lang="en-US" b="true" sz="2182" spc="-43">
                <a:solidFill>
                  <a:srgbClr val="FFBD59"/>
                </a:solidFill>
                <a:latin typeface="Poppins Bold"/>
                <a:ea typeface="Poppins Bold"/>
                <a:cs typeface="Poppins Bold"/>
                <a:sym typeface="Poppins Bold"/>
              </a:rPr>
              <a:t>Full Attention</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5762577" y="8883677"/>
            <a:ext cx="3564204" cy="356420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051D40">
                  <a:alpha val="15686"/>
                </a:srgbClr>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812529" y="9643525"/>
            <a:ext cx="1286950" cy="128695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3877458" y="348765"/>
            <a:ext cx="14220163" cy="679935"/>
          </a:xfrm>
          <a:prstGeom prst="rect">
            <a:avLst/>
          </a:prstGeom>
        </p:spPr>
        <p:txBody>
          <a:bodyPr anchor="t" rtlCol="false" tIns="0" lIns="0" bIns="0" rIns="0">
            <a:spAutoFit/>
          </a:bodyPr>
          <a:lstStyle/>
          <a:p>
            <a:pPr algn="ctr" marL="0" indent="0" lvl="0">
              <a:lnSpc>
                <a:spcPts val="5573"/>
              </a:lnSpc>
              <a:spcBef>
                <a:spcPct val="0"/>
              </a:spcBef>
            </a:pPr>
            <a:r>
              <a:rPr lang="en-US" b="true" sz="3980">
                <a:solidFill>
                  <a:srgbClr val="000000"/>
                </a:solidFill>
                <a:latin typeface="Montserrat Bold"/>
                <a:ea typeface="Montserrat Bold"/>
                <a:cs typeface="Montserrat Bold"/>
                <a:sym typeface="Montserrat Bold"/>
              </a:rPr>
              <a:t>ENSEMBLE V5 + DEBERTA-V3-LARGE - THỬ NGHIỆM</a:t>
            </a:r>
          </a:p>
        </p:txBody>
      </p:sp>
      <p:sp>
        <p:nvSpPr>
          <p:cNvPr name="TextBox 9" id="9"/>
          <p:cNvSpPr txBox="true"/>
          <p:nvPr/>
        </p:nvSpPr>
        <p:spPr>
          <a:xfrm rot="0">
            <a:off x="10192087" y="9530740"/>
            <a:ext cx="1507522" cy="501556"/>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Poppins"/>
                <a:ea typeface="Poppins"/>
                <a:cs typeface="Poppins"/>
                <a:sym typeface="Poppins"/>
              </a:rPr>
              <a:t>Nhóm 7</a:t>
            </a:r>
          </a:p>
        </p:txBody>
      </p:sp>
      <p:sp>
        <p:nvSpPr>
          <p:cNvPr name="TextBox 10" id="10"/>
          <p:cNvSpPr txBox="true"/>
          <p:nvPr/>
        </p:nvSpPr>
        <p:spPr>
          <a:xfrm rot="0">
            <a:off x="4552455" y="1304056"/>
            <a:ext cx="12870167" cy="4032063"/>
          </a:xfrm>
          <a:prstGeom prst="rect">
            <a:avLst/>
          </a:prstGeom>
        </p:spPr>
        <p:txBody>
          <a:bodyPr anchor="t" rtlCol="false" tIns="0" lIns="0" bIns="0" rIns="0">
            <a:spAutoFit/>
          </a:bodyPr>
          <a:lstStyle/>
          <a:p>
            <a:pPr algn="just">
              <a:lnSpc>
                <a:spcPts val="3055"/>
              </a:lnSpc>
            </a:pPr>
            <a:r>
              <a:rPr lang="en-US" b="true" sz="2182" spc="-43">
                <a:solidFill>
                  <a:srgbClr val="FFBD59"/>
                </a:solidFill>
                <a:latin typeface="Poppins Bold"/>
                <a:ea typeface="Poppins Bold"/>
                <a:cs typeface="Poppins Bold"/>
                <a:sym typeface="Poppins Bold"/>
              </a:rPr>
              <a:t>Mục đích:</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Sau khi v5 đạt mức tốt nhất (0.8096), nhóm thử hướng tiếp cận khác: kết hợp v5 (mô hình đa phương thức) với một mô hình chỉ xử lý văn bản</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Lý do chọn DeBERTa-v3-large: là transformer mạnh nhất cho NLP, có khả năng hiểu ngữ nghĩa tinh tế trong caption meme — kỳ vọng bổ sung tín hiệu ngôn ngữ mà v5 có thể chưa khai thác hết</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Kiểm tra giả thuyết: liệu ensemble với một góc nhìn text-only có giúp cải thiện thêm hay không</a:t>
            </a:r>
          </a:p>
          <a:p>
            <a:pPr algn="just">
              <a:lnSpc>
                <a:spcPts val="3055"/>
              </a:lnSpc>
            </a:pPr>
            <a:r>
              <a:rPr lang="en-US" b="true" sz="2182" spc="-43">
                <a:solidFill>
                  <a:srgbClr val="FFBD59"/>
                </a:solidFill>
                <a:latin typeface="Poppins Bold"/>
                <a:ea typeface="Poppins Bold"/>
                <a:cs typeface="Poppins Bold"/>
                <a:sym typeface="Poppins Bold"/>
              </a:rPr>
              <a:t>Cách fine-tune:</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Bước 1: Fine-tune DeBERTa-v3-large riêng</a:t>
            </a:r>
            <a:r>
              <a:rPr lang="en-US" sz="2082" spc="-41">
                <a:solidFill>
                  <a:srgbClr val="000000"/>
                </a:solidFill>
                <a:latin typeface="Poppins"/>
                <a:ea typeface="Poppins"/>
                <a:cs typeface="Poppins"/>
                <a:sym typeface="Poppins"/>
              </a:rPr>
              <a:t> (435 triệu tham số) trên chỉ phầ</a:t>
            </a:r>
            <a:r>
              <a:rPr lang="en-US" sz="2082" spc="-41">
                <a:solidFill>
                  <a:srgbClr val="000000"/>
                </a:solidFill>
                <a:latin typeface="Poppins"/>
                <a:ea typeface="Poppins"/>
                <a:cs typeface="Poppins"/>
                <a:sym typeface="Poppins"/>
              </a:rPr>
              <a:t>n text của Hateful Memes — không nhìn ảnh</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Bước 2: Ensemble bằng weighted sum của 2 score: S_final = W_A · S_v5 + (1 − W_A) · S_deberta</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Bước 3: Grid search trọng số W_A trên dev set để tìm tổ hợp tối ưu</a:t>
            </a:r>
          </a:p>
        </p:txBody>
      </p:sp>
      <p:grpSp>
        <p:nvGrpSpPr>
          <p:cNvPr name="Group 11" id="11"/>
          <p:cNvGrpSpPr/>
          <p:nvPr/>
        </p:nvGrpSpPr>
        <p:grpSpPr>
          <a:xfrm rot="0">
            <a:off x="0" y="0"/>
            <a:ext cx="3835766" cy="10287000"/>
            <a:chOff x="0" y="0"/>
            <a:chExt cx="1010243" cy="2709333"/>
          </a:xfrm>
        </p:grpSpPr>
        <p:sp>
          <p:nvSpPr>
            <p:cNvPr name="Freeform 12" id="12"/>
            <p:cNvSpPr/>
            <p:nvPr/>
          </p:nvSpPr>
          <p:spPr>
            <a:xfrm flipH="false" flipV="false" rot="0">
              <a:off x="0" y="0"/>
              <a:ext cx="1010243" cy="2709333"/>
            </a:xfrm>
            <a:custGeom>
              <a:avLst/>
              <a:gdLst/>
              <a:ahLst/>
              <a:cxnLst/>
              <a:rect r="r" b="b" t="t" l="l"/>
              <a:pathLst>
                <a:path h="2709333" w="1010243">
                  <a:moveTo>
                    <a:pt x="0" y="0"/>
                  </a:moveTo>
                  <a:lnTo>
                    <a:pt x="1010243" y="0"/>
                  </a:lnTo>
                  <a:lnTo>
                    <a:pt x="1010243" y="2709333"/>
                  </a:lnTo>
                  <a:lnTo>
                    <a:pt x="0" y="2709333"/>
                  </a:lnTo>
                  <a:close/>
                </a:path>
              </a:pathLst>
            </a:custGeom>
            <a:solidFill>
              <a:srgbClr val="0C4393"/>
            </a:solidFill>
          </p:spPr>
        </p:sp>
        <p:sp>
          <p:nvSpPr>
            <p:cNvPr name="TextBox 13" id="13"/>
            <p:cNvSpPr txBox="true"/>
            <p:nvPr/>
          </p:nvSpPr>
          <p:spPr>
            <a:xfrm>
              <a:off x="0" y="-38100"/>
              <a:ext cx="1010243" cy="2747433"/>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4552455" y="5612344"/>
            <a:ext cx="12870167" cy="3271333"/>
          </a:xfrm>
          <a:prstGeom prst="rect">
            <a:avLst/>
          </a:prstGeom>
        </p:spPr>
        <p:txBody>
          <a:bodyPr anchor="t" rtlCol="false" tIns="0" lIns="0" bIns="0" rIns="0">
            <a:spAutoFit/>
          </a:bodyPr>
          <a:lstStyle/>
          <a:p>
            <a:pPr algn="just">
              <a:lnSpc>
                <a:spcPts val="2915"/>
              </a:lnSpc>
            </a:pPr>
            <a:r>
              <a:rPr lang="en-US" b="true" sz="2082" spc="-41">
                <a:solidFill>
                  <a:srgbClr val="FF3131"/>
                </a:solidFill>
                <a:latin typeface="Poppins Bold"/>
                <a:ea typeface="Poppins Bold"/>
                <a:cs typeface="Poppins Bold"/>
                <a:sym typeface="Poppins Bold"/>
              </a:rPr>
              <a:t>Hạn chế phát hiện được:</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Tương quan cao giữa 2 mô hình: DeBERTa chỉ xử lý text — vốn đã là một phần đầu vào của v5 nên hai mô hình thấy gần như cùng tín hiệu</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Thiếu diversity: ensemble truyền thống phát huy hiệu quả khi các thành phần bổ sung góc nhìn khác nhau, nhưng DeBERTa không đóng góp gì mới ngoài những gì v5 đã capture được</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Trọng số W_A = 0.99 cũng phản ánh điều này — grid search tự "loại bỏ" DeBERTa vì nó không cải thiện</a:t>
            </a:r>
          </a:p>
          <a:p>
            <a:pPr algn="just">
              <a:lnSpc>
                <a:spcPts val="2915"/>
              </a:lnSpc>
            </a:pPr>
            <a:r>
              <a:rPr lang="en-US" sz="2082" spc="-41">
                <a:solidFill>
                  <a:srgbClr val="000000"/>
                </a:solidFill>
                <a:latin typeface="Poppins"/>
                <a:ea typeface="Poppins"/>
                <a:cs typeface="Poppins"/>
                <a:sym typeface="Poppins"/>
              </a:rPr>
              <a:t>→ Nhóm quyết định không phát triển tiếp hướng ensemble này, quay lại tập trung cải tiến mô hình đơn</a:t>
            </a:r>
          </a:p>
        </p:txBody>
      </p:sp>
      <p:grpSp>
        <p:nvGrpSpPr>
          <p:cNvPr name="Group 15" id="15"/>
          <p:cNvGrpSpPr/>
          <p:nvPr/>
        </p:nvGrpSpPr>
        <p:grpSpPr>
          <a:xfrm rot="0">
            <a:off x="-2973487" y="-1169640"/>
            <a:ext cx="5946973" cy="5946973"/>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FFFFFF">
                  <a:alpha val="15686"/>
                </a:srgbClr>
              </a:solid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152505" y="5910190"/>
            <a:ext cx="5946973" cy="5946973"/>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FFFFFF">
                  <a:alpha val="15686"/>
                </a:srgbClr>
              </a:solidFill>
              <a:prstDash val="solid"/>
              <a:miter/>
            </a:ln>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5762577" y="8883677"/>
            <a:ext cx="3564204" cy="356420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051D40">
                  <a:alpha val="15686"/>
                </a:srgbClr>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7343" y="9388821"/>
            <a:ext cx="1286950" cy="128695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707704" y="1621949"/>
            <a:ext cx="15319327" cy="4374963"/>
          </a:xfrm>
          <a:prstGeom prst="rect">
            <a:avLst/>
          </a:prstGeom>
        </p:spPr>
        <p:txBody>
          <a:bodyPr anchor="t" rtlCol="false" tIns="0" lIns="0" bIns="0" rIns="0">
            <a:spAutoFit/>
          </a:bodyPr>
          <a:lstStyle/>
          <a:p>
            <a:pPr algn="just">
              <a:lnSpc>
                <a:spcPts val="3055"/>
              </a:lnSpc>
            </a:pPr>
            <a:r>
              <a:rPr lang="en-US" b="true" sz="2182" spc="-43">
                <a:solidFill>
                  <a:srgbClr val="FFBD59"/>
                </a:solidFill>
                <a:latin typeface="Poppins Bold"/>
                <a:ea typeface="Poppins Bold"/>
                <a:cs typeface="Poppins Bold"/>
                <a:sym typeface="Poppins Bold"/>
              </a:rPr>
              <a:t>Cách fine-tune:</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LoRA mở rộng mạnh: rank r = 16 (gấp đôi v5), α = 32</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Target = attention (q/k/v/o_proj) + MLP (gate/up/down_proj)</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Layers</a:t>
            </a:r>
            <a:r>
              <a:rPr lang="en-US" sz="2082" spc="-41">
                <a:solidFill>
                  <a:srgbClr val="000000"/>
                </a:solidFill>
                <a:latin typeface="Poppins"/>
                <a:ea typeface="Poppins"/>
                <a:cs typeface="Poppins"/>
                <a:sym typeface="Poppins"/>
              </a:rPr>
              <a:t> mở rộng: 12–27 (16 lớp, thay vì 16–27 = 12 lớp của v5)</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MultiScaleClassificationHead (mới): concat hidde</a:t>
            </a:r>
            <a:r>
              <a:rPr lang="en-US" sz="2082" spc="-41">
                <a:solidFill>
                  <a:srgbClr val="000000"/>
                </a:solidFill>
                <a:latin typeface="Poppins"/>
                <a:ea typeface="Poppins"/>
                <a:cs typeface="Poppins"/>
                <a:sym typeface="Poppins"/>
              </a:rPr>
              <a:t>n state từ 3 lớp khác nhau (-1, -6, -12) → vector 4608 chiều → MLP (512 → 128 → 1) với LayerNorm + Dropout</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Asymmetric Loss (ASL) thay BCE: γ⁻ = 4, γ⁺ = 1, clip = 0.05 — focus vào mẫu hateful khó, bỏ qua mẫu benign dễ</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WeightedRandomSampler: đảm bảo mỗi batch thấy cả 2 lớp với tần suất cân bằng</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Cosine LR schedule + warmup 20% để hội tụ ổn định</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Stochastic Weight Averaging (SWA): trung bình trọng số 4 epoch cuối → minima rộng, generalize tốt</a:t>
            </a:r>
          </a:p>
          <a:p>
            <a:pPr algn="just" marL="449583" indent="-224792" lvl="1">
              <a:lnSpc>
                <a:spcPts val="2915"/>
              </a:lnSpc>
              <a:buFont typeface="Arial"/>
              <a:buChar char="•"/>
            </a:pPr>
            <a:r>
              <a:rPr lang="en-US" sz="2082" spc="-41">
                <a:solidFill>
                  <a:srgbClr val="000000"/>
                </a:solidFill>
                <a:latin typeface="Poppins"/>
                <a:ea typeface="Poppins"/>
                <a:cs typeface="Poppins"/>
                <a:sym typeface="Poppins"/>
              </a:rPr>
              <a:t>Test-Time Augmentation (TTA) ở inference: 4 views (gốc, lật ngang, brightness ×0.9, brightness ×1.1) → average sigmoid score</a:t>
            </a:r>
          </a:p>
        </p:txBody>
      </p:sp>
      <p:grpSp>
        <p:nvGrpSpPr>
          <p:cNvPr name="Group 9" id="9"/>
          <p:cNvGrpSpPr/>
          <p:nvPr/>
        </p:nvGrpSpPr>
        <p:grpSpPr>
          <a:xfrm rot="0">
            <a:off x="13117512" y="-1177283"/>
            <a:ext cx="10072965" cy="13087831"/>
            <a:chOff x="0" y="0"/>
            <a:chExt cx="13430620" cy="17450441"/>
          </a:xfrm>
        </p:grpSpPr>
        <p:grpSp>
          <p:nvGrpSpPr>
            <p:cNvPr name="Group 10" id="10"/>
            <p:cNvGrpSpPr/>
            <p:nvPr/>
          </p:nvGrpSpPr>
          <p:grpSpPr>
            <a:xfrm rot="0">
              <a:off x="3964649" y="1566826"/>
              <a:ext cx="5114354" cy="13780257"/>
              <a:chOff x="0" y="0"/>
              <a:chExt cx="1010243" cy="2722026"/>
            </a:xfrm>
          </p:grpSpPr>
          <p:sp>
            <p:nvSpPr>
              <p:cNvPr name="Freeform 11" id="11"/>
              <p:cNvSpPr/>
              <p:nvPr/>
            </p:nvSpPr>
            <p:spPr>
              <a:xfrm flipH="false" flipV="false" rot="0">
                <a:off x="0" y="0"/>
                <a:ext cx="1010243" cy="2722026"/>
              </a:xfrm>
              <a:custGeom>
                <a:avLst/>
                <a:gdLst/>
                <a:ahLst/>
                <a:cxnLst/>
                <a:rect r="r" b="b" t="t" l="l"/>
                <a:pathLst>
                  <a:path h="2722026" w="1010243">
                    <a:moveTo>
                      <a:pt x="0" y="0"/>
                    </a:moveTo>
                    <a:lnTo>
                      <a:pt x="1010243" y="0"/>
                    </a:lnTo>
                    <a:lnTo>
                      <a:pt x="1010243" y="2722026"/>
                    </a:lnTo>
                    <a:lnTo>
                      <a:pt x="0" y="2722026"/>
                    </a:lnTo>
                    <a:close/>
                  </a:path>
                </a:pathLst>
              </a:custGeom>
              <a:solidFill>
                <a:srgbClr val="0C4393"/>
              </a:solidFill>
            </p:spPr>
          </p:sp>
          <p:sp>
            <p:nvSpPr>
              <p:cNvPr name="TextBox 12" id="12"/>
              <p:cNvSpPr txBox="true"/>
              <p:nvPr/>
            </p:nvSpPr>
            <p:spPr>
              <a:xfrm>
                <a:off x="0" y="-38100"/>
                <a:ext cx="1010243" cy="276012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0" y="0"/>
              <a:ext cx="7929298" cy="7966445"/>
              <a:chOff x="0" y="0"/>
              <a:chExt cx="812800" cy="816608"/>
            </a:xfrm>
          </p:grpSpPr>
          <p:sp>
            <p:nvSpPr>
              <p:cNvPr name="Freeform 14" id="14"/>
              <p:cNvSpPr/>
              <p:nvPr/>
            </p:nvSpPr>
            <p:spPr>
              <a:xfrm flipH="false" flipV="false" rot="0">
                <a:off x="0" y="0"/>
                <a:ext cx="812800" cy="816608"/>
              </a:xfrm>
              <a:custGeom>
                <a:avLst/>
                <a:gdLst/>
                <a:ahLst/>
                <a:cxnLst/>
                <a:rect r="r" b="b" t="t" l="l"/>
                <a:pathLst>
                  <a:path h="816608" w="812800">
                    <a:moveTo>
                      <a:pt x="406400" y="0"/>
                    </a:moveTo>
                    <a:cubicBezTo>
                      <a:pt x="181951" y="0"/>
                      <a:pt x="0" y="182804"/>
                      <a:pt x="0" y="408304"/>
                    </a:cubicBezTo>
                    <a:cubicBezTo>
                      <a:pt x="0" y="633804"/>
                      <a:pt x="181951" y="816608"/>
                      <a:pt x="406400" y="816608"/>
                    </a:cubicBezTo>
                    <a:cubicBezTo>
                      <a:pt x="630849" y="816608"/>
                      <a:pt x="812800" y="633804"/>
                      <a:pt x="812800" y="408304"/>
                    </a:cubicBezTo>
                    <a:cubicBezTo>
                      <a:pt x="812800" y="182804"/>
                      <a:pt x="630849" y="0"/>
                      <a:pt x="406400" y="0"/>
                    </a:cubicBezTo>
                    <a:close/>
                  </a:path>
                </a:pathLst>
              </a:custGeom>
              <a:ln w="952500" cap="sq">
                <a:solidFill>
                  <a:srgbClr val="FFFFFF">
                    <a:alpha val="15686"/>
                  </a:srgbClr>
                </a:solidFill>
                <a:prstDash val="solid"/>
                <a:miter/>
              </a:ln>
            </p:spPr>
          </p:sp>
          <p:sp>
            <p:nvSpPr>
              <p:cNvPr name="TextBox 15" id="15"/>
              <p:cNvSpPr txBox="true"/>
              <p:nvPr/>
            </p:nvSpPr>
            <p:spPr>
              <a:xfrm>
                <a:off x="76200" y="38457"/>
                <a:ext cx="660400" cy="701594"/>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5501323" y="9483997"/>
              <a:ext cx="7929298" cy="7966445"/>
              <a:chOff x="0" y="0"/>
              <a:chExt cx="812800" cy="816608"/>
            </a:xfrm>
          </p:grpSpPr>
          <p:sp>
            <p:nvSpPr>
              <p:cNvPr name="Freeform 17" id="17"/>
              <p:cNvSpPr/>
              <p:nvPr/>
            </p:nvSpPr>
            <p:spPr>
              <a:xfrm flipH="false" flipV="false" rot="0">
                <a:off x="0" y="0"/>
                <a:ext cx="812800" cy="816608"/>
              </a:xfrm>
              <a:custGeom>
                <a:avLst/>
                <a:gdLst/>
                <a:ahLst/>
                <a:cxnLst/>
                <a:rect r="r" b="b" t="t" l="l"/>
                <a:pathLst>
                  <a:path h="816608" w="812800">
                    <a:moveTo>
                      <a:pt x="406400" y="0"/>
                    </a:moveTo>
                    <a:cubicBezTo>
                      <a:pt x="181951" y="0"/>
                      <a:pt x="0" y="182804"/>
                      <a:pt x="0" y="408304"/>
                    </a:cubicBezTo>
                    <a:cubicBezTo>
                      <a:pt x="0" y="633804"/>
                      <a:pt x="181951" y="816608"/>
                      <a:pt x="406400" y="816608"/>
                    </a:cubicBezTo>
                    <a:cubicBezTo>
                      <a:pt x="630849" y="816608"/>
                      <a:pt x="812800" y="633804"/>
                      <a:pt x="812800" y="408304"/>
                    </a:cubicBezTo>
                    <a:cubicBezTo>
                      <a:pt x="812800" y="182804"/>
                      <a:pt x="630849" y="0"/>
                      <a:pt x="406400" y="0"/>
                    </a:cubicBezTo>
                    <a:close/>
                  </a:path>
                </a:pathLst>
              </a:custGeom>
              <a:ln w="952500" cap="sq">
                <a:solidFill>
                  <a:srgbClr val="FFFFFF">
                    <a:alpha val="15686"/>
                  </a:srgbClr>
                </a:solidFill>
                <a:prstDash val="solid"/>
                <a:miter/>
              </a:ln>
            </p:spPr>
          </p:sp>
          <p:sp>
            <p:nvSpPr>
              <p:cNvPr name="TextBox 18" id="18"/>
              <p:cNvSpPr txBox="true"/>
              <p:nvPr/>
            </p:nvSpPr>
            <p:spPr>
              <a:xfrm>
                <a:off x="76200" y="38457"/>
                <a:ext cx="660400" cy="701594"/>
              </a:xfrm>
              <a:prstGeom prst="rect">
                <a:avLst/>
              </a:prstGeom>
            </p:spPr>
            <p:txBody>
              <a:bodyPr anchor="ctr" rtlCol="false" tIns="50800" lIns="50800" bIns="50800" rIns="50800"/>
              <a:lstStyle/>
              <a:p>
                <a:pPr algn="ctr">
                  <a:lnSpc>
                    <a:spcPts val="2659"/>
                  </a:lnSpc>
                  <a:spcBef>
                    <a:spcPct val="0"/>
                  </a:spcBef>
                </a:pPr>
              </a:p>
            </p:txBody>
          </p:sp>
        </p:grpSp>
      </p:grpSp>
      <p:sp>
        <p:nvSpPr>
          <p:cNvPr name="Freeform 19" id="19"/>
          <p:cNvSpPr/>
          <p:nvPr/>
        </p:nvSpPr>
        <p:spPr>
          <a:xfrm flipH="false" flipV="false" rot="0">
            <a:off x="2775851" y="5996912"/>
            <a:ext cx="11183033" cy="4010105"/>
          </a:xfrm>
          <a:custGeom>
            <a:avLst/>
            <a:gdLst/>
            <a:ahLst/>
            <a:cxnLst/>
            <a:rect r="r" b="b" t="t" l="l"/>
            <a:pathLst>
              <a:path h="4010105" w="11183033">
                <a:moveTo>
                  <a:pt x="0" y="0"/>
                </a:moveTo>
                <a:lnTo>
                  <a:pt x="11183032" y="0"/>
                </a:lnTo>
                <a:lnTo>
                  <a:pt x="11183032" y="4010104"/>
                </a:lnTo>
                <a:lnTo>
                  <a:pt x="0" y="4010104"/>
                </a:lnTo>
                <a:lnTo>
                  <a:pt x="0" y="0"/>
                </a:lnTo>
                <a:close/>
              </a:path>
            </a:pathLst>
          </a:custGeom>
          <a:blipFill>
            <a:blip r:embed="rId2"/>
            <a:stretch>
              <a:fillRect l="0" t="-25364" r="0" b="0"/>
            </a:stretch>
          </a:blipFill>
        </p:spPr>
      </p:sp>
      <p:sp>
        <p:nvSpPr>
          <p:cNvPr name="TextBox 20" id="20"/>
          <p:cNvSpPr txBox="true"/>
          <p:nvPr/>
        </p:nvSpPr>
        <p:spPr>
          <a:xfrm rot="0">
            <a:off x="0" y="348288"/>
            <a:ext cx="7863842" cy="679935"/>
          </a:xfrm>
          <a:prstGeom prst="rect">
            <a:avLst/>
          </a:prstGeom>
        </p:spPr>
        <p:txBody>
          <a:bodyPr anchor="t" rtlCol="false" tIns="0" lIns="0" bIns="0" rIns="0">
            <a:spAutoFit/>
          </a:bodyPr>
          <a:lstStyle/>
          <a:p>
            <a:pPr algn="ctr" marL="0" indent="0" lvl="0">
              <a:lnSpc>
                <a:spcPts val="5573"/>
              </a:lnSpc>
              <a:spcBef>
                <a:spcPct val="0"/>
              </a:spcBef>
            </a:pPr>
            <a:r>
              <a:rPr lang="en-US" b="true" sz="3980">
                <a:solidFill>
                  <a:srgbClr val="000000"/>
                </a:solidFill>
                <a:latin typeface="Montserrat Bold"/>
                <a:ea typeface="Montserrat Bold"/>
                <a:cs typeface="Montserrat Bold"/>
                <a:sym typeface="Montserrat Bold"/>
              </a:rPr>
              <a:t>FINETUNE QWEN2-VL-2B V6</a:t>
            </a:r>
          </a:p>
        </p:txBody>
      </p:sp>
      <p:sp>
        <p:nvSpPr>
          <p:cNvPr name="TextBox 21" id="21"/>
          <p:cNvSpPr txBox="true"/>
          <p:nvPr/>
        </p:nvSpPr>
        <p:spPr>
          <a:xfrm rot="0">
            <a:off x="14519509" y="130847"/>
            <a:ext cx="1507522" cy="501556"/>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Poppins"/>
                <a:ea typeface="Poppins"/>
                <a:cs typeface="Poppins"/>
                <a:sym typeface="Poppins"/>
              </a:rPr>
              <a:t>Nhóm 7</a:t>
            </a:r>
          </a:p>
        </p:txBody>
      </p:sp>
      <p:sp>
        <p:nvSpPr>
          <p:cNvPr name="TextBox 22" id="22"/>
          <p:cNvSpPr txBox="true"/>
          <p:nvPr/>
        </p:nvSpPr>
        <p:spPr>
          <a:xfrm rot="0">
            <a:off x="443250" y="1132998"/>
            <a:ext cx="4916210" cy="412750"/>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Montserrat"/>
                <a:ea typeface="Montserrat"/>
                <a:cs typeface="Montserrat"/>
                <a:sym typeface="Montserrat"/>
              </a:rPr>
              <a:t>MultiScale + ASL + SWA + TTA</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3695096" y="9388821"/>
            <a:ext cx="3564204" cy="356420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051D40">
                  <a:alpha val="15686"/>
                </a:srgbClr>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7343" y="9388821"/>
            <a:ext cx="1286950" cy="128695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4012587" y="-1218334"/>
            <a:ext cx="10072965" cy="13087831"/>
            <a:chOff x="0" y="0"/>
            <a:chExt cx="13430620" cy="17450441"/>
          </a:xfrm>
        </p:grpSpPr>
        <p:grpSp>
          <p:nvGrpSpPr>
            <p:cNvPr name="Group 9" id="9"/>
            <p:cNvGrpSpPr/>
            <p:nvPr/>
          </p:nvGrpSpPr>
          <p:grpSpPr>
            <a:xfrm rot="0">
              <a:off x="3964649" y="1566826"/>
              <a:ext cx="5114354" cy="13780257"/>
              <a:chOff x="0" y="0"/>
              <a:chExt cx="1010243" cy="2722026"/>
            </a:xfrm>
          </p:grpSpPr>
          <p:sp>
            <p:nvSpPr>
              <p:cNvPr name="Freeform 10" id="10"/>
              <p:cNvSpPr/>
              <p:nvPr/>
            </p:nvSpPr>
            <p:spPr>
              <a:xfrm flipH="false" flipV="false" rot="0">
                <a:off x="0" y="0"/>
                <a:ext cx="1010243" cy="2722026"/>
              </a:xfrm>
              <a:custGeom>
                <a:avLst/>
                <a:gdLst/>
                <a:ahLst/>
                <a:cxnLst/>
                <a:rect r="r" b="b" t="t" l="l"/>
                <a:pathLst>
                  <a:path h="2722026" w="1010243">
                    <a:moveTo>
                      <a:pt x="0" y="0"/>
                    </a:moveTo>
                    <a:lnTo>
                      <a:pt x="1010243" y="0"/>
                    </a:lnTo>
                    <a:lnTo>
                      <a:pt x="1010243" y="2722026"/>
                    </a:lnTo>
                    <a:lnTo>
                      <a:pt x="0" y="2722026"/>
                    </a:lnTo>
                    <a:close/>
                  </a:path>
                </a:pathLst>
              </a:custGeom>
              <a:solidFill>
                <a:srgbClr val="0C4393"/>
              </a:solidFill>
            </p:spPr>
          </p:sp>
          <p:sp>
            <p:nvSpPr>
              <p:cNvPr name="TextBox 11" id="11"/>
              <p:cNvSpPr txBox="true"/>
              <p:nvPr/>
            </p:nvSpPr>
            <p:spPr>
              <a:xfrm>
                <a:off x="0" y="-38100"/>
                <a:ext cx="1010243" cy="2760126"/>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0" y="0"/>
              <a:ext cx="7929298" cy="7966445"/>
              <a:chOff x="0" y="0"/>
              <a:chExt cx="812800" cy="816608"/>
            </a:xfrm>
          </p:grpSpPr>
          <p:sp>
            <p:nvSpPr>
              <p:cNvPr name="Freeform 13" id="13"/>
              <p:cNvSpPr/>
              <p:nvPr/>
            </p:nvSpPr>
            <p:spPr>
              <a:xfrm flipH="false" flipV="false" rot="0">
                <a:off x="0" y="0"/>
                <a:ext cx="812800" cy="816608"/>
              </a:xfrm>
              <a:custGeom>
                <a:avLst/>
                <a:gdLst/>
                <a:ahLst/>
                <a:cxnLst/>
                <a:rect r="r" b="b" t="t" l="l"/>
                <a:pathLst>
                  <a:path h="816608" w="812800">
                    <a:moveTo>
                      <a:pt x="406400" y="0"/>
                    </a:moveTo>
                    <a:cubicBezTo>
                      <a:pt x="181951" y="0"/>
                      <a:pt x="0" y="182804"/>
                      <a:pt x="0" y="408304"/>
                    </a:cubicBezTo>
                    <a:cubicBezTo>
                      <a:pt x="0" y="633804"/>
                      <a:pt x="181951" y="816608"/>
                      <a:pt x="406400" y="816608"/>
                    </a:cubicBezTo>
                    <a:cubicBezTo>
                      <a:pt x="630849" y="816608"/>
                      <a:pt x="812800" y="633804"/>
                      <a:pt x="812800" y="408304"/>
                    </a:cubicBezTo>
                    <a:cubicBezTo>
                      <a:pt x="812800" y="182804"/>
                      <a:pt x="630849" y="0"/>
                      <a:pt x="406400" y="0"/>
                    </a:cubicBezTo>
                    <a:close/>
                  </a:path>
                </a:pathLst>
              </a:custGeom>
              <a:ln w="952500" cap="sq">
                <a:solidFill>
                  <a:srgbClr val="FFFFFF">
                    <a:alpha val="15686"/>
                  </a:srgbClr>
                </a:solidFill>
                <a:prstDash val="solid"/>
                <a:miter/>
              </a:ln>
            </p:spPr>
          </p:sp>
          <p:sp>
            <p:nvSpPr>
              <p:cNvPr name="TextBox 14" id="14"/>
              <p:cNvSpPr txBox="true"/>
              <p:nvPr/>
            </p:nvSpPr>
            <p:spPr>
              <a:xfrm>
                <a:off x="76200" y="38457"/>
                <a:ext cx="660400" cy="701594"/>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5501323" y="9483997"/>
              <a:ext cx="7929298" cy="7966445"/>
              <a:chOff x="0" y="0"/>
              <a:chExt cx="812800" cy="816608"/>
            </a:xfrm>
          </p:grpSpPr>
          <p:sp>
            <p:nvSpPr>
              <p:cNvPr name="Freeform 16" id="16"/>
              <p:cNvSpPr/>
              <p:nvPr/>
            </p:nvSpPr>
            <p:spPr>
              <a:xfrm flipH="false" flipV="false" rot="0">
                <a:off x="0" y="0"/>
                <a:ext cx="812800" cy="816608"/>
              </a:xfrm>
              <a:custGeom>
                <a:avLst/>
                <a:gdLst/>
                <a:ahLst/>
                <a:cxnLst/>
                <a:rect r="r" b="b" t="t" l="l"/>
                <a:pathLst>
                  <a:path h="816608" w="812800">
                    <a:moveTo>
                      <a:pt x="406400" y="0"/>
                    </a:moveTo>
                    <a:cubicBezTo>
                      <a:pt x="181951" y="0"/>
                      <a:pt x="0" y="182804"/>
                      <a:pt x="0" y="408304"/>
                    </a:cubicBezTo>
                    <a:cubicBezTo>
                      <a:pt x="0" y="633804"/>
                      <a:pt x="181951" y="816608"/>
                      <a:pt x="406400" y="816608"/>
                    </a:cubicBezTo>
                    <a:cubicBezTo>
                      <a:pt x="630849" y="816608"/>
                      <a:pt x="812800" y="633804"/>
                      <a:pt x="812800" y="408304"/>
                    </a:cubicBezTo>
                    <a:cubicBezTo>
                      <a:pt x="812800" y="182804"/>
                      <a:pt x="630849" y="0"/>
                      <a:pt x="406400" y="0"/>
                    </a:cubicBezTo>
                    <a:close/>
                  </a:path>
                </a:pathLst>
              </a:custGeom>
              <a:ln w="952500" cap="sq">
                <a:solidFill>
                  <a:srgbClr val="FFFFFF">
                    <a:alpha val="15686"/>
                  </a:srgbClr>
                </a:solidFill>
                <a:prstDash val="solid"/>
                <a:miter/>
              </a:ln>
            </p:spPr>
          </p:sp>
          <p:sp>
            <p:nvSpPr>
              <p:cNvPr name="TextBox 17" id="17"/>
              <p:cNvSpPr txBox="true"/>
              <p:nvPr/>
            </p:nvSpPr>
            <p:spPr>
              <a:xfrm>
                <a:off x="76200" y="38457"/>
                <a:ext cx="660400" cy="701594"/>
              </a:xfrm>
              <a:prstGeom prst="rect">
                <a:avLst/>
              </a:prstGeom>
            </p:spPr>
            <p:txBody>
              <a:bodyPr anchor="ctr" rtlCol="false" tIns="50800" lIns="50800" bIns="50800" rIns="50800"/>
              <a:lstStyle/>
              <a:p>
                <a:pPr algn="ctr">
                  <a:lnSpc>
                    <a:spcPts val="2659"/>
                  </a:lnSpc>
                  <a:spcBef>
                    <a:spcPct val="0"/>
                  </a:spcBef>
                </a:pPr>
              </a:p>
            </p:txBody>
          </p:sp>
        </p:grpSp>
      </p:grpSp>
      <p:sp>
        <p:nvSpPr>
          <p:cNvPr name="Freeform 18" id="18"/>
          <p:cNvSpPr/>
          <p:nvPr/>
        </p:nvSpPr>
        <p:spPr>
          <a:xfrm flipH="false" flipV="false" rot="0">
            <a:off x="276178" y="1836226"/>
            <a:ext cx="16182379" cy="6614547"/>
          </a:xfrm>
          <a:custGeom>
            <a:avLst/>
            <a:gdLst/>
            <a:ahLst/>
            <a:cxnLst/>
            <a:rect r="r" b="b" t="t" l="l"/>
            <a:pathLst>
              <a:path h="6614547" w="16182379">
                <a:moveTo>
                  <a:pt x="0" y="0"/>
                </a:moveTo>
                <a:lnTo>
                  <a:pt x="16182379" y="0"/>
                </a:lnTo>
                <a:lnTo>
                  <a:pt x="16182379" y="6614548"/>
                </a:lnTo>
                <a:lnTo>
                  <a:pt x="0" y="6614548"/>
                </a:lnTo>
                <a:lnTo>
                  <a:pt x="0" y="0"/>
                </a:lnTo>
                <a:close/>
              </a:path>
            </a:pathLst>
          </a:custGeom>
          <a:blipFill>
            <a:blip r:embed="rId2"/>
            <a:stretch>
              <a:fillRect l="0" t="0" r="0" b="0"/>
            </a:stretch>
          </a:blipFill>
        </p:spPr>
      </p:sp>
      <p:sp>
        <p:nvSpPr>
          <p:cNvPr name="TextBox 19" id="19"/>
          <p:cNvSpPr txBox="true"/>
          <p:nvPr/>
        </p:nvSpPr>
        <p:spPr>
          <a:xfrm rot="0">
            <a:off x="5648037" y="550302"/>
            <a:ext cx="6946182" cy="861546"/>
          </a:xfrm>
          <a:prstGeom prst="rect">
            <a:avLst/>
          </a:prstGeom>
        </p:spPr>
        <p:txBody>
          <a:bodyPr anchor="t" rtlCol="false" tIns="0" lIns="0" bIns="0" rIns="0">
            <a:spAutoFit/>
          </a:bodyPr>
          <a:lstStyle/>
          <a:p>
            <a:pPr algn="ctr" marL="0" indent="0" lvl="0">
              <a:lnSpc>
                <a:spcPts val="7113"/>
              </a:lnSpc>
              <a:spcBef>
                <a:spcPct val="0"/>
              </a:spcBef>
            </a:pPr>
            <a:r>
              <a:rPr lang="en-US" b="true" sz="5080">
                <a:solidFill>
                  <a:srgbClr val="000000"/>
                </a:solidFill>
                <a:latin typeface="Montserrat Bold"/>
                <a:ea typeface="Montserrat Bold"/>
                <a:cs typeface="Montserrat Bold"/>
                <a:sym typeface="Montserrat Bold"/>
              </a:rPr>
              <a:t>KẾT QUẢ FINETUNE</a:t>
            </a:r>
          </a:p>
        </p:txBody>
      </p:sp>
      <p:sp>
        <p:nvSpPr>
          <p:cNvPr name="TextBox 20" id="20"/>
          <p:cNvSpPr txBox="true"/>
          <p:nvPr/>
        </p:nvSpPr>
        <p:spPr>
          <a:xfrm rot="0">
            <a:off x="7613606" y="9530740"/>
            <a:ext cx="1507522" cy="501556"/>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Poppins"/>
                <a:ea typeface="Poppins"/>
                <a:cs typeface="Poppins"/>
                <a:sym typeface="Poppins"/>
              </a:rPr>
              <a:t>Nhóm 7</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3695096" y="9388821"/>
            <a:ext cx="3564204" cy="356420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051D40">
                  <a:alpha val="15686"/>
                </a:srgbClr>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7343" y="9388821"/>
            <a:ext cx="1286950" cy="128695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4012587" y="-1218334"/>
            <a:ext cx="10072965" cy="13087831"/>
            <a:chOff x="0" y="0"/>
            <a:chExt cx="13430620" cy="17450441"/>
          </a:xfrm>
        </p:grpSpPr>
        <p:grpSp>
          <p:nvGrpSpPr>
            <p:cNvPr name="Group 9" id="9"/>
            <p:cNvGrpSpPr/>
            <p:nvPr/>
          </p:nvGrpSpPr>
          <p:grpSpPr>
            <a:xfrm rot="0">
              <a:off x="3964649" y="1566826"/>
              <a:ext cx="5114354" cy="13780257"/>
              <a:chOff x="0" y="0"/>
              <a:chExt cx="1010243" cy="2722026"/>
            </a:xfrm>
          </p:grpSpPr>
          <p:sp>
            <p:nvSpPr>
              <p:cNvPr name="Freeform 10" id="10"/>
              <p:cNvSpPr/>
              <p:nvPr/>
            </p:nvSpPr>
            <p:spPr>
              <a:xfrm flipH="false" flipV="false" rot="0">
                <a:off x="0" y="0"/>
                <a:ext cx="1010243" cy="2722026"/>
              </a:xfrm>
              <a:custGeom>
                <a:avLst/>
                <a:gdLst/>
                <a:ahLst/>
                <a:cxnLst/>
                <a:rect r="r" b="b" t="t" l="l"/>
                <a:pathLst>
                  <a:path h="2722026" w="1010243">
                    <a:moveTo>
                      <a:pt x="0" y="0"/>
                    </a:moveTo>
                    <a:lnTo>
                      <a:pt x="1010243" y="0"/>
                    </a:lnTo>
                    <a:lnTo>
                      <a:pt x="1010243" y="2722026"/>
                    </a:lnTo>
                    <a:lnTo>
                      <a:pt x="0" y="2722026"/>
                    </a:lnTo>
                    <a:close/>
                  </a:path>
                </a:pathLst>
              </a:custGeom>
              <a:solidFill>
                <a:srgbClr val="0C4393"/>
              </a:solidFill>
            </p:spPr>
          </p:sp>
          <p:sp>
            <p:nvSpPr>
              <p:cNvPr name="TextBox 11" id="11"/>
              <p:cNvSpPr txBox="true"/>
              <p:nvPr/>
            </p:nvSpPr>
            <p:spPr>
              <a:xfrm>
                <a:off x="0" y="-38100"/>
                <a:ext cx="1010243" cy="2760126"/>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0" y="0"/>
              <a:ext cx="7929298" cy="7966445"/>
              <a:chOff x="0" y="0"/>
              <a:chExt cx="812800" cy="816608"/>
            </a:xfrm>
          </p:grpSpPr>
          <p:sp>
            <p:nvSpPr>
              <p:cNvPr name="Freeform 13" id="13"/>
              <p:cNvSpPr/>
              <p:nvPr/>
            </p:nvSpPr>
            <p:spPr>
              <a:xfrm flipH="false" flipV="false" rot="0">
                <a:off x="0" y="0"/>
                <a:ext cx="812800" cy="816608"/>
              </a:xfrm>
              <a:custGeom>
                <a:avLst/>
                <a:gdLst/>
                <a:ahLst/>
                <a:cxnLst/>
                <a:rect r="r" b="b" t="t" l="l"/>
                <a:pathLst>
                  <a:path h="816608" w="812800">
                    <a:moveTo>
                      <a:pt x="406400" y="0"/>
                    </a:moveTo>
                    <a:cubicBezTo>
                      <a:pt x="181951" y="0"/>
                      <a:pt x="0" y="182804"/>
                      <a:pt x="0" y="408304"/>
                    </a:cubicBezTo>
                    <a:cubicBezTo>
                      <a:pt x="0" y="633804"/>
                      <a:pt x="181951" y="816608"/>
                      <a:pt x="406400" y="816608"/>
                    </a:cubicBezTo>
                    <a:cubicBezTo>
                      <a:pt x="630849" y="816608"/>
                      <a:pt x="812800" y="633804"/>
                      <a:pt x="812800" y="408304"/>
                    </a:cubicBezTo>
                    <a:cubicBezTo>
                      <a:pt x="812800" y="182804"/>
                      <a:pt x="630849" y="0"/>
                      <a:pt x="406400" y="0"/>
                    </a:cubicBezTo>
                    <a:close/>
                  </a:path>
                </a:pathLst>
              </a:custGeom>
              <a:ln w="952500" cap="sq">
                <a:solidFill>
                  <a:srgbClr val="FFFFFF">
                    <a:alpha val="15686"/>
                  </a:srgbClr>
                </a:solidFill>
                <a:prstDash val="solid"/>
                <a:miter/>
              </a:ln>
            </p:spPr>
          </p:sp>
          <p:sp>
            <p:nvSpPr>
              <p:cNvPr name="TextBox 14" id="14"/>
              <p:cNvSpPr txBox="true"/>
              <p:nvPr/>
            </p:nvSpPr>
            <p:spPr>
              <a:xfrm>
                <a:off x="76200" y="38457"/>
                <a:ext cx="660400" cy="701594"/>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5501323" y="9483997"/>
              <a:ext cx="7929298" cy="7966445"/>
              <a:chOff x="0" y="0"/>
              <a:chExt cx="812800" cy="816608"/>
            </a:xfrm>
          </p:grpSpPr>
          <p:sp>
            <p:nvSpPr>
              <p:cNvPr name="Freeform 16" id="16"/>
              <p:cNvSpPr/>
              <p:nvPr/>
            </p:nvSpPr>
            <p:spPr>
              <a:xfrm flipH="false" flipV="false" rot="0">
                <a:off x="0" y="0"/>
                <a:ext cx="812800" cy="816608"/>
              </a:xfrm>
              <a:custGeom>
                <a:avLst/>
                <a:gdLst/>
                <a:ahLst/>
                <a:cxnLst/>
                <a:rect r="r" b="b" t="t" l="l"/>
                <a:pathLst>
                  <a:path h="816608" w="812800">
                    <a:moveTo>
                      <a:pt x="406400" y="0"/>
                    </a:moveTo>
                    <a:cubicBezTo>
                      <a:pt x="181951" y="0"/>
                      <a:pt x="0" y="182804"/>
                      <a:pt x="0" y="408304"/>
                    </a:cubicBezTo>
                    <a:cubicBezTo>
                      <a:pt x="0" y="633804"/>
                      <a:pt x="181951" y="816608"/>
                      <a:pt x="406400" y="816608"/>
                    </a:cubicBezTo>
                    <a:cubicBezTo>
                      <a:pt x="630849" y="816608"/>
                      <a:pt x="812800" y="633804"/>
                      <a:pt x="812800" y="408304"/>
                    </a:cubicBezTo>
                    <a:cubicBezTo>
                      <a:pt x="812800" y="182804"/>
                      <a:pt x="630849" y="0"/>
                      <a:pt x="406400" y="0"/>
                    </a:cubicBezTo>
                    <a:close/>
                  </a:path>
                </a:pathLst>
              </a:custGeom>
              <a:ln w="952500" cap="sq">
                <a:solidFill>
                  <a:srgbClr val="FFFFFF">
                    <a:alpha val="15686"/>
                  </a:srgbClr>
                </a:solidFill>
                <a:prstDash val="solid"/>
                <a:miter/>
              </a:ln>
            </p:spPr>
          </p:sp>
          <p:sp>
            <p:nvSpPr>
              <p:cNvPr name="TextBox 17" id="17"/>
              <p:cNvSpPr txBox="true"/>
              <p:nvPr/>
            </p:nvSpPr>
            <p:spPr>
              <a:xfrm>
                <a:off x="76200" y="38457"/>
                <a:ext cx="660400" cy="701594"/>
              </a:xfrm>
              <a:prstGeom prst="rect">
                <a:avLst/>
              </a:prstGeom>
            </p:spPr>
            <p:txBody>
              <a:bodyPr anchor="ctr" rtlCol="false" tIns="50800" lIns="50800" bIns="50800" rIns="50800"/>
              <a:lstStyle/>
              <a:p>
                <a:pPr algn="ctr">
                  <a:lnSpc>
                    <a:spcPts val="2659"/>
                  </a:lnSpc>
                  <a:spcBef>
                    <a:spcPct val="0"/>
                  </a:spcBef>
                </a:pPr>
              </a:p>
            </p:txBody>
          </p:sp>
        </p:grpSp>
      </p:grpSp>
      <p:sp>
        <p:nvSpPr>
          <p:cNvPr name="Freeform 18" id="18"/>
          <p:cNvSpPr/>
          <p:nvPr/>
        </p:nvSpPr>
        <p:spPr>
          <a:xfrm flipH="false" flipV="false" rot="0">
            <a:off x="236132" y="2492990"/>
            <a:ext cx="16828632" cy="5301019"/>
          </a:xfrm>
          <a:custGeom>
            <a:avLst/>
            <a:gdLst/>
            <a:ahLst/>
            <a:cxnLst/>
            <a:rect r="r" b="b" t="t" l="l"/>
            <a:pathLst>
              <a:path h="5301019" w="16828632">
                <a:moveTo>
                  <a:pt x="0" y="0"/>
                </a:moveTo>
                <a:lnTo>
                  <a:pt x="16828632" y="0"/>
                </a:lnTo>
                <a:lnTo>
                  <a:pt x="16828632" y="5301020"/>
                </a:lnTo>
                <a:lnTo>
                  <a:pt x="0" y="5301020"/>
                </a:lnTo>
                <a:lnTo>
                  <a:pt x="0" y="0"/>
                </a:lnTo>
                <a:close/>
              </a:path>
            </a:pathLst>
          </a:custGeom>
          <a:blipFill>
            <a:blip r:embed="rId2"/>
            <a:stretch>
              <a:fillRect l="0" t="0" r="0" b="0"/>
            </a:stretch>
          </a:blipFill>
        </p:spPr>
      </p:sp>
      <p:sp>
        <p:nvSpPr>
          <p:cNvPr name="TextBox 19" id="19"/>
          <p:cNvSpPr txBox="true"/>
          <p:nvPr/>
        </p:nvSpPr>
        <p:spPr>
          <a:xfrm rot="0">
            <a:off x="5678550" y="933450"/>
            <a:ext cx="6885155" cy="861546"/>
          </a:xfrm>
          <a:prstGeom prst="rect">
            <a:avLst/>
          </a:prstGeom>
        </p:spPr>
        <p:txBody>
          <a:bodyPr anchor="t" rtlCol="false" tIns="0" lIns="0" bIns="0" rIns="0">
            <a:spAutoFit/>
          </a:bodyPr>
          <a:lstStyle/>
          <a:p>
            <a:pPr algn="ctr" marL="0" indent="0" lvl="0">
              <a:lnSpc>
                <a:spcPts val="7113"/>
              </a:lnSpc>
              <a:spcBef>
                <a:spcPct val="0"/>
              </a:spcBef>
            </a:pPr>
            <a:r>
              <a:rPr lang="en-US" b="true" sz="5080">
                <a:solidFill>
                  <a:srgbClr val="000000"/>
                </a:solidFill>
                <a:latin typeface="Montserrat Bold"/>
                <a:ea typeface="Montserrat Bold"/>
                <a:cs typeface="Montserrat Bold"/>
                <a:sym typeface="Montserrat Bold"/>
              </a:rPr>
              <a:t>KẾT QUẢ FINETUNE</a:t>
            </a:r>
          </a:p>
        </p:txBody>
      </p:sp>
      <p:sp>
        <p:nvSpPr>
          <p:cNvPr name="TextBox 20" id="20"/>
          <p:cNvSpPr txBox="true"/>
          <p:nvPr/>
        </p:nvSpPr>
        <p:spPr>
          <a:xfrm rot="0">
            <a:off x="7613606" y="9530740"/>
            <a:ext cx="1507522" cy="501556"/>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Poppins"/>
                <a:ea typeface="Poppins"/>
                <a:cs typeface="Poppins"/>
                <a:sym typeface="Poppins"/>
              </a:rPr>
              <a:t>Nhóm 7</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419458" y="-1519698"/>
            <a:ext cx="3564204" cy="356420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051D40">
                  <a:alpha val="15686"/>
                </a:srgbClr>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7343" y="9388821"/>
            <a:ext cx="1286950" cy="128695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4012587" y="-1218334"/>
            <a:ext cx="10072965" cy="13087831"/>
            <a:chOff x="0" y="0"/>
            <a:chExt cx="13430620" cy="17450441"/>
          </a:xfrm>
        </p:grpSpPr>
        <p:grpSp>
          <p:nvGrpSpPr>
            <p:cNvPr name="Group 9" id="9"/>
            <p:cNvGrpSpPr/>
            <p:nvPr/>
          </p:nvGrpSpPr>
          <p:grpSpPr>
            <a:xfrm rot="0">
              <a:off x="3964649" y="1566826"/>
              <a:ext cx="5114354" cy="13780257"/>
              <a:chOff x="0" y="0"/>
              <a:chExt cx="1010243" cy="2722026"/>
            </a:xfrm>
          </p:grpSpPr>
          <p:sp>
            <p:nvSpPr>
              <p:cNvPr name="Freeform 10" id="10"/>
              <p:cNvSpPr/>
              <p:nvPr/>
            </p:nvSpPr>
            <p:spPr>
              <a:xfrm flipH="false" flipV="false" rot="0">
                <a:off x="0" y="0"/>
                <a:ext cx="1010243" cy="2722026"/>
              </a:xfrm>
              <a:custGeom>
                <a:avLst/>
                <a:gdLst/>
                <a:ahLst/>
                <a:cxnLst/>
                <a:rect r="r" b="b" t="t" l="l"/>
                <a:pathLst>
                  <a:path h="2722026" w="1010243">
                    <a:moveTo>
                      <a:pt x="0" y="0"/>
                    </a:moveTo>
                    <a:lnTo>
                      <a:pt x="1010243" y="0"/>
                    </a:lnTo>
                    <a:lnTo>
                      <a:pt x="1010243" y="2722026"/>
                    </a:lnTo>
                    <a:lnTo>
                      <a:pt x="0" y="2722026"/>
                    </a:lnTo>
                    <a:close/>
                  </a:path>
                </a:pathLst>
              </a:custGeom>
              <a:solidFill>
                <a:srgbClr val="0C4393"/>
              </a:solidFill>
            </p:spPr>
          </p:sp>
          <p:sp>
            <p:nvSpPr>
              <p:cNvPr name="TextBox 11" id="11"/>
              <p:cNvSpPr txBox="true"/>
              <p:nvPr/>
            </p:nvSpPr>
            <p:spPr>
              <a:xfrm>
                <a:off x="0" y="-38100"/>
                <a:ext cx="1010243" cy="2760126"/>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0" y="0"/>
              <a:ext cx="7929298" cy="7966445"/>
              <a:chOff x="0" y="0"/>
              <a:chExt cx="812800" cy="816608"/>
            </a:xfrm>
          </p:grpSpPr>
          <p:sp>
            <p:nvSpPr>
              <p:cNvPr name="Freeform 13" id="13"/>
              <p:cNvSpPr/>
              <p:nvPr/>
            </p:nvSpPr>
            <p:spPr>
              <a:xfrm flipH="false" flipV="false" rot="0">
                <a:off x="0" y="0"/>
                <a:ext cx="812800" cy="816608"/>
              </a:xfrm>
              <a:custGeom>
                <a:avLst/>
                <a:gdLst/>
                <a:ahLst/>
                <a:cxnLst/>
                <a:rect r="r" b="b" t="t" l="l"/>
                <a:pathLst>
                  <a:path h="816608" w="812800">
                    <a:moveTo>
                      <a:pt x="406400" y="0"/>
                    </a:moveTo>
                    <a:cubicBezTo>
                      <a:pt x="181951" y="0"/>
                      <a:pt x="0" y="182804"/>
                      <a:pt x="0" y="408304"/>
                    </a:cubicBezTo>
                    <a:cubicBezTo>
                      <a:pt x="0" y="633804"/>
                      <a:pt x="181951" y="816608"/>
                      <a:pt x="406400" y="816608"/>
                    </a:cubicBezTo>
                    <a:cubicBezTo>
                      <a:pt x="630849" y="816608"/>
                      <a:pt x="812800" y="633804"/>
                      <a:pt x="812800" y="408304"/>
                    </a:cubicBezTo>
                    <a:cubicBezTo>
                      <a:pt x="812800" y="182804"/>
                      <a:pt x="630849" y="0"/>
                      <a:pt x="406400" y="0"/>
                    </a:cubicBezTo>
                    <a:close/>
                  </a:path>
                </a:pathLst>
              </a:custGeom>
              <a:ln w="952500" cap="sq">
                <a:solidFill>
                  <a:srgbClr val="FFFFFF">
                    <a:alpha val="15686"/>
                  </a:srgbClr>
                </a:solidFill>
                <a:prstDash val="solid"/>
                <a:miter/>
              </a:ln>
            </p:spPr>
          </p:sp>
          <p:sp>
            <p:nvSpPr>
              <p:cNvPr name="TextBox 14" id="14"/>
              <p:cNvSpPr txBox="true"/>
              <p:nvPr/>
            </p:nvSpPr>
            <p:spPr>
              <a:xfrm>
                <a:off x="76200" y="38457"/>
                <a:ext cx="660400" cy="701594"/>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5501323" y="9483997"/>
              <a:ext cx="7929298" cy="7966445"/>
              <a:chOff x="0" y="0"/>
              <a:chExt cx="812800" cy="816608"/>
            </a:xfrm>
          </p:grpSpPr>
          <p:sp>
            <p:nvSpPr>
              <p:cNvPr name="Freeform 16" id="16"/>
              <p:cNvSpPr/>
              <p:nvPr/>
            </p:nvSpPr>
            <p:spPr>
              <a:xfrm flipH="false" flipV="false" rot="0">
                <a:off x="0" y="0"/>
                <a:ext cx="812800" cy="816608"/>
              </a:xfrm>
              <a:custGeom>
                <a:avLst/>
                <a:gdLst/>
                <a:ahLst/>
                <a:cxnLst/>
                <a:rect r="r" b="b" t="t" l="l"/>
                <a:pathLst>
                  <a:path h="816608" w="812800">
                    <a:moveTo>
                      <a:pt x="406400" y="0"/>
                    </a:moveTo>
                    <a:cubicBezTo>
                      <a:pt x="181951" y="0"/>
                      <a:pt x="0" y="182804"/>
                      <a:pt x="0" y="408304"/>
                    </a:cubicBezTo>
                    <a:cubicBezTo>
                      <a:pt x="0" y="633804"/>
                      <a:pt x="181951" y="816608"/>
                      <a:pt x="406400" y="816608"/>
                    </a:cubicBezTo>
                    <a:cubicBezTo>
                      <a:pt x="630849" y="816608"/>
                      <a:pt x="812800" y="633804"/>
                      <a:pt x="812800" y="408304"/>
                    </a:cubicBezTo>
                    <a:cubicBezTo>
                      <a:pt x="812800" y="182804"/>
                      <a:pt x="630849" y="0"/>
                      <a:pt x="406400" y="0"/>
                    </a:cubicBezTo>
                    <a:close/>
                  </a:path>
                </a:pathLst>
              </a:custGeom>
              <a:ln w="952500" cap="sq">
                <a:solidFill>
                  <a:srgbClr val="FFFFFF">
                    <a:alpha val="15686"/>
                  </a:srgbClr>
                </a:solidFill>
                <a:prstDash val="solid"/>
                <a:miter/>
              </a:ln>
            </p:spPr>
          </p:sp>
          <p:sp>
            <p:nvSpPr>
              <p:cNvPr name="TextBox 17" id="17"/>
              <p:cNvSpPr txBox="true"/>
              <p:nvPr/>
            </p:nvSpPr>
            <p:spPr>
              <a:xfrm>
                <a:off x="76200" y="38457"/>
                <a:ext cx="660400" cy="701594"/>
              </a:xfrm>
              <a:prstGeom prst="rect">
                <a:avLst/>
              </a:prstGeom>
            </p:spPr>
            <p:txBody>
              <a:bodyPr anchor="ctr" rtlCol="false" tIns="50800" lIns="50800" bIns="50800" rIns="50800"/>
              <a:lstStyle/>
              <a:p>
                <a:pPr algn="ctr">
                  <a:lnSpc>
                    <a:spcPts val="2659"/>
                  </a:lnSpc>
                  <a:spcBef>
                    <a:spcPct val="0"/>
                  </a:spcBef>
                </a:pPr>
              </a:p>
            </p:txBody>
          </p:sp>
        </p:grpSp>
      </p:grpSp>
      <p:sp>
        <p:nvSpPr>
          <p:cNvPr name="Freeform 18" id="18"/>
          <p:cNvSpPr/>
          <p:nvPr/>
        </p:nvSpPr>
        <p:spPr>
          <a:xfrm flipH="false" flipV="false" rot="0">
            <a:off x="2715645" y="933743"/>
            <a:ext cx="12856710" cy="9353257"/>
          </a:xfrm>
          <a:custGeom>
            <a:avLst/>
            <a:gdLst/>
            <a:ahLst/>
            <a:cxnLst/>
            <a:rect r="r" b="b" t="t" l="l"/>
            <a:pathLst>
              <a:path h="9353257" w="12856710">
                <a:moveTo>
                  <a:pt x="0" y="0"/>
                </a:moveTo>
                <a:lnTo>
                  <a:pt x="12856710" y="0"/>
                </a:lnTo>
                <a:lnTo>
                  <a:pt x="12856710" y="9353257"/>
                </a:lnTo>
                <a:lnTo>
                  <a:pt x="0" y="9353257"/>
                </a:lnTo>
                <a:lnTo>
                  <a:pt x="0" y="0"/>
                </a:lnTo>
                <a:close/>
              </a:path>
            </a:pathLst>
          </a:custGeom>
          <a:blipFill>
            <a:blip r:embed="rId2"/>
            <a:stretch>
              <a:fillRect l="0" t="0" r="0" b="0"/>
            </a:stretch>
          </a:blipFill>
        </p:spPr>
      </p:sp>
      <p:sp>
        <p:nvSpPr>
          <p:cNvPr name="TextBox 19" id="19"/>
          <p:cNvSpPr txBox="true"/>
          <p:nvPr/>
        </p:nvSpPr>
        <p:spPr>
          <a:xfrm rot="0">
            <a:off x="5701423" y="-8078"/>
            <a:ext cx="6885155" cy="861546"/>
          </a:xfrm>
          <a:prstGeom prst="rect">
            <a:avLst/>
          </a:prstGeom>
        </p:spPr>
        <p:txBody>
          <a:bodyPr anchor="t" rtlCol="false" tIns="0" lIns="0" bIns="0" rIns="0">
            <a:spAutoFit/>
          </a:bodyPr>
          <a:lstStyle/>
          <a:p>
            <a:pPr algn="ctr" marL="0" indent="0" lvl="0">
              <a:lnSpc>
                <a:spcPts val="7113"/>
              </a:lnSpc>
              <a:spcBef>
                <a:spcPct val="0"/>
              </a:spcBef>
            </a:pPr>
            <a:r>
              <a:rPr lang="en-US" b="true" sz="5080">
                <a:solidFill>
                  <a:srgbClr val="000000"/>
                </a:solidFill>
                <a:latin typeface="Montserrat Bold"/>
                <a:ea typeface="Montserrat Bold"/>
                <a:cs typeface="Montserrat Bold"/>
                <a:sym typeface="Montserrat Bold"/>
              </a:rPr>
              <a:t>SO SÁNH TỔNG THỂ</a:t>
            </a:r>
          </a:p>
        </p:txBody>
      </p:sp>
      <p:sp>
        <p:nvSpPr>
          <p:cNvPr name="TextBox 20" id="20"/>
          <p:cNvSpPr txBox="true"/>
          <p:nvPr/>
        </p:nvSpPr>
        <p:spPr>
          <a:xfrm rot="0">
            <a:off x="15343795" y="351911"/>
            <a:ext cx="1507522" cy="501556"/>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Poppins"/>
                <a:ea typeface="Poppins"/>
                <a:cs typeface="Poppins"/>
                <a:sym typeface="Poppins"/>
              </a:rPr>
              <a:t>Nhóm 7</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419458" y="-1519698"/>
            <a:ext cx="3564204" cy="356420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051D40">
                  <a:alpha val="15686"/>
                </a:srgbClr>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7343" y="9388821"/>
            <a:ext cx="1286950" cy="128695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4012587" y="-1218334"/>
            <a:ext cx="10072965" cy="13087831"/>
            <a:chOff x="0" y="0"/>
            <a:chExt cx="13430620" cy="17450441"/>
          </a:xfrm>
        </p:grpSpPr>
        <p:grpSp>
          <p:nvGrpSpPr>
            <p:cNvPr name="Group 9" id="9"/>
            <p:cNvGrpSpPr/>
            <p:nvPr/>
          </p:nvGrpSpPr>
          <p:grpSpPr>
            <a:xfrm rot="0">
              <a:off x="3964649" y="1566826"/>
              <a:ext cx="5114354" cy="13780257"/>
              <a:chOff x="0" y="0"/>
              <a:chExt cx="1010243" cy="2722026"/>
            </a:xfrm>
          </p:grpSpPr>
          <p:sp>
            <p:nvSpPr>
              <p:cNvPr name="Freeform 10" id="10"/>
              <p:cNvSpPr/>
              <p:nvPr/>
            </p:nvSpPr>
            <p:spPr>
              <a:xfrm flipH="false" flipV="false" rot="0">
                <a:off x="0" y="0"/>
                <a:ext cx="1010243" cy="2722026"/>
              </a:xfrm>
              <a:custGeom>
                <a:avLst/>
                <a:gdLst/>
                <a:ahLst/>
                <a:cxnLst/>
                <a:rect r="r" b="b" t="t" l="l"/>
                <a:pathLst>
                  <a:path h="2722026" w="1010243">
                    <a:moveTo>
                      <a:pt x="0" y="0"/>
                    </a:moveTo>
                    <a:lnTo>
                      <a:pt x="1010243" y="0"/>
                    </a:lnTo>
                    <a:lnTo>
                      <a:pt x="1010243" y="2722026"/>
                    </a:lnTo>
                    <a:lnTo>
                      <a:pt x="0" y="2722026"/>
                    </a:lnTo>
                    <a:close/>
                  </a:path>
                </a:pathLst>
              </a:custGeom>
              <a:solidFill>
                <a:srgbClr val="0C4393"/>
              </a:solidFill>
            </p:spPr>
          </p:sp>
          <p:sp>
            <p:nvSpPr>
              <p:cNvPr name="TextBox 11" id="11"/>
              <p:cNvSpPr txBox="true"/>
              <p:nvPr/>
            </p:nvSpPr>
            <p:spPr>
              <a:xfrm>
                <a:off x="0" y="-38100"/>
                <a:ext cx="1010243" cy="2760126"/>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0" y="0"/>
              <a:ext cx="7929298" cy="7966445"/>
              <a:chOff x="0" y="0"/>
              <a:chExt cx="812800" cy="816608"/>
            </a:xfrm>
          </p:grpSpPr>
          <p:sp>
            <p:nvSpPr>
              <p:cNvPr name="Freeform 13" id="13"/>
              <p:cNvSpPr/>
              <p:nvPr/>
            </p:nvSpPr>
            <p:spPr>
              <a:xfrm flipH="false" flipV="false" rot="0">
                <a:off x="0" y="0"/>
                <a:ext cx="812800" cy="816608"/>
              </a:xfrm>
              <a:custGeom>
                <a:avLst/>
                <a:gdLst/>
                <a:ahLst/>
                <a:cxnLst/>
                <a:rect r="r" b="b" t="t" l="l"/>
                <a:pathLst>
                  <a:path h="816608" w="812800">
                    <a:moveTo>
                      <a:pt x="406400" y="0"/>
                    </a:moveTo>
                    <a:cubicBezTo>
                      <a:pt x="181951" y="0"/>
                      <a:pt x="0" y="182804"/>
                      <a:pt x="0" y="408304"/>
                    </a:cubicBezTo>
                    <a:cubicBezTo>
                      <a:pt x="0" y="633804"/>
                      <a:pt x="181951" y="816608"/>
                      <a:pt x="406400" y="816608"/>
                    </a:cubicBezTo>
                    <a:cubicBezTo>
                      <a:pt x="630849" y="816608"/>
                      <a:pt x="812800" y="633804"/>
                      <a:pt x="812800" y="408304"/>
                    </a:cubicBezTo>
                    <a:cubicBezTo>
                      <a:pt x="812800" y="182804"/>
                      <a:pt x="630849" y="0"/>
                      <a:pt x="406400" y="0"/>
                    </a:cubicBezTo>
                    <a:close/>
                  </a:path>
                </a:pathLst>
              </a:custGeom>
              <a:ln w="952500" cap="sq">
                <a:solidFill>
                  <a:srgbClr val="FFFFFF">
                    <a:alpha val="15686"/>
                  </a:srgbClr>
                </a:solidFill>
                <a:prstDash val="solid"/>
                <a:miter/>
              </a:ln>
            </p:spPr>
          </p:sp>
          <p:sp>
            <p:nvSpPr>
              <p:cNvPr name="TextBox 14" id="14"/>
              <p:cNvSpPr txBox="true"/>
              <p:nvPr/>
            </p:nvSpPr>
            <p:spPr>
              <a:xfrm>
                <a:off x="76200" y="38457"/>
                <a:ext cx="660400" cy="701594"/>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5501323" y="9483997"/>
              <a:ext cx="7929298" cy="7966445"/>
              <a:chOff x="0" y="0"/>
              <a:chExt cx="812800" cy="816608"/>
            </a:xfrm>
          </p:grpSpPr>
          <p:sp>
            <p:nvSpPr>
              <p:cNvPr name="Freeform 16" id="16"/>
              <p:cNvSpPr/>
              <p:nvPr/>
            </p:nvSpPr>
            <p:spPr>
              <a:xfrm flipH="false" flipV="false" rot="0">
                <a:off x="0" y="0"/>
                <a:ext cx="812800" cy="816608"/>
              </a:xfrm>
              <a:custGeom>
                <a:avLst/>
                <a:gdLst/>
                <a:ahLst/>
                <a:cxnLst/>
                <a:rect r="r" b="b" t="t" l="l"/>
                <a:pathLst>
                  <a:path h="816608" w="812800">
                    <a:moveTo>
                      <a:pt x="406400" y="0"/>
                    </a:moveTo>
                    <a:cubicBezTo>
                      <a:pt x="181951" y="0"/>
                      <a:pt x="0" y="182804"/>
                      <a:pt x="0" y="408304"/>
                    </a:cubicBezTo>
                    <a:cubicBezTo>
                      <a:pt x="0" y="633804"/>
                      <a:pt x="181951" y="816608"/>
                      <a:pt x="406400" y="816608"/>
                    </a:cubicBezTo>
                    <a:cubicBezTo>
                      <a:pt x="630849" y="816608"/>
                      <a:pt x="812800" y="633804"/>
                      <a:pt x="812800" y="408304"/>
                    </a:cubicBezTo>
                    <a:cubicBezTo>
                      <a:pt x="812800" y="182804"/>
                      <a:pt x="630849" y="0"/>
                      <a:pt x="406400" y="0"/>
                    </a:cubicBezTo>
                    <a:close/>
                  </a:path>
                </a:pathLst>
              </a:custGeom>
              <a:ln w="952500" cap="sq">
                <a:solidFill>
                  <a:srgbClr val="FFFFFF">
                    <a:alpha val="15686"/>
                  </a:srgbClr>
                </a:solidFill>
                <a:prstDash val="solid"/>
                <a:miter/>
              </a:ln>
            </p:spPr>
          </p:sp>
          <p:sp>
            <p:nvSpPr>
              <p:cNvPr name="TextBox 17" id="17"/>
              <p:cNvSpPr txBox="true"/>
              <p:nvPr/>
            </p:nvSpPr>
            <p:spPr>
              <a:xfrm>
                <a:off x="76200" y="38457"/>
                <a:ext cx="660400" cy="701594"/>
              </a:xfrm>
              <a:prstGeom prst="rect">
                <a:avLst/>
              </a:prstGeom>
            </p:spPr>
            <p:txBody>
              <a:bodyPr anchor="ctr" rtlCol="false" tIns="50800" lIns="50800" bIns="50800" rIns="50800"/>
              <a:lstStyle/>
              <a:p>
                <a:pPr algn="ctr">
                  <a:lnSpc>
                    <a:spcPts val="2659"/>
                  </a:lnSpc>
                  <a:spcBef>
                    <a:spcPct val="0"/>
                  </a:spcBef>
                </a:pPr>
              </a:p>
            </p:txBody>
          </p:sp>
        </p:grpSp>
      </p:grpSp>
      <p:sp>
        <p:nvSpPr>
          <p:cNvPr name="Freeform 18" id="18"/>
          <p:cNvSpPr/>
          <p:nvPr/>
        </p:nvSpPr>
        <p:spPr>
          <a:xfrm flipH="false" flipV="false" rot="0">
            <a:off x="1461334" y="846900"/>
            <a:ext cx="15365332" cy="9185396"/>
          </a:xfrm>
          <a:custGeom>
            <a:avLst/>
            <a:gdLst/>
            <a:ahLst/>
            <a:cxnLst/>
            <a:rect r="r" b="b" t="t" l="l"/>
            <a:pathLst>
              <a:path h="9185396" w="15365332">
                <a:moveTo>
                  <a:pt x="0" y="0"/>
                </a:moveTo>
                <a:lnTo>
                  <a:pt x="15365332" y="0"/>
                </a:lnTo>
                <a:lnTo>
                  <a:pt x="15365332" y="9185396"/>
                </a:lnTo>
                <a:lnTo>
                  <a:pt x="0" y="9185396"/>
                </a:lnTo>
                <a:lnTo>
                  <a:pt x="0" y="0"/>
                </a:lnTo>
                <a:close/>
              </a:path>
            </a:pathLst>
          </a:custGeom>
          <a:blipFill>
            <a:blip r:embed="rId2"/>
            <a:stretch>
              <a:fillRect l="0" t="-2459" r="0" b="0"/>
            </a:stretch>
          </a:blipFill>
        </p:spPr>
      </p:sp>
      <p:sp>
        <p:nvSpPr>
          <p:cNvPr name="TextBox 19" id="19"/>
          <p:cNvSpPr txBox="true"/>
          <p:nvPr/>
        </p:nvSpPr>
        <p:spPr>
          <a:xfrm rot="0">
            <a:off x="5232529" y="1447"/>
            <a:ext cx="7822942" cy="778996"/>
          </a:xfrm>
          <a:prstGeom prst="rect">
            <a:avLst/>
          </a:prstGeom>
        </p:spPr>
        <p:txBody>
          <a:bodyPr anchor="t" rtlCol="false" tIns="0" lIns="0" bIns="0" rIns="0">
            <a:spAutoFit/>
          </a:bodyPr>
          <a:lstStyle/>
          <a:p>
            <a:pPr algn="ctr" marL="0" indent="0" lvl="0">
              <a:lnSpc>
                <a:spcPts val="6413"/>
              </a:lnSpc>
              <a:spcBef>
                <a:spcPct val="0"/>
              </a:spcBef>
            </a:pPr>
            <a:r>
              <a:rPr lang="en-US" b="true" sz="4580">
                <a:solidFill>
                  <a:srgbClr val="FFBD59"/>
                </a:solidFill>
                <a:latin typeface="Montserrat Bold"/>
                <a:ea typeface="Montserrat Bold"/>
                <a:cs typeface="Montserrat Bold"/>
                <a:sym typeface="Montserrat Bold"/>
              </a:rPr>
              <a:t>INFERENCES TEST SET</a:t>
            </a:r>
          </a:p>
        </p:txBody>
      </p:sp>
      <p:sp>
        <p:nvSpPr>
          <p:cNvPr name="TextBox 20" id="20"/>
          <p:cNvSpPr txBox="true"/>
          <p:nvPr/>
        </p:nvSpPr>
        <p:spPr>
          <a:xfrm rot="0">
            <a:off x="15343795" y="176679"/>
            <a:ext cx="1507522" cy="501556"/>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Poppins"/>
                <a:ea typeface="Poppins"/>
                <a:cs typeface="Poppins"/>
                <a:sym typeface="Poppins"/>
              </a:rPr>
              <a:t>Nhóm 7</a:t>
            </a:r>
          </a:p>
        </p:txBody>
      </p:sp>
    </p:spTree>
  </p:cSld>
  <p:clrMapOvr>
    <a:masterClrMapping/>
  </p:clrMapOvr>
</p:sld>
</file>

<file path=ppt/slides/slide24.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5017365" y="9466216"/>
            <a:ext cx="3564204" cy="356420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051D40">
                  <a:alpha val="15686"/>
                </a:srgbClr>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7343" y="9388821"/>
            <a:ext cx="1286950" cy="128695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4012587" y="-1218334"/>
            <a:ext cx="10072965" cy="13087831"/>
            <a:chOff x="0" y="0"/>
            <a:chExt cx="13430620" cy="17450441"/>
          </a:xfrm>
        </p:grpSpPr>
        <p:grpSp>
          <p:nvGrpSpPr>
            <p:cNvPr name="Group 9" id="9"/>
            <p:cNvGrpSpPr/>
            <p:nvPr/>
          </p:nvGrpSpPr>
          <p:grpSpPr>
            <a:xfrm rot="0">
              <a:off x="3964649" y="1566826"/>
              <a:ext cx="5114354" cy="13780257"/>
              <a:chOff x="0" y="0"/>
              <a:chExt cx="1010243" cy="2722026"/>
            </a:xfrm>
          </p:grpSpPr>
          <p:sp>
            <p:nvSpPr>
              <p:cNvPr name="Freeform 10" id="10"/>
              <p:cNvSpPr/>
              <p:nvPr/>
            </p:nvSpPr>
            <p:spPr>
              <a:xfrm flipH="false" flipV="false" rot="0">
                <a:off x="0" y="0"/>
                <a:ext cx="1010243" cy="2722026"/>
              </a:xfrm>
              <a:custGeom>
                <a:avLst/>
                <a:gdLst/>
                <a:ahLst/>
                <a:cxnLst/>
                <a:rect r="r" b="b" t="t" l="l"/>
                <a:pathLst>
                  <a:path h="2722026" w="1010243">
                    <a:moveTo>
                      <a:pt x="0" y="0"/>
                    </a:moveTo>
                    <a:lnTo>
                      <a:pt x="1010243" y="0"/>
                    </a:lnTo>
                    <a:lnTo>
                      <a:pt x="1010243" y="2722026"/>
                    </a:lnTo>
                    <a:lnTo>
                      <a:pt x="0" y="2722026"/>
                    </a:lnTo>
                    <a:close/>
                  </a:path>
                </a:pathLst>
              </a:custGeom>
              <a:solidFill>
                <a:srgbClr val="0C4393"/>
              </a:solidFill>
            </p:spPr>
          </p:sp>
          <p:sp>
            <p:nvSpPr>
              <p:cNvPr name="TextBox 11" id="11"/>
              <p:cNvSpPr txBox="true"/>
              <p:nvPr/>
            </p:nvSpPr>
            <p:spPr>
              <a:xfrm>
                <a:off x="0" y="-38100"/>
                <a:ext cx="1010243" cy="2760126"/>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0" y="0"/>
              <a:ext cx="7929298" cy="7966445"/>
              <a:chOff x="0" y="0"/>
              <a:chExt cx="812800" cy="816608"/>
            </a:xfrm>
          </p:grpSpPr>
          <p:sp>
            <p:nvSpPr>
              <p:cNvPr name="Freeform 13" id="13"/>
              <p:cNvSpPr/>
              <p:nvPr/>
            </p:nvSpPr>
            <p:spPr>
              <a:xfrm flipH="false" flipV="false" rot="0">
                <a:off x="0" y="0"/>
                <a:ext cx="812800" cy="816608"/>
              </a:xfrm>
              <a:custGeom>
                <a:avLst/>
                <a:gdLst/>
                <a:ahLst/>
                <a:cxnLst/>
                <a:rect r="r" b="b" t="t" l="l"/>
                <a:pathLst>
                  <a:path h="816608" w="812800">
                    <a:moveTo>
                      <a:pt x="406400" y="0"/>
                    </a:moveTo>
                    <a:cubicBezTo>
                      <a:pt x="181951" y="0"/>
                      <a:pt x="0" y="182804"/>
                      <a:pt x="0" y="408304"/>
                    </a:cubicBezTo>
                    <a:cubicBezTo>
                      <a:pt x="0" y="633804"/>
                      <a:pt x="181951" y="816608"/>
                      <a:pt x="406400" y="816608"/>
                    </a:cubicBezTo>
                    <a:cubicBezTo>
                      <a:pt x="630849" y="816608"/>
                      <a:pt x="812800" y="633804"/>
                      <a:pt x="812800" y="408304"/>
                    </a:cubicBezTo>
                    <a:cubicBezTo>
                      <a:pt x="812800" y="182804"/>
                      <a:pt x="630849" y="0"/>
                      <a:pt x="406400" y="0"/>
                    </a:cubicBezTo>
                    <a:close/>
                  </a:path>
                </a:pathLst>
              </a:custGeom>
              <a:ln w="952500" cap="sq">
                <a:solidFill>
                  <a:srgbClr val="FFFFFF">
                    <a:alpha val="15686"/>
                  </a:srgbClr>
                </a:solidFill>
                <a:prstDash val="solid"/>
                <a:miter/>
              </a:ln>
            </p:spPr>
          </p:sp>
          <p:sp>
            <p:nvSpPr>
              <p:cNvPr name="TextBox 14" id="14"/>
              <p:cNvSpPr txBox="true"/>
              <p:nvPr/>
            </p:nvSpPr>
            <p:spPr>
              <a:xfrm>
                <a:off x="76200" y="38457"/>
                <a:ext cx="660400" cy="701594"/>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5501323" y="9483997"/>
              <a:ext cx="7929298" cy="7966445"/>
              <a:chOff x="0" y="0"/>
              <a:chExt cx="812800" cy="816608"/>
            </a:xfrm>
          </p:grpSpPr>
          <p:sp>
            <p:nvSpPr>
              <p:cNvPr name="Freeform 16" id="16"/>
              <p:cNvSpPr/>
              <p:nvPr/>
            </p:nvSpPr>
            <p:spPr>
              <a:xfrm flipH="false" flipV="false" rot="0">
                <a:off x="0" y="0"/>
                <a:ext cx="812800" cy="816608"/>
              </a:xfrm>
              <a:custGeom>
                <a:avLst/>
                <a:gdLst/>
                <a:ahLst/>
                <a:cxnLst/>
                <a:rect r="r" b="b" t="t" l="l"/>
                <a:pathLst>
                  <a:path h="816608" w="812800">
                    <a:moveTo>
                      <a:pt x="406400" y="0"/>
                    </a:moveTo>
                    <a:cubicBezTo>
                      <a:pt x="181951" y="0"/>
                      <a:pt x="0" y="182804"/>
                      <a:pt x="0" y="408304"/>
                    </a:cubicBezTo>
                    <a:cubicBezTo>
                      <a:pt x="0" y="633804"/>
                      <a:pt x="181951" y="816608"/>
                      <a:pt x="406400" y="816608"/>
                    </a:cubicBezTo>
                    <a:cubicBezTo>
                      <a:pt x="630849" y="816608"/>
                      <a:pt x="812800" y="633804"/>
                      <a:pt x="812800" y="408304"/>
                    </a:cubicBezTo>
                    <a:cubicBezTo>
                      <a:pt x="812800" y="182804"/>
                      <a:pt x="630849" y="0"/>
                      <a:pt x="406400" y="0"/>
                    </a:cubicBezTo>
                    <a:close/>
                  </a:path>
                </a:pathLst>
              </a:custGeom>
              <a:ln w="952500" cap="sq">
                <a:solidFill>
                  <a:srgbClr val="FFFFFF">
                    <a:alpha val="15686"/>
                  </a:srgbClr>
                </a:solidFill>
                <a:prstDash val="solid"/>
                <a:miter/>
              </a:ln>
            </p:spPr>
          </p:sp>
          <p:sp>
            <p:nvSpPr>
              <p:cNvPr name="TextBox 17" id="17"/>
              <p:cNvSpPr txBox="true"/>
              <p:nvPr/>
            </p:nvSpPr>
            <p:spPr>
              <a:xfrm>
                <a:off x="76200" y="38457"/>
                <a:ext cx="660400" cy="701594"/>
              </a:xfrm>
              <a:prstGeom prst="rect">
                <a:avLst/>
              </a:prstGeom>
            </p:spPr>
            <p:txBody>
              <a:bodyPr anchor="ctr" rtlCol="false" tIns="50800" lIns="50800" bIns="50800" rIns="50800"/>
              <a:lstStyle/>
              <a:p>
                <a:pPr algn="ctr">
                  <a:lnSpc>
                    <a:spcPts val="2659"/>
                  </a:lnSpc>
                  <a:spcBef>
                    <a:spcPct val="0"/>
                  </a:spcBef>
                </a:pPr>
              </a:p>
            </p:txBody>
          </p:sp>
        </p:grpSp>
      </p:grpSp>
      <p:sp>
        <p:nvSpPr>
          <p:cNvPr name="TextBox 18" id="18"/>
          <p:cNvSpPr txBox="true"/>
          <p:nvPr/>
        </p:nvSpPr>
        <p:spPr>
          <a:xfrm rot="0">
            <a:off x="7114220" y="81429"/>
            <a:ext cx="4059560" cy="1102847"/>
          </a:xfrm>
          <a:prstGeom prst="rect">
            <a:avLst/>
          </a:prstGeom>
        </p:spPr>
        <p:txBody>
          <a:bodyPr anchor="t" rtlCol="false" tIns="0" lIns="0" bIns="0" rIns="0">
            <a:spAutoFit/>
          </a:bodyPr>
          <a:lstStyle/>
          <a:p>
            <a:pPr algn="ctr" marL="0" indent="0" lvl="0">
              <a:lnSpc>
                <a:spcPts val="8513"/>
              </a:lnSpc>
              <a:spcBef>
                <a:spcPct val="0"/>
              </a:spcBef>
            </a:pPr>
            <a:r>
              <a:rPr lang="en-US" b="true" sz="6080">
                <a:solidFill>
                  <a:srgbClr val="FFBD59"/>
                </a:solidFill>
                <a:latin typeface="Poppins Bold"/>
                <a:ea typeface="Poppins Bold"/>
                <a:cs typeface="Poppins Bold"/>
                <a:sym typeface="Poppins Bold"/>
              </a:rPr>
              <a:t>ĐIỂM YẾU</a:t>
            </a:r>
          </a:p>
        </p:txBody>
      </p:sp>
      <p:sp>
        <p:nvSpPr>
          <p:cNvPr name="TextBox 19" id="19"/>
          <p:cNvSpPr txBox="true"/>
          <p:nvPr/>
        </p:nvSpPr>
        <p:spPr>
          <a:xfrm rot="0">
            <a:off x="8390239" y="9172575"/>
            <a:ext cx="1507522" cy="501556"/>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Poppins"/>
                <a:ea typeface="Poppins"/>
                <a:cs typeface="Poppins"/>
                <a:sym typeface="Poppins"/>
              </a:rPr>
              <a:t>Nhóm 7</a:t>
            </a:r>
          </a:p>
        </p:txBody>
      </p:sp>
      <p:sp>
        <p:nvSpPr>
          <p:cNvPr name="TextBox 20" id="20"/>
          <p:cNvSpPr txBox="true"/>
          <p:nvPr/>
        </p:nvSpPr>
        <p:spPr>
          <a:xfrm rot="0">
            <a:off x="879607" y="2493089"/>
            <a:ext cx="15292763" cy="6390005"/>
          </a:xfrm>
          <a:prstGeom prst="rect">
            <a:avLst/>
          </a:prstGeom>
        </p:spPr>
        <p:txBody>
          <a:bodyPr anchor="t" rtlCol="false" tIns="0" lIns="0" bIns="0" rIns="0">
            <a:spAutoFit/>
          </a:bodyPr>
          <a:lstStyle/>
          <a:p>
            <a:pPr algn="l" marL="496567" indent="-248284" lvl="1">
              <a:lnSpc>
                <a:spcPts val="3219"/>
              </a:lnSpc>
              <a:buAutoNum type="arabicPeriod" startAt="1"/>
            </a:pPr>
            <a:r>
              <a:rPr lang="en-US" b="true" sz="2299">
                <a:solidFill>
                  <a:srgbClr val="000000"/>
                </a:solidFill>
                <a:latin typeface="Montserrat Bold"/>
                <a:ea typeface="Montserrat Bold"/>
                <a:cs typeface="Montserrat Bold"/>
                <a:sym typeface="Montserrat Bold"/>
              </a:rPr>
              <a:t> </a:t>
            </a:r>
            <a:r>
              <a:rPr lang="en-US" b="true" sz="2299">
                <a:solidFill>
                  <a:srgbClr val="000000"/>
                </a:solidFill>
                <a:latin typeface="Montserrat Bold"/>
                <a:ea typeface="Montserrat Bold"/>
                <a:cs typeface="Montserrat Bold"/>
                <a:sym typeface="Montserrat Bold"/>
              </a:rPr>
              <a:t>Khoảng cách dev–test gap còn rộng:</a:t>
            </a:r>
          </a:p>
          <a:p>
            <a:pPr algn="l" marL="993135" indent="-331045" lvl="2">
              <a:lnSpc>
                <a:spcPts val="3219"/>
              </a:lnSpc>
              <a:buFont typeface="Arial"/>
              <a:buChar char="⚬"/>
            </a:pPr>
            <a:r>
              <a:rPr lang="en-US" sz="2299">
                <a:solidFill>
                  <a:srgbClr val="000000"/>
                </a:solidFill>
                <a:latin typeface="Montserrat"/>
                <a:ea typeface="Montserrat"/>
                <a:cs typeface="Montserrat"/>
                <a:sym typeface="Montserrat"/>
              </a:rPr>
              <a:t>Dù đã áp dụng SWA + TTA, gap giữa dev và test vẫn lớn: ~0.09 điểm trên FB (0.8540 dev vs 0.7646 test) và ~0.04 điểm trên Merged</a:t>
            </a:r>
          </a:p>
          <a:p>
            <a:pPr algn="l" marL="993135" indent="-331045" lvl="2">
              <a:lnSpc>
                <a:spcPts val="3219"/>
              </a:lnSpc>
              <a:buFont typeface="Arial"/>
              <a:buChar char="⚬"/>
            </a:pPr>
            <a:r>
              <a:rPr lang="en-US" sz="2299">
                <a:solidFill>
                  <a:srgbClr val="000000"/>
                </a:solidFill>
                <a:latin typeface="Montserrat"/>
                <a:ea typeface="Montserrat"/>
                <a:cs typeface="Montserrat"/>
                <a:sym typeface="Montserrat"/>
              </a:rPr>
              <a:t>Cho thấy model có mức overfitting nhất định lên các pattern đặc trưng của dev set</a:t>
            </a:r>
          </a:p>
          <a:p>
            <a:pPr algn="l" marL="993135" indent="-331045" lvl="2">
              <a:lnSpc>
                <a:spcPts val="3219"/>
              </a:lnSpc>
              <a:buFont typeface="Arial"/>
              <a:buChar char="⚬"/>
            </a:pPr>
            <a:r>
              <a:rPr lang="en-US" sz="2299">
                <a:solidFill>
                  <a:srgbClr val="000000"/>
                </a:solidFill>
                <a:latin typeface="Montserrat"/>
                <a:ea typeface="Montserrat"/>
                <a:cs typeface="Montserrat"/>
                <a:sym typeface="Montserrat"/>
              </a:rPr>
              <a:t>Đặc biệt do chênh phân phối: dev cân bằng 50/50 nhưng test lệch 60/40 hateful/benign</a:t>
            </a:r>
          </a:p>
          <a:p>
            <a:pPr algn="l" marL="496567" indent="-248284" lvl="1">
              <a:lnSpc>
                <a:spcPts val="3219"/>
              </a:lnSpc>
              <a:buAutoNum type="arabicPeriod" startAt="1"/>
            </a:pPr>
            <a:r>
              <a:rPr lang="en-US" b="true" sz="2299">
                <a:solidFill>
                  <a:srgbClr val="000000"/>
                </a:solidFill>
                <a:latin typeface="Montserrat Bold"/>
                <a:ea typeface="Montserrat Bold"/>
                <a:cs typeface="Montserrat Bold"/>
                <a:sym typeface="Montserrat Bold"/>
              </a:rPr>
              <a:t>Phân loại độc lập từng mẫu, không có external memory:</a:t>
            </a:r>
          </a:p>
          <a:p>
            <a:pPr algn="l" marL="993135" indent="-331045" lvl="2">
              <a:lnSpc>
                <a:spcPts val="3219"/>
              </a:lnSpc>
              <a:buFont typeface="Arial"/>
              <a:buChar char="⚬"/>
            </a:pPr>
            <a:r>
              <a:rPr lang="en-US" sz="2299">
                <a:solidFill>
                  <a:srgbClr val="000000"/>
                </a:solidFill>
                <a:latin typeface="Montserrat"/>
                <a:ea typeface="Montserrat"/>
                <a:cs typeface="Montserrat"/>
                <a:sym typeface="Montserrat"/>
              </a:rPr>
              <a:t>Toàn bộ pipeline v1 → v6 đều phân loại mỗi mẫu một cách độc lập, hoàn toàn dựa vào tham số đã học</a:t>
            </a:r>
          </a:p>
          <a:p>
            <a:pPr algn="l" marL="993135" indent="-331045" lvl="2">
              <a:lnSpc>
                <a:spcPts val="3219"/>
              </a:lnSpc>
              <a:buFont typeface="Arial"/>
              <a:buChar char="⚬"/>
            </a:pPr>
            <a:r>
              <a:rPr lang="en-US" sz="2299">
                <a:solidFill>
                  <a:srgbClr val="000000"/>
                </a:solidFill>
                <a:latin typeface="Montserrat"/>
                <a:ea typeface="Montserrat"/>
                <a:cs typeface="Montserrat"/>
                <a:sym typeface="Montserrat"/>
              </a:rPr>
              <a:t>Khi gặp các meme có pattern lạ hoặc confounder tinh vi, model không có cơ chế nào để "tham khảo" các ví dụ tương tự trong tập train</a:t>
            </a:r>
          </a:p>
          <a:p>
            <a:pPr algn="l" marL="993135" indent="-331045" lvl="2">
              <a:lnSpc>
                <a:spcPts val="3219"/>
              </a:lnSpc>
              <a:buFont typeface="Arial"/>
              <a:buChar char="⚬"/>
            </a:pPr>
            <a:r>
              <a:rPr lang="en-US" sz="2299">
                <a:solidFill>
                  <a:srgbClr val="000000"/>
                </a:solidFill>
                <a:latin typeface="Montserrat"/>
                <a:ea typeface="Montserrat"/>
                <a:cs typeface="Montserrat"/>
                <a:sym typeface="Montserrat"/>
              </a:rPr>
              <a:t>Đây là hạn chế cố hữu của paradigm classification truyền thống — model phải nén toàn bộ kiến thức vào weights, không có external memory để truy xuất khi cần</a:t>
            </a:r>
          </a:p>
          <a:p>
            <a:pPr algn="l" marL="496567" indent="-248284" lvl="1">
              <a:lnSpc>
                <a:spcPts val="3219"/>
              </a:lnSpc>
              <a:buAutoNum type="arabicPeriod" startAt="1"/>
            </a:pPr>
            <a:r>
              <a:rPr lang="en-US" b="true" sz="2299">
                <a:solidFill>
                  <a:srgbClr val="000000"/>
                </a:solidFill>
                <a:latin typeface="Montserrat Bold"/>
                <a:ea typeface="Montserrat Bold"/>
                <a:cs typeface="Montserrat Bold"/>
                <a:sym typeface="Montserrat Bold"/>
              </a:rPr>
              <a:t>Chỉ một score duy nhất per sample, không có cơ chế bù trừ:</a:t>
            </a:r>
          </a:p>
          <a:p>
            <a:pPr algn="l" marL="993135" indent="-331045" lvl="2">
              <a:lnSpc>
                <a:spcPts val="3219"/>
              </a:lnSpc>
              <a:buFont typeface="Arial"/>
              <a:buChar char="⚬"/>
            </a:pPr>
            <a:r>
              <a:rPr lang="en-US" sz="2299">
                <a:solidFill>
                  <a:srgbClr val="000000"/>
                </a:solidFill>
                <a:latin typeface="Montserrat"/>
                <a:ea typeface="Montserrat"/>
                <a:cs typeface="Montserrat"/>
                <a:sym typeface="Montserrat"/>
              </a:rPr>
              <a:t>v6 tạo ra một score duy nhất cho mỗi mẫu, dựa trên forward pass đơn (dù có TTA average)</a:t>
            </a:r>
          </a:p>
          <a:p>
            <a:pPr algn="l" marL="993135" indent="-331045" lvl="2">
              <a:lnSpc>
                <a:spcPts val="3219"/>
              </a:lnSpc>
              <a:buFont typeface="Arial"/>
              <a:buChar char="⚬"/>
            </a:pPr>
            <a:r>
              <a:rPr lang="en-US" sz="2299">
                <a:solidFill>
                  <a:srgbClr val="000000"/>
                </a:solidFill>
                <a:latin typeface="Montserrat"/>
                <a:ea typeface="Montserrat"/>
                <a:cs typeface="Montserrat"/>
                <a:sym typeface="Montserrat"/>
              </a:rPr>
              <a:t>Nếu v6 nhầm lẫn ở một mẫu cụ thể, không có cơ chế nào để "bù trừ" bằng góc nhìn khác</a:t>
            </a:r>
          </a:p>
          <a:p>
            <a:pPr algn="l" marL="993135" indent="-331045" lvl="2">
              <a:lnSpc>
                <a:spcPts val="3219"/>
              </a:lnSpc>
              <a:buFont typeface="Arial"/>
              <a:buChar char="⚬"/>
            </a:pPr>
            <a:r>
              <a:rPr lang="en-US" sz="2299">
                <a:solidFill>
                  <a:srgbClr val="000000"/>
                </a:solidFill>
                <a:latin typeface="Montserrat"/>
                <a:ea typeface="Montserrat"/>
                <a:cs typeface="Montserrat"/>
                <a:sym typeface="Montserrat"/>
              </a:rPr>
              <a:t>Cần thêm các paradigm độc lập để tạo ra đa nguồn score và tổng hợp lại</a:t>
            </a:r>
          </a:p>
        </p:txBody>
      </p:sp>
      <p:sp>
        <p:nvSpPr>
          <p:cNvPr name="TextBox 21" id="21"/>
          <p:cNvSpPr txBox="true"/>
          <p:nvPr/>
        </p:nvSpPr>
        <p:spPr>
          <a:xfrm rot="0">
            <a:off x="456624" y="1314609"/>
            <a:ext cx="16342843" cy="850900"/>
          </a:xfrm>
          <a:prstGeom prst="rect">
            <a:avLst/>
          </a:prstGeom>
        </p:spPr>
        <p:txBody>
          <a:bodyPr anchor="t" rtlCol="false" tIns="0" lIns="0" bIns="0" rIns="0">
            <a:spAutoFit/>
          </a:bodyPr>
          <a:lstStyle/>
          <a:p>
            <a:pPr algn="just">
              <a:lnSpc>
                <a:spcPts val="3499"/>
              </a:lnSpc>
              <a:spcBef>
                <a:spcPct val="0"/>
              </a:spcBef>
            </a:pPr>
            <a:r>
              <a:rPr lang="en-US" b="true" sz="2499">
                <a:solidFill>
                  <a:srgbClr val="000000"/>
                </a:solidFill>
                <a:latin typeface="Montserrat Bold"/>
                <a:ea typeface="Montserrat Bold"/>
                <a:cs typeface="Montserrat Bold"/>
                <a:sym typeface="Montserrat Bold"/>
              </a:rPr>
              <a:t>Sau khi v6 đạt kết quả khả quan nhất (AUROC dev 0.8540 trên FB, 0.7840 trên Merged), nhóm xác định 3 điểm yếu chính:</a:t>
            </a: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055764" y="0"/>
            <a:ext cx="5021170" cy="10287000"/>
            <a:chOff x="0" y="0"/>
            <a:chExt cx="1322448" cy="2709333"/>
          </a:xfrm>
        </p:grpSpPr>
        <p:sp>
          <p:nvSpPr>
            <p:cNvPr name="Freeform 3" id="3"/>
            <p:cNvSpPr/>
            <p:nvPr/>
          </p:nvSpPr>
          <p:spPr>
            <a:xfrm flipH="false" flipV="false" rot="0">
              <a:off x="0" y="0"/>
              <a:ext cx="1322448" cy="2709333"/>
            </a:xfrm>
            <a:custGeom>
              <a:avLst/>
              <a:gdLst/>
              <a:ahLst/>
              <a:cxnLst/>
              <a:rect r="r" b="b" t="t" l="l"/>
              <a:pathLst>
                <a:path h="2709333" w="1322448">
                  <a:moveTo>
                    <a:pt x="0" y="0"/>
                  </a:moveTo>
                  <a:lnTo>
                    <a:pt x="1322448" y="0"/>
                  </a:lnTo>
                  <a:lnTo>
                    <a:pt x="1322448" y="2709333"/>
                  </a:lnTo>
                  <a:lnTo>
                    <a:pt x="0" y="2709333"/>
                  </a:lnTo>
                  <a:close/>
                </a:path>
              </a:pathLst>
            </a:custGeom>
            <a:solidFill>
              <a:srgbClr val="0C4393"/>
            </a:solidFill>
          </p:spPr>
        </p:sp>
        <p:sp>
          <p:nvSpPr>
            <p:cNvPr name="TextBox 4" id="4"/>
            <p:cNvSpPr txBox="true"/>
            <p:nvPr/>
          </p:nvSpPr>
          <p:spPr>
            <a:xfrm>
              <a:off x="0" y="-38100"/>
              <a:ext cx="1322448" cy="274743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4700679" y="7074186"/>
            <a:ext cx="5946973" cy="594697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FFFFFF">
                  <a:alpha val="15686"/>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63964" y="1993900"/>
            <a:ext cx="3496303" cy="6156325"/>
          </a:xfrm>
          <a:prstGeom prst="rect">
            <a:avLst/>
          </a:prstGeom>
        </p:spPr>
        <p:txBody>
          <a:bodyPr anchor="t" rtlCol="false" tIns="0" lIns="0" bIns="0" rIns="0">
            <a:spAutoFit/>
          </a:bodyPr>
          <a:lstStyle/>
          <a:p>
            <a:pPr algn="ctr">
              <a:lnSpc>
                <a:spcPts val="9800"/>
              </a:lnSpc>
            </a:pPr>
            <a:r>
              <a:rPr lang="en-US" b="true" sz="7000">
                <a:solidFill>
                  <a:srgbClr val="FFBD59"/>
                </a:solidFill>
                <a:latin typeface="Montserrat Bold"/>
                <a:ea typeface="Montserrat Bold"/>
                <a:cs typeface="Montserrat Bold"/>
                <a:sym typeface="Montserrat Bold"/>
              </a:rPr>
              <a:t>ĐỀ XUẤT CẢI TIẾN</a:t>
            </a:r>
          </a:p>
          <a:p>
            <a:pPr algn="ctr" marL="0" indent="0" lvl="0">
              <a:lnSpc>
                <a:spcPts val="9800"/>
              </a:lnSpc>
              <a:spcBef>
                <a:spcPct val="0"/>
              </a:spcBef>
            </a:pPr>
            <a:r>
              <a:rPr lang="en-US" b="true" sz="7000">
                <a:solidFill>
                  <a:srgbClr val="FFBD59"/>
                </a:solidFill>
                <a:latin typeface="Montserrat Bold"/>
                <a:ea typeface="Montserrat Bold"/>
                <a:cs typeface="Montserrat Bold"/>
                <a:sym typeface="Montserrat Bold"/>
              </a:rPr>
              <a:t>MODEL</a:t>
            </a:r>
          </a:p>
        </p:txBody>
      </p:sp>
      <p:sp>
        <p:nvSpPr>
          <p:cNvPr name="TextBox 9" id="9"/>
          <p:cNvSpPr txBox="true"/>
          <p:nvPr/>
        </p:nvSpPr>
        <p:spPr>
          <a:xfrm rot="0">
            <a:off x="10674204" y="9546050"/>
            <a:ext cx="1507522" cy="501622"/>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Poppins"/>
                <a:ea typeface="Poppins"/>
                <a:cs typeface="Poppins"/>
                <a:sym typeface="Poppins"/>
              </a:rPr>
              <a:t>Nhóm 7</a:t>
            </a:r>
          </a:p>
        </p:txBody>
      </p:sp>
      <p:sp>
        <p:nvSpPr>
          <p:cNvPr name="TextBox 10" id="10"/>
          <p:cNvSpPr txBox="true"/>
          <p:nvPr/>
        </p:nvSpPr>
        <p:spPr>
          <a:xfrm rot="0">
            <a:off x="4218773" y="2487613"/>
            <a:ext cx="13645231" cy="5273675"/>
          </a:xfrm>
          <a:prstGeom prst="rect">
            <a:avLst/>
          </a:prstGeom>
        </p:spPr>
        <p:txBody>
          <a:bodyPr anchor="t" rtlCol="false" tIns="0" lIns="0" bIns="0" rIns="0">
            <a:spAutoFit/>
          </a:bodyPr>
          <a:lstStyle/>
          <a:p>
            <a:pPr algn="just">
              <a:lnSpc>
                <a:spcPts val="2800"/>
              </a:lnSpc>
            </a:pPr>
            <a:r>
              <a:rPr lang="en-US" b="true" sz="2000">
                <a:solidFill>
                  <a:srgbClr val="000000"/>
                </a:solidFill>
                <a:latin typeface="Montserrat Bold"/>
                <a:ea typeface="Montserrat Bold"/>
                <a:cs typeface="Montserrat Bold"/>
                <a:sym typeface="Montserrat Bold"/>
              </a:rPr>
              <a:t>COUNTERFACTUAL UNIMODAL SCORING (GIẢI QUYẾT ĐIỂM YẾU ①)</a:t>
            </a:r>
          </a:p>
          <a:p>
            <a:pPr algn="just" marL="431801" indent="-215900" lvl="1">
              <a:lnSpc>
                <a:spcPts val="2800"/>
              </a:lnSpc>
              <a:buFont typeface="Arial"/>
              <a:buChar char="•"/>
            </a:pPr>
            <a:r>
              <a:rPr lang="en-US" sz="2000">
                <a:solidFill>
                  <a:srgbClr val="000000"/>
                </a:solidFill>
                <a:latin typeface="Montserrat"/>
                <a:ea typeface="Montserrat"/>
                <a:cs typeface="Montserrat"/>
                <a:sym typeface="Montserrat"/>
              </a:rPr>
              <a:t>Ý tưởng: một meme chỉ thực sự hateful khi sự kết hợp ảnh + text mang ý nghĩa độc hại, chứ không phải khi từng modality riêng lẻ đã "trông" hateful</a:t>
            </a:r>
          </a:p>
          <a:p>
            <a:pPr algn="just" marL="431801" indent="-215900" lvl="1">
              <a:lnSpc>
                <a:spcPts val="2800"/>
              </a:lnSpc>
              <a:buFont typeface="Arial"/>
              <a:buChar char="•"/>
            </a:pPr>
            <a:r>
              <a:rPr lang="en-US" sz="2000">
                <a:solidFill>
                  <a:srgbClr val="000000"/>
                </a:solidFill>
                <a:latin typeface="Montserrat"/>
                <a:ea typeface="Montserrat"/>
                <a:cs typeface="Montserrat"/>
                <a:sym typeface="Montserrat"/>
              </a:rPr>
              <a:t>Tính score gốc của v6, rồi trừ đi phần đóng góp đơn modality (chạy thêm 2 forward với text trung tính và ảnh trung tính)</a:t>
            </a:r>
          </a:p>
          <a:p>
            <a:pPr algn="just" marL="431801" indent="-215900" lvl="1">
              <a:lnSpc>
                <a:spcPts val="2800"/>
              </a:lnSpc>
              <a:buFont typeface="Arial"/>
              <a:buChar char="•"/>
            </a:pPr>
            <a:r>
              <a:rPr lang="en-US" sz="2000">
                <a:solidFill>
                  <a:srgbClr val="000000"/>
                </a:solidFill>
                <a:latin typeface="Montserrat"/>
                <a:ea typeface="Montserrat"/>
                <a:cs typeface="Montserrat"/>
                <a:sym typeface="Montserrat"/>
              </a:rPr>
              <a:t>Giúp model focus vào tương tác đa phương thức thực sự, robust hơn với các meme confounder vốn dựa vào spurious correlation từ một modality</a:t>
            </a:r>
          </a:p>
          <a:p>
            <a:pPr algn="just">
              <a:lnSpc>
                <a:spcPts val="2800"/>
              </a:lnSpc>
            </a:pPr>
            <a:r>
              <a:rPr lang="en-US" b="true" sz="2000">
                <a:solidFill>
                  <a:srgbClr val="000000"/>
                </a:solidFill>
                <a:latin typeface="Montserrat Bold"/>
                <a:ea typeface="Montserrat Bold"/>
                <a:cs typeface="Montserrat Bold"/>
                <a:sym typeface="Montserrat Bold"/>
              </a:rPr>
              <a:t>RAG-ICL V1 — RETRIEVAL-AUGMENTED IN-CONTEXT LEARNING (GIẢI QUYẾT ĐIỂM YẾU ②)</a:t>
            </a:r>
          </a:p>
          <a:p>
            <a:pPr algn="just" marL="431801" indent="-215900" lvl="1">
              <a:lnSpc>
                <a:spcPts val="2800"/>
              </a:lnSpc>
              <a:buFont typeface="Arial"/>
              <a:buChar char="•"/>
            </a:pPr>
            <a:r>
              <a:rPr lang="en-US" sz="2000">
                <a:solidFill>
                  <a:srgbClr val="000000"/>
                </a:solidFill>
                <a:latin typeface="Montserrat"/>
                <a:ea typeface="Montserrat"/>
                <a:cs typeface="Montserrat"/>
                <a:sym typeface="Montserrat"/>
              </a:rPr>
              <a:t>Ý tưởng: biến tập train thành một "memory bank" có thể truy xuất tại thời điểm inference</a:t>
            </a:r>
          </a:p>
          <a:p>
            <a:pPr algn="just" marL="431801" indent="-215900" lvl="1">
              <a:lnSpc>
                <a:spcPts val="2800"/>
              </a:lnSpc>
              <a:buFont typeface="Arial"/>
              <a:buChar char="•"/>
            </a:pPr>
            <a:r>
              <a:rPr lang="en-US" sz="2000">
                <a:solidFill>
                  <a:srgbClr val="000000"/>
                </a:solidFill>
                <a:latin typeface="Montserrat"/>
                <a:ea typeface="Montserrat"/>
                <a:cs typeface="Montserrat"/>
                <a:sym typeface="Montserrat"/>
              </a:rPr>
              <a:t>Với mỗi mẫu test, tìm ra hai meme tương tự nhất trong train (1 hateful + 1 benign), đưa làm ví dụ minh hoạ trong prompt</a:t>
            </a:r>
          </a:p>
          <a:p>
            <a:pPr algn="just" marL="431801" indent="-215900" lvl="1">
              <a:lnSpc>
                <a:spcPts val="2800"/>
              </a:lnSpc>
              <a:buFont typeface="Arial"/>
              <a:buChar char="•"/>
            </a:pPr>
            <a:r>
              <a:rPr lang="en-US" sz="2000">
                <a:solidFill>
                  <a:srgbClr val="000000"/>
                </a:solidFill>
                <a:latin typeface="Montserrat"/>
                <a:ea typeface="Montserrat"/>
                <a:cs typeface="Montserrat"/>
                <a:sym typeface="Montserrat"/>
              </a:rPr>
              <a:t>Mô hình học theo analogy — phân loại bằng cách so sánh với ví dụ tương tự, thay vì chỉ dựa vào weights đã nén kiến thức</a:t>
            </a:r>
          </a:p>
          <a:p>
            <a:pPr algn="just" marL="431801" indent="-215900" lvl="1">
              <a:lnSpc>
                <a:spcPts val="2800"/>
              </a:lnSpc>
              <a:buFont typeface="Arial"/>
              <a:buChar char="•"/>
            </a:pPr>
            <a:r>
              <a:rPr lang="en-US" sz="2000">
                <a:solidFill>
                  <a:srgbClr val="000000"/>
                </a:solidFill>
                <a:latin typeface="Montserrat"/>
                <a:ea typeface="Montserrat"/>
                <a:cs typeface="Montserrat"/>
                <a:sym typeface="Montserrat"/>
              </a:rPr>
              <a:t>Lấy cảm hứng từ few-shot in-context learning của GPT-3 và RAG</a:t>
            </a:r>
          </a:p>
          <a:p>
            <a:pPr algn="just">
              <a:lnSpc>
                <a:spcPts val="2800"/>
              </a:lnSpc>
              <a:spcBef>
                <a:spcPct val="0"/>
              </a:spcBef>
            </a:pPr>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055764" y="0"/>
            <a:ext cx="5021170" cy="10287000"/>
            <a:chOff x="0" y="0"/>
            <a:chExt cx="1322448" cy="2709333"/>
          </a:xfrm>
        </p:grpSpPr>
        <p:sp>
          <p:nvSpPr>
            <p:cNvPr name="Freeform 3" id="3"/>
            <p:cNvSpPr/>
            <p:nvPr/>
          </p:nvSpPr>
          <p:spPr>
            <a:xfrm flipH="false" flipV="false" rot="0">
              <a:off x="0" y="0"/>
              <a:ext cx="1322448" cy="2709333"/>
            </a:xfrm>
            <a:custGeom>
              <a:avLst/>
              <a:gdLst/>
              <a:ahLst/>
              <a:cxnLst/>
              <a:rect r="r" b="b" t="t" l="l"/>
              <a:pathLst>
                <a:path h="2709333" w="1322448">
                  <a:moveTo>
                    <a:pt x="0" y="0"/>
                  </a:moveTo>
                  <a:lnTo>
                    <a:pt x="1322448" y="0"/>
                  </a:lnTo>
                  <a:lnTo>
                    <a:pt x="1322448" y="2709333"/>
                  </a:lnTo>
                  <a:lnTo>
                    <a:pt x="0" y="2709333"/>
                  </a:lnTo>
                  <a:close/>
                </a:path>
              </a:pathLst>
            </a:custGeom>
            <a:solidFill>
              <a:srgbClr val="0C4393"/>
            </a:solidFill>
          </p:spPr>
        </p:sp>
        <p:sp>
          <p:nvSpPr>
            <p:cNvPr name="TextBox 4" id="4"/>
            <p:cNvSpPr txBox="true"/>
            <p:nvPr/>
          </p:nvSpPr>
          <p:spPr>
            <a:xfrm>
              <a:off x="0" y="-38100"/>
              <a:ext cx="1322448" cy="274743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4700679" y="7074186"/>
            <a:ext cx="5946973" cy="594697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FFFFFF">
                  <a:alpha val="15686"/>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63964" y="1993900"/>
            <a:ext cx="3496303" cy="6156325"/>
          </a:xfrm>
          <a:prstGeom prst="rect">
            <a:avLst/>
          </a:prstGeom>
        </p:spPr>
        <p:txBody>
          <a:bodyPr anchor="t" rtlCol="false" tIns="0" lIns="0" bIns="0" rIns="0">
            <a:spAutoFit/>
          </a:bodyPr>
          <a:lstStyle/>
          <a:p>
            <a:pPr algn="ctr">
              <a:lnSpc>
                <a:spcPts val="9800"/>
              </a:lnSpc>
            </a:pPr>
            <a:r>
              <a:rPr lang="en-US" b="true" sz="7000">
                <a:solidFill>
                  <a:srgbClr val="FFBD59"/>
                </a:solidFill>
                <a:latin typeface="Montserrat Bold"/>
                <a:ea typeface="Montserrat Bold"/>
                <a:cs typeface="Montserrat Bold"/>
                <a:sym typeface="Montserrat Bold"/>
              </a:rPr>
              <a:t>ĐỀ XUẤT CẢI TIẾN</a:t>
            </a:r>
          </a:p>
          <a:p>
            <a:pPr algn="ctr" marL="0" indent="0" lvl="0">
              <a:lnSpc>
                <a:spcPts val="9800"/>
              </a:lnSpc>
              <a:spcBef>
                <a:spcPct val="0"/>
              </a:spcBef>
            </a:pPr>
            <a:r>
              <a:rPr lang="en-US" b="true" sz="7000">
                <a:solidFill>
                  <a:srgbClr val="FFBD59"/>
                </a:solidFill>
                <a:latin typeface="Montserrat Bold"/>
                <a:ea typeface="Montserrat Bold"/>
                <a:cs typeface="Montserrat Bold"/>
                <a:sym typeface="Montserrat Bold"/>
              </a:rPr>
              <a:t>MODEL</a:t>
            </a:r>
          </a:p>
        </p:txBody>
      </p:sp>
      <p:sp>
        <p:nvSpPr>
          <p:cNvPr name="TextBox 9" id="9"/>
          <p:cNvSpPr txBox="true"/>
          <p:nvPr/>
        </p:nvSpPr>
        <p:spPr>
          <a:xfrm rot="0">
            <a:off x="10674204" y="9546050"/>
            <a:ext cx="1507522" cy="501622"/>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Poppins"/>
                <a:ea typeface="Poppins"/>
                <a:cs typeface="Poppins"/>
                <a:sym typeface="Poppins"/>
              </a:rPr>
              <a:t>Nhóm 7</a:t>
            </a:r>
          </a:p>
        </p:txBody>
      </p:sp>
      <p:sp>
        <p:nvSpPr>
          <p:cNvPr name="TextBox 10" id="10"/>
          <p:cNvSpPr txBox="true"/>
          <p:nvPr/>
        </p:nvSpPr>
        <p:spPr>
          <a:xfrm rot="0">
            <a:off x="4340828" y="2311400"/>
            <a:ext cx="13645231" cy="5626100"/>
          </a:xfrm>
          <a:prstGeom prst="rect">
            <a:avLst/>
          </a:prstGeom>
        </p:spPr>
        <p:txBody>
          <a:bodyPr anchor="t" rtlCol="false" tIns="0" lIns="0" bIns="0" rIns="0">
            <a:spAutoFit/>
          </a:bodyPr>
          <a:lstStyle/>
          <a:p>
            <a:pPr algn="just">
              <a:lnSpc>
                <a:spcPts val="2800"/>
              </a:lnSpc>
            </a:pPr>
            <a:r>
              <a:rPr lang="en-US" b="true" sz="2000">
                <a:solidFill>
                  <a:srgbClr val="000000"/>
                </a:solidFill>
                <a:latin typeface="Montserrat Bold"/>
                <a:ea typeface="Montserrat Bold"/>
                <a:cs typeface="Montserrat Bold"/>
                <a:sym typeface="Montserrat Bold"/>
              </a:rPr>
              <a:t>RAG-ICL V2 — IMAGE-AUGMENTED RETRIEVAL (CẢI THIỆN ĐIỂM YẾU ②)</a:t>
            </a:r>
          </a:p>
          <a:p>
            <a:pPr algn="l" marL="431801" indent="-215900" lvl="1">
              <a:lnSpc>
                <a:spcPts val="2800"/>
              </a:lnSpc>
              <a:buFont typeface="Arial"/>
              <a:buChar char="•"/>
            </a:pPr>
            <a:r>
              <a:rPr lang="en-US" sz="2000">
                <a:solidFill>
                  <a:srgbClr val="000000"/>
                </a:solidFill>
                <a:latin typeface="Montserrat"/>
                <a:ea typeface="Montserrat"/>
                <a:cs typeface="Montserrat"/>
                <a:sym typeface="Montserrat"/>
              </a:rPr>
              <a:t>Ý tưởng: cải thiện chất lượng retrieval bằng cách tách 2 không gian embedding: một thiên về text, một thiên về image</a:t>
            </a:r>
          </a:p>
          <a:p>
            <a:pPr algn="l" marL="431801" indent="-215900" lvl="1">
              <a:lnSpc>
                <a:spcPts val="2800"/>
              </a:lnSpc>
              <a:buFont typeface="Arial"/>
              <a:buChar char="•"/>
            </a:pPr>
            <a:r>
              <a:rPr lang="en-US" sz="2000">
                <a:solidFill>
                  <a:srgbClr val="000000"/>
                </a:solidFill>
                <a:latin typeface="Montserrat"/>
                <a:ea typeface="Montserrat"/>
                <a:cs typeface="Montserrat"/>
                <a:sym typeface="Montserrat"/>
              </a:rPr>
              <a:t>Khi tìm neighbors, cân bằng cả 2 góc nhìn để retrieve ví dụ thực sự liên quan (không chỉ tương tự text mà còn tương tự hình ảnh)</a:t>
            </a:r>
          </a:p>
          <a:p>
            <a:pPr algn="l" marL="431801" indent="-215900" lvl="1">
              <a:lnSpc>
                <a:spcPts val="2800"/>
              </a:lnSpc>
              <a:buFont typeface="Arial"/>
              <a:buChar char="•"/>
            </a:pPr>
            <a:r>
              <a:rPr lang="en-US" sz="2000">
                <a:solidFill>
                  <a:srgbClr val="000000"/>
                </a:solidFill>
                <a:latin typeface="Montserrat"/>
                <a:ea typeface="Montserrat"/>
                <a:cs typeface="Montserrat"/>
                <a:sym typeface="Montserrat"/>
              </a:rPr>
              <a:t>Tham số cân bằng (β) được grid search trên dev để tìm tỷ lệ image/text tối ưu</a:t>
            </a:r>
          </a:p>
          <a:p>
            <a:pPr algn="l" marL="431801" indent="-215900" lvl="1">
              <a:lnSpc>
                <a:spcPts val="2800"/>
              </a:lnSpc>
              <a:buFont typeface="Arial"/>
              <a:buChar char="•"/>
            </a:pPr>
            <a:r>
              <a:rPr lang="en-US" sz="2000">
                <a:solidFill>
                  <a:srgbClr val="000000"/>
                </a:solidFill>
                <a:latin typeface="Montserrat"/>
                <a:ea typeface="Montserrat"/>
                <a:cs typeface="Montserrat"/>
                <a:sym typeface="Montserrat"/>
              </a:rPr>
              <a:t>Khắc phục hạn chế của v1: chỉ dùng 1 embedding kết hợp có thể bị thiên lệch về text</a:t>
            </a:r>
          </a:p>
          <a:p>
            <a:pPr algn="just">
              <a:lnSpc>
                <a:spcPts val="2800"/>
              </a:lnSpc>
            </a:pPr>
            <a:r>
              <a:rPr lang="en-US" b="true" sz="2000">
                <a:solidFill>
                  <a:srgbClr val="000000"/>
                </a:solidFill>
                <a:latin typeface="Montserrat Bold"/>
                <a:ea typeface="Montserrat Bold"/>
                <a:cs typeface="Montserrat Bold"/>
                <a:sym typeface="Montserrat Bold"/>
              </a:rPr>
              <a:t>ENSEMBLE FUSION (OPTION D) (GIẢI QUYẾT ĐIỂM YẾU 3)</a:t>
            </a:r>
          </a:p>
          <a:p>
            <a:pPr algn="l" marL="431801" indent="-215900" lvl="1">
              <a:lnSpc>
                <a:spcPts val="2800"/>
              </a:lnSpc>
              <a:buFont typeface="Arial"/>
              <a:buChar char="•"/>
            </a:pPr>
            <a:r>
              <a:rPr lang="en-US" sz="2000">
                <a:solidFill>
                  <a:srgbClr val="000000"/>
                </a:solidFill>
                <a:latin typeface="Montserrat"/>
                <a:ea typeface="Montserrat"/>
                <a:cs typeface="Montserrat"/>
                <a:sym typeface="Montserrat"/>
              </a:rPr>
              <a:t>Ý tưởng: thay vì chỉ dùng 1 score, kết hợp 3 nguồn score có paradigm khác nhau (v6, CF, RAG-ICL) thành 1 dự đoán tổng hợp</a:t>
            </a:r>
          </a:p>
          <a:p>
            <a:pPr algn="l" marL="431801" indent="-215900" lvl="1">
              <a:lnSpc>
                <a:spcPts val="2800"/>
              </a:lnSpc>
              <a:buFont typeface="Arial"/>
              <a:buChar char="•"/>
            </a:pPr>
            <a:r>
              <a:rPr lang="en-US" sz="2000">
                <a:solidFill>
                  <a:srgbClr val="000000"/>
                </a:solidFill>
                <a:latin typeface="Montserrat"/>
                <a:ea typeface="Montserrat"/>
                <a:cs typeface="Montserrat"/>
                <a:sym typeface="Montserrat"/>
              </a:rPr>
              <a:t>Tìm trọng số tối ưu cho từng nguồn bằng grid search trên dev set — nguồn nào tốt sẽ được weight cao, nguồn nào kém sẽ bị weight thấp (thậm chí 0)</a:t>
            </a:r>
          </a:p>
          <a:p>
            <a:pPr algn="l" marL="431801" indent="-215900" lvl="1">
              <a:lnSpc>
                <a:spcPts val="2800"/>
              </a:lnSpc>
              <a:buFont typeface="Arial"/>
              <a:buChar char="•"/>
            </a:pPr>
            <a:r>
              <a:rPr lang="en-US" sz="2000">
                <a:solidFill>
                  <a:srgbClr val="000000"/>
                </a:solidFill>
                <a:latin typeface="Montserrat"/>
                <a:ea typeface="Montserrat"/>
                <a:cs typeface="Montserrat"/>
                <a:sym typeface="Montserrat"/>
              </a:rPr>
              <a:t>Tận dụng tính đa dạng paradigm giữa 3 nguồn: v6 (direct), CF (causal), RAG (analogy) → giảm variance, tăng độ tin cậy</a:t>
            </a:r>
          </a:p>
          <a:p>
            <a:pPr algn="l" marL="431801" indent="-215900" lvl="1">
              <a:lnSpc>
                <a:spcPts val="2800"/>
              </a:lnSpc>
              <a:buFont typeface="Arial"/>
              <a:buChar char="•"/>
            </a:pPr>
            <a:r>
              <a:rPr lang="en-US" sz="2000">
                <a:solidFill>
                  <a:srgbClr val="000000"/>
                </a:solidFill>
                <a:latin typeface="Montserrat"/>
                <a:ea typeface="Montserrat"/>
                <a:cs typeface="Montserrat"/>
                <a:sym typeface="Montserrat"/>
              </a:rPr>
              <a:t>Dựa trên kỹ thuật Deep Ensemble (Lakshminarayanan et al. 2017)</a:t>
            </a:r>
          </a:p>
          <a:p>
            <a:pPr algn="just">
              <a:lnSpc>
                <a:spcPts val="2800"/>
              </a:lnSpc>
              <a:spcBef>
                <a:spcPct val="0"/>
              </a:spcBef>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aphicFrame>
        <p:nvGraphicFramePr>
          <p:cNvPr name="Object 2" id="2"/>
          <p:cNvGraphicFramePr/>
          <p:nvPr/>
        </p:nvGraphicFramePr>
        <p:xfrm>
          <a:off x="481113" y="2115620"/>
          <a:ext cx="9429750" cy="4400550"/>
        </p:xfrm>
        <a:graphic>
          <a:graphicData uri="http://schemas.openxmlformats.org/presentationml/2006/ole">
            <p:oleObj imgW="11315700" imgH="62865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1950717" y="1178631"/>
            <a:ext cx="6380883" cy="655469"/>
          </a:xfrm>
          <a:prstGeom prst="rect">
            <a:avLst/>
          </a:prstGeom>
        </p:spPr>
        <p:txBody>
          <a:bodyPr anchor="t" rtlCol="false" tIns="0" lIns="0" bIns="0" rIns="0">
            <a:spAutoFit/>
          </a:bodyPr>
          <a:lstStyle/>
          <a:p>
            <a:pPr algn="ctr" marL="0" indent="0" lvl="0">
              <a:lnSpc>
                <a:spcPts val="5346"/>
              </a:lnSpc>
              <a:spcBef>
                <a:spcPct val="0"/>
              </a:spcBef>
            </a:pPr>
            <a:r>
              <a:rPr lang="en-US" b="true" sz="3819">
                <a:solidFill>
                  <a:srgbClr val="051D40"/>
                </a:solidFill>
                <a:latin typeface="Montserrat Bold"/>
                <a:ea typeface="Montserrat Bold"/>
                <a:cs typeface="Montserrat Bold"/>
                <a:sym typeface="Montserrat Bold"/>
              </a:rPr>
              <a:t>KẾT QUẢ VÀ NHẬN XÉT</a:t>
            </a:r>
          </a:p>
        </p:txBody>
      </p:sp>
      <p:sp>
        <p:nvSpPr>
          <p:cNvPr name="TextBox 4" id="4"/>
          <p:cNvSpPr txBox="true"/>
          <p:nvPr/>
        </p:nvSpPr>
        <p:spPr>
          <a:xfrm rot="0">
            <a:off x="10088953" y="843841"/>
            <a:ext cx="6890847" cy="2232660"/>
          </a:xfrm>
          <a:prstGeom prst="rect">
            <a:avLst/>
          </a:prstGeom>
        </p:spPr>
        <p:txBody>
          <a:bodyPr anchor="t" rtlCol="false" tIns="0" lIns="0" bIns="0" rIns="0">
            <a:spAutoFit/>
          </a:bodyPr>
          <a:lstStyle/>
          <a:p>
            <a:pPr algn="l">
              <a:lnSpc>
                <a:spcPts val="2940"/>
              </a:lnSpc>
            </a:pPr>
            <a:r>
              <a:rPr lang="en-US" sz="2100" i="true" spc="-42">
                <a:solidFill>
                  <a:srgbClr val="145DA0"/>
                </a:solidFill>
                <a:latin typeface="Poppins Italics"/>
                <a:ea typeface="Poppins Italics"/>
                <a:cs typeface="Poppins Italics"/>
                <a:sym typeface="Poppins Italics"/>
              </a:rPr>
              <a:t>V6</a:t>
            </a:r>
            <a:r>
              <a:rPr lang="en-US" sz="2100" i="true" spc="-42" strike="noStrike" u="none">
                <a:solidFill>
                  <a:srgbClr val="145DA0"/>
                </a:solidFill>
                <a:latin typeface="Poppins Italics"/>
                <a:ea typeface="Poppins Italics"/>
                <a:cs typeface="Poppins Italics"/>
                <a:sym typeface="Poppins Italics"/>
              </a:rPr>
              <a:t> đạt AUROC 0.8540 trên dev (FB), gần ngưỡng tối đa của Qwen2-VL-2B + LoRA, khiến các cải tiến tiếp theo chỉ thay đổi ≤ ±0.005. Grid search ensemble tự loại bỏ RAG (w₃ = 0.0) do RAG kém v6 ~4 điểm — minh chứng cho thấy grid search hoạt động đúng, biết nhận diện và bỏ qua nhiễu.</a:t>
            </a:r>
          </a:p>
        </p:txBody>
      </p:sp>
      <p:sp>
        <p:nvSpPr>
          <p:cNvPr name="TextBox 5" id="5"/>
          <p:cNvSpPr txBox="true"/>
          <p:nvPr/>
        </p:nvSpPr>
        <p:spPr>
          <a:xfrm rot="0">
            <a:off x="10088953" y="3296636"/>
            <a:ext cx="6890847" cy="2975610"/>
          </a:xfrm>
          <a:prstGeom prst="rect">
            <a:avLst/>
          </a:prstGeom>
        </p:spPr>
        <p:txBody>
          <a:bodyPr anchor="t" rtlCol="false" tIns="0" lIns="0" bIns="0" rIns="0">
            <a:spAutoFit/>
          </a:bodyPr>
          <a:lstStyle/>
          <a:p>
            <a:pPr algn="l">
              <a:lnSpc>
                <a:spcPts val="2940"/>
              </a:lnSpc>
            </a:pPr>
            <a:r>
              <a:rPr lang="en-US" sz="2100" i="true" spc="-42">
                <a:solidFill>
                  <a:srgbClr val="145DA0"/>
                </a:solidFill>
                <a:latin typeface="Poppins Italics"/>
                <a:ea typeface="Poppins Italics"/>
                <a:cs typeface="Poppins Italics"/>
                <a:sym typeface="Poppins Italics"/>
              </a:rPr>
              <a:t>Trên Merged Dataset, v6 chỉ đạt 0.7840 nên ba paradigm (v6/CF/RAG) có hiệu năng tương đương, giúp ensemble khai thác được tính đa dạng thực sự. Ensemble v1 chọn w₁=0.5, w₂=0.05, w₃=0.45 — gần như 50/50 giữa v6 và RAG — mang lại cải thiện có ý nghĩa: +0.0064 dev và +0.0081 test, là kết quả meaningful duy nhất vượt qua ngưỡng nhiễu thống kê (SE ≈ 0.013, n=1333).</a:t>
            </a:r>
          </a:p>
        </p:txBody>
      </p:sp>
      <p:sp>
        <p:nvSpPr>
          <p:cNvPr name="TextBox 6" id="6"/>
          <p:cNvSpPr txBox="true"/>
          <p:nvPr/>
        </p:nvSpPr>
        <p:spPr>
          <a:xfrm rot="0">
            <a:off x="16505539" y="9499986"/>
            <a:ext cx="1507522" cy="501556"/>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Poppins"/>
                <a:ea typeface="Poppins"/>
                <a:cs typeface="Poppins"/>
                <a:sym typeface="Poppins"/>
              </a:rPr>
              <a:t>Nhóm 7</a:t>
            </a:r>
          </a:p>
        </p:txBody>
      </p:sp>
      <p:grpSp>
        <p:nvGrpSpPr>
          <p:cNvPr name="Group 7" id="7"/>
          <p:cNvGrpSpPr/>
          <p:nvPr/>
        </p:nvGrpSpPr>
        <p:grpSpPr>
          <a:xfrm rot="0">
            <a:off x="-687305" y="8917528"/>
            <a:ext cx="1752197" cy="175219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9E"/>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385225" y="9585711"/>
            <a:ext cx="1286950" cy="128695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16707821" y="-618583"/>
            <a:ext cx="1752197" cy="175219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9E"/>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17780351" y="257516"/>
            <a:ext cx="1286950" cy="128695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10088953" y="6510371"/>
            <a:ext cx="7111327" cy="2585085"/>
          </a:xfrm>
          <a:prstGeom prst="rect">
            <a:avLst/>
          </a:prstGeom>
        </p:spPr>
        <p:txBody>
          <a:bodyPr anchor="t" rtlCol="false" tIns="0" lIns="0" bIns="0" rIns="0">
            <a:spAutoFit/>
          </a:bodyPr>
          <a:lstStyle/>
          <a:p>
            <a:pPr algn="l">
              <a:lnSpc>
                <a:spcPts val="2940"/>
              </a:lnSpc>
              <a:spcBef>
                <a:spcPct val="0"/>
              </a:spcBef>
            </a:pPr>
            <a:r>
              <a:rPr lang="en-US" sz="2100">
                <a:solidFill>
                  <a:srgbClr val="00569E"/>
                </a:solidFill>
                <a:latin typeface="Montserrat"/>
                <a:ea typeface="Montserrat"/>
                <a:cs typeface="Montserrat"/>
                <a:sym typeface="Montserrat"/>
              </a:rPr>
              <a:t>Trên FB, Ensemble v1 và v2 ch</a:t>
            </a:r>
            <a:r>
              <a:rPr lang="en-US" sz="2100">
                <a:solidFill>
                  <a:srgbClr val="00569E"/>
                </a:solidFill>
                <a:latin typeface="Montserrat"/>
                <a:ea typeface="Montserrat"/>
                <a:cs typeface="Montserrat"/>
                <a:sym typeface="Montserrat"/>
              </a:rPr>
              <a:t>o kết quả giống hệt nhau (dev 0.8555, test 0.7559) vì cả hai đều loại RAG (w₃=0), nghĩa là RAG v2 không mang thêm giá trị nào. Trên Merged, Ensemble v2 thậm chí kém v1 trên test (0.7552 vs 0.7571), cho thấy RAG v2 cải thiện dev nhưng lại yếu hơn ở test. Kết luận: RAG v1 là lựa chọn tốt hơn cho ensemble cuối</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Freeform 2" id="2"/>
          <p:cNvSpPr/>
          <p:nvPr/>
        </p:nvSpPr>
        <p:spPr>
          <a:xfrm flipH="false" flipV="false" rot="0">
            <a:off x="651820" y="1534323"/>
            <a:ext cx="16984361" cy="7218353"/>
          </a:xfrm>
          <a:custGeom>
            <a:avLst/>
            <a:gdLst/>
            <a:ahLst/>
            <a:cxnLst/>
            <a:rect r="r" b="b" t="t" l="l"/>
            <a:pathLst>
              <a:path h="7218353" w="16984361">
                <a:moveTo>
                  <a:pt x="0" y="0"/>
                </a:moveTo>
                <a:lnTo>
                  <a:pt x="16984360" y="0"/>
                </a:lnTo>
                <a:lnTo>
                  <a:pt x="16984360" y="7218354"/>
                </a:lnTo>
                <a:lnTo>
                  <a:pt x="0" y="7218354"/>
                </a:lnTo>
                <a:lnTo>
                  <a:pt x="0" y="0"/>
                </a:lnTo>
                <a:close/>
              </a:path>
            </a:pathLst>
          </a:custGeom>
          <a:blipFill>
            <a:blip r:embed="rId2"/>
            <a:stretch>
              <a:fillRect l="0" t="0" r="0" b="0"/>
            </a:stretch>
          </a:blipFill>
        </p:spPr>
      </p:sp>
      <p:sp>
        <p:nvSpPr>
          <p:cNvPr name="TextBox 3" id="3"/>
          <p:cNvSpPr txBox="true"/>
          <p:nvPr/>
        </p:nvSpPr>
        <p:spPr>
          <a:xfrm rot="0">
            <a:off x="481113" y="373231"/>
            <a:ext cx="6380883" cy="655469"/>
          </a:xfrm>
          <a:prstGeom prst="rect">
            <a:avLst/>
          </a:prstGeom>
        </p:spPr>
        <p:txBody>
          <a:bodyPr anchor="t" rtlCol="false" tIns="0" lIns="0" bIns="0" rIns="0">
            <a:spAutoFit/>
          </a:bodyPr>
          <a:lstStyle/>
          <a:p>
            <a:pPr algn="ctr" marL="0" indent="0" lvl="0">
              <a:lnSpc>
                <a:spcPts val="5346"/>
              </a:lnSpc>
              <a:spcBef>
                <a:spcPct val="0"/>
              </a:spcBef>
            </a:pPr>
            <a:r>
              <a:rPr lang="en-US" b="true" sz="3819">
                <a:solidFill>
                  <a:srgbClr val="051D40"/>
                </a:solidFill>
                <a:latin typeface="Montserrat Bold"/>
                <a:ea typeface="Montserrat Bold"/>
                <a:cs typeface="Montserrat Bold"/>
                <a:sym typeface="Montserrat Bold"/>
              </a:rPr>
              <a:t>KẾT QUẢ VÀ NHẬN XÉT</a:t>
            </a:r>
          </a:p>
        </p:txBody>
      </p:sp>
      <p:sp>
        <p:nvSpPr>
          <p:cNvPr name="TextBox 4" id="4"/>
          <p:cNvSpPr txBox="true"/>
          <p:nvPr/>
        </p:nvSpPr>
        <p:spPr>
          <a:xfrm rot="0">
            <a:off x="16505539" y="9499986"/>
            <a:ext cx="1507522" cy="501556"/>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Poppins"/>
                <a:ea typeface="Poppins"/>
                <a:cs typeface="Poppins"/>
                <a:sym typeface="Poppins"/>
              </a:rPr>
              <a:t>Nhóm 7</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Freeform 2" id="2"/>
          <p:cNvSpPr/>
          <p:nvPr/>
        </p:nvSpPr>
        <p:spPr>
          <a:xfrm flipH="false" flipV="false" rot="0">
            <a:off x="513490" y="1480113"/>
            <a:ext cx="17261020" cy="7326774"/>
          </a:xfrm>
          <a:custGeom>
            <a:avLst/>
            <a:gdLst/>
            <a:ahLst/>
            <a:cxnLst/>
            <a:rect r="r" b="b" t="t" l="l"/>
            <a:pathLst>
              <a:path h="7326774" w="17261020">
                <a:moveTo>
                  <a:pt x="0" y="0"/>
                </a:moveTo>
                <a:lnTo>
                  <a:pt x="17261020" y="0"/>
                </a:lnTo>
                <a:lnTo>
                  <a:pt x="17261020" y="7326774"/>
                </a:lnTo>
                <a:lnTo>
                  <a:pt x="0" y="7326774"/>
                </a:lnTo>
                <a:lnTo>
                  <a:pt x="0" y="0"/>
                </a:lnTo>
                <a:close/>
              </a:path>
            </a:pathLst>
          </a:custGeom>
          <a:blipFill>
            <a:blip r:embed="rId2"/>
            <a:stretch>
              <a:fillRect l="0" t="-62" r="0" b="-62"/>
            </a:stretch>
          </a:blipFill>
        </p:spPr>
      </p:sp>
      <p:sp>
        <p:nvSpPr>
          <p:cNvPr name="TextBox 3" id="3"/>
          <p:cNvSpPr txBox="true"/>
          <p:nvPr/>
        </p:nvSpPr>
        <p:spPr>
          <a:xfrm rot="0">
            <a:off x="338715" y="373231"/>
            <a:ext cx="6380883" cy="655469"/>
          </a:xfrm>
          <a:prstGeom prst="rect">
            <a:avLst/>
          </a:prstGeom>
        </p:spPr>
        <p:txBody>
          <a:bodyPr anchor="t" rtlCol="false" tIns="0" lIns="0" bIns="0" rIns="0">
            <a:spAutoFit/>
          </a:bodyPr>
          <a:lstStyle/>
          <a:p>
            <a:pPr algn="ctr" marL="0" indent="0" lvl="0">
              <a:lnSpc>
                <a:spcPts val="5346"/>
              </a:lnSpc>
              <a:spcBef>
                <a:spcPct val="0"/>
              </a:spcBef>
            </a:pPr>
            <a:r>
              <a:rPr lang="en-US" b="true" sz="3819">
                <a:solidFill>
                  <a:srgbClr val="051D40"/>
                </a:solidFill>
                <a:latin typeface="Montserrat Bold"/>
                <a:ea typeface="Montserrat Bold"/>
                <a:cs typeface="Montserrat Bold"/>
                <a:sym typeface="Montserrat Bold"/>
              </a:rPr>
              <a:t>KẾT QUẢ VÀ NHẬN XÉT</a:t>
            </a:r>
          </a:p>
        </p:txBody>
      </p:sp>
      <p:sp>
        <p:nvSpPr>
          <p:cNvPr name="TextBox 4" id="4"/>
          <p:cNvSpPr txBox="true"/>
          <p:nvPr/>
        </p:nvSpPr>
        <p:spPr>
          <a:xfrm rot="0">
            <a:off x="16505539" y="9499986"/>
            <a:ext cx="1507522" cy="501556"/>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Poppins"/>
                <a:ea typeface="Poppins"/>
                <a:cs typeface="Poppins"/>
                <a:sym typeface="Poppins"/>
              </a:rPr>
              <a:t>Nhóm 7</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2984270" y="2902843"/>
            <a:ext cx="7358801" cy="1550921"/>
          </a:xfrm>
          <a:prstGeom prst="rect">
            <a:avLst/>
          </a:prstGeom>
        </p:spPr>
        <p:txBody>
          <a:bodyPr anchor="t" rtlCol="false" tIns="0" lIns="0" bIns="0" rIns="0">
            <a:spAutoFit/>
          </a:bodyPr>
          <a:lstStyle/>
          <a:p>
            <a:pPr algn="l" marL="0" indent="0" lvl="0">
              <a:lnSpc>
                <a:spcPts val="12691"/>
              </a:lnSpc>
              <a:spcBef>
                <a:spcPct val="0"/>
              </a:spcBef>
            </a:pPr>
            <a:r>
              <a:rPr lang="en-US" b="true" sz="9065">
                <a:solidFill>
                  <a:srgbClr val="051D40"/>
                </a:solidFill>
                <a:latin typeface="Montserrat Bold"/>
                <a:ea typeface="Montserrat Bold"/>
                <a:cs typeface="Montserrat Bold"/>
                <a:sym typeface="Montserrat Bold"/>
              </a:rPr>
              <a:t>THANK YOU</a:t>
            </a:r>
          </a:p>
        </p:txBody>
      </p:sp>
      <p:grpSp>
        <p:nvGrpSpPr>
          <p:cNvPr name="Group 3" id="3"/>
          <p:cNvGrpSpPr/>
          <p:nvPr/>
        </p:nvGrpSpPr>
        <p:grpSpPr>
          <a:xfrm rot="0">
            <a:off x="-1820568" y="0"/>
            <a:ext cx="20108568" cy="756959"/>
            <a:chOff x="0" y="0"/>
            <a:chExt cx="5296084" cy="199364"/>
          </a:xfrm>
        </p:grpSpPr>
        <p:sp>
          <p:nvSpPr>
            <p:cNvPr name="Freeform 4" id="4"/>
            <p:cNvSpPr/>
            <p:nvPr/>
          </p:nvSpPr>
          <p:spPr>
            <a:xfrm flipH="false" flipV="false" rot="0">
              <a:off x="0" y="0"/>
              <a:ext cx="5296084" cy="199364"/>
            </a:xfrm>
            <a:custGeom>
              <a:avLst/>
              <a:gdLst/>
              <a:ahLst/>
              <a:cxnLst/>
              <a:rect r="r" b="b" t="t" l="l"/>
              <a:pathLst>
                <a:path h="199364" w="5296084">
                  <a:moveTo>
                    <a:pt x="0" y="0"/>
                  </a:moveTo>
                  <a:lnTo>
                    <a:pt x="5296084" y="0"/>
                  </a:lnTo>
                  <a:lnTo>
                    <a:pt x="5296084" y="199364"/>
                  </a:lnTo>
                  <a:lnTo>
                    <a:pt x="0" y="199364"/>
                  </a:lnTo>
                  <a:close/>
                </a:path>
              </a:pathLst>
            </a:custGeom>
            <a:solidFill>
              <a:srgbClr val="5B98BA"/>
            </a:solidFill>
            <a:ln cap="sq">
              <a:noFill/>
              <a:prstDash val="solid"/>
              <a:miter/>
            </a:ln>
          </p:spPr>
        </p:sp>
        <p:sp>
          <p:nvSpPr>
            <p:cNvPr name="TextBox 5" id="5"/>
            <p:cNvSpPr txBox="true"/>
            <p:nvPr/>
          </p:nvSpPr>
          <p:spPr>
            <a:xfrm>
              <a:off x="0" y="-38100"/>
              <a:ext cx="5296084" cy="237464"/>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576457" y="9530041"/>
            <a:ext cx="19864457" cy="756959"/>
            <a:chOff x="0" y="0"/>
            <a:chExt cx="5231791" cy="199364"/>
          </a:xfrm>
        </p:grpSpPr>
        <p:sp>
          <p:nvSpPr>
            <p:cNvPr name="Freeform 7" id="7"/>
            <p:cNvSpPr/>
            <p:nvPr/>
          </p:nvSpPr>
          <p:spPr>
            <a:xfrm flipH="false" flipV="false" rot="0">
              <a:off x="0" y="0"/>
              <a:ext cx="5231791" cy="199364"/>
            </a:xfrm>
            <a:custGeom>
              <a:avLst/>
              <a:gdLst/>
              <a:ahLst/>
              <a:cxnLst/>
              <a:rect r="r" b="b" t="t" l="l"/>
              <a:pathLst>
                <a:path h="199364" w="5231791">
                  <a:moveTo>
                    <a:pt x="0" y="0"/>
                  </a:moveTo>
                  <a:lnTo>
                    <a:pt x="5231791" y="0"/>
                  </a:lnTo>
                  <a:lnTo>
                    <a:pt x="5231791" y="199364"/>
                  </a:lnTo>
                  <a:lnTo>
                    <a:pt x="0" y="199364"/>
                  </a:lnTo>
                  <a:close/>
                </a:path>
              </a:pathLst>
            </a:custGeom>
            <a:solidFill>
              <a:srgbClr val="5B98BA"/>
            </a:solidFill>
            <a:ln cap="sq">
              <a:noFill/>
              <a:prstDash val="solid"/>
              <a:miter/>
            </a:ln>
          </p:spPr>
        </p:sp>
        <p:sp>
          <p:nvSpPr>
            <p:cNvPr name="TextBox 8" id="8"/>
            <p:cNvSpPr txBox="true"/>
            <p:nvPr/>
          </p:nvSpPr>
          <p:spPr>
            <a:xfrm>
              <a:off x="0" y="-38100"/>
              <a:ext cx="5231791" cy="237464"/>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5250923" y="564"/>
            <a:ext cx="9392643" cy="9529477"/>
          </a:xfrm>
          <a:custGeom>
            <a:avLst/>
            <a:gdLst/>
            <a:ahLst/>
            <a:cxnLst/>
            <a:rect r="r" b="b" t="t" l="l"/>
            <a:pathLst>
              <a:path h="9529477" w="9392643">
                <a:moveTo>
                  <a:pt x="0" y="0"/>
                </a:moveTo>
                <a:lnTo>
                  <a:pt x="9392643" y="0"/>
                </a:lnTo>
                <a:lnTo>
                  <a:pt x="9392643" y="9529477"/>
                </a:lnTo>
                <a:lnTo>
                  <a:pt x="0" y="9529477"/>
                </a:lnTo>
                <a:lnTo>
                  <a:pt x="0" y="0"/>
                </a:lnTo>
                <a:close/>
              </a:path>
            </a:pathLst>
          </a:custGeom>
          <a:blipFill>
            <a:blip r:embed="rId2">
              <a:alphaModFix amt="20999"/>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7111740" y="4593852"/>
            <a:ext cx="9403909" cy="1550921"/>
          </a:xfrm>
          <a:prstGeom prst="rect">
            <a:avLst/>
          </a:prstGeom>
        </p:spPr>
        <p:txBody>
          <a:bodyPr anchor="t" rtlCol="false" tIns="0" lIns="0" bIns="0" rIns="0">
            <a:spAutoFit/>
          </a:bodyPr>
          <a:lstStyle/>
          <a:p>
            <a:pPr algn="l" marL="0" indent="0" lvl="0">
              <a:lnSpc>
                <a:spcPts val="12691"/>
              </a:lnSpc>
              <a:spcBef>
                <a:spcPct val="0"/>
              </a:spcBef>
            </a:pPr>
            <a:r>
              <a:rPr lang="en-US" b="true" sz="9065">
                <a:solidFill>
                  <a:srgbClr val="051D40"/>
                </a:solidFill>
                <a:latin typeface="Montserrat Bold"/>
                <a:ea typeface="Montserrat Bold"/>
                <a:cs typeface="Montserrat Bold"/>
                <a:sym typeface="Montserrat Bold"/>
              </a:rPr>
              <a:t>FOR LISTENING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DAGtNsQc14k</dc:identifier>
  <dcterms:modified xsi:type="dcterms:W3CDTF">2011-08-01T06:04:30Z</dcterms:modified>
  <cp:revision>1</cp:revision>
  <dc:title>DEEPLEARNING FINAL TERM</dc:title>
</cp:coreProperties>
</file>